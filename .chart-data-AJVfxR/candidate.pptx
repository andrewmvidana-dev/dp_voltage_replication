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68c8791ab8461e" /><Relationship Type="http://schemas.openxmlformats.org/officeDocument/2006/relationships/extended-properties" Target="/docProps/app.xml" Id="R288d4160335e4c04" /><Relationship Type="http://schemas.openxmlformats.org/officeDocument/2006/relationships/officeDocument" Target="/ppt/presentation.xml" Id="R9436a19f08ec44df" /></Relationships>
</file>

<file path=ppt/presentation.xml><?xml version="1.0" encoding="utf-8"?>
<p:presentation xmlns:p="http://schemas.openxmlformats.org/presentationml/2006/main">
  <p:sldMasterIdLst>
    <p:sldMasterId xmlns:r="http://schemas.openxmlformats.org/officeDocument/2006/relationships" id="2147483648" r:id="Rc3421e0b0f9d4787"/>
  </p:sldMasterIdLst>
  <p:notesMasterIdLst>
    <p:notesMasterId xmlns:r="http://schemas.openxmlformats.org/officeDocument/2006/relationships" r:id="Rf8274c8cfcdb481d"/>
  </p:notesMasterIdLst>
  <p:sldIdLst>
    <p:sldId xmlns:r="http://schemas.openxmlformats.org/officeDocument/2006/relationships" id="256" r:id="R0f8a07fe42094b8c"/>
    <p:sldId xmlns:r="http://schemas.openxmlformats.org/officeDocument/2006/relationships" id="257" r:id="R571f1fbff0e04a2f"/>
    <p:sldId xmlns:r="http://schemas.openxmlformats.org/officeDocument/2006/relationships" id="258" r:id="R7a015b4640474949"/>
    <p:sldId xmlns:r="http://schemas.openxmlformats.org/officeDocument/2006/relationships" id="259" r:id="Rca9f8241963848d1"/>
    <p:sldId xmlns:r="http://schemas.openxmlformats.org/officeDocument/2006/relationships" id="260" r:id="Rb62400e7ad3442dc"/>
    <p:sldId xmlns:r="http://schemas.openxmlformats.org/officeDocument/2006/relationships" id="261" r:id="R0ec476bac38c49ba"/>
    <p:sldId xmlns:r="http://schemas.openxmlformats.org/officeDocument/2006/relationships" id="262" r:id="R806956fd7b2f4f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aa82b86c5f460c" /><Relationship Type="http://schemas.openxmlformats.org/officeDocument/2006/relationships/slideMaster" Target="/ppt/slideMasters/slideMaster1.xml" Id="Rc3421e0b0f9d4787" /><Relationship Type="http://schemas.openxmlformats.org/officeDocument/2006/relationships/notesMaster" Target="/ppt/notesMasters/notesMaster1.xml" Id="Rf8274c8cfcdb481d" /><Relationship Type="http://schemas.openxmlformats.org/officeDocument/2006/relationships/presProps" Target="/ppt/presProps.xml" Id="Rc0579a903c4a4806" /><Relationship Type="http://schemas.openxmlformats.org/officeDocument/2006/relationships/tableStyles" Target="/ppt/tableStyles.xml" Id="R76fb23121a2b47c1" /><Relationship Type="http://schemas.openxmlformats.org/officeDocument/2006/relationships/slide" Target="/ppt/slides/slide1.xml" Id="R0f8a07fe42094b8c" /><Relationship Type="http://schemas.openxmlformats.org/officeDocument/2006/relationships/slide" Target="/ppt/slides/slide2.xml" Id="R571f1fbff0e04a2f" /><Relationship Type="http://schemas.openxmlformats.org/officeDocument/2006/relationships/slide" Target="/ppt/slides/slide3.xml" Id="R7a015b4640474949" /><Relationship Type="http://schemas.openxmlformats.org/officeDocument/2006/relationships/slide" Target="/ppt/slides/slide4.xml" Id="Rca9f8241963848d1" /><Relationship Type="http://schemas.openxmlformats.org/officeDocument/2006/relationships/slide" Target="/ppt/slides/slide5.xml" Id="Rb62400e7ad3442dc" /><Relationship Type="http://schemas.openxmlformats.org/officeDocument/2006/relationships/slide" Target="/ppt/slides/slide6.xml" Id="R0ec476bac38c49ba" /><Relationship Type="http://schemas.openxmlformats.org/officeDocument/2006/relationships/slide" Target="/ppt/slides/slide7.xml" Id="R806956fd7b2f4f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96705705a14c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4927feb0ec45f9" /><Relationship Type="http://schemas.openxmlformats.org/officeDocument/2006/relationships/notesMaster" Target="/ppt/notesMasters/notesMaster1.xml" Id="Rac0de6aa9f4b41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1e0d4041344024" /><Relationship Type="http://schemas.openxmlformats.org/officeDocument/2006/relationships/notesMaster" Target="/ppt/notesMasters/notesMaster1.xml" Id="R75a4047fc2e747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e13ea7aa054e4c" /><Relationship Type="http://schemas.openxmlformats.org/officeDocument/2006/relationships/notesMaster" Target="/ppt/notesMasters/notesMaster1.xml" Id="Rd280c883a1e248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ea66459b594369" /><Relationship Type="http://schemas.openxmlformats.org/officeDocument/2006/relationships/notesMaster" Target="/ppt/notesMasters/notesMaster1.xml" Id="R92bd4417f2614e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74c855fe65404b" /><Relationship Type="http://schemas.openxmlformats.org/officeDocument/2006/relationships/notesMaster" Target="/ppt/notesMasters/notesMaster1.xml" Id="R4fded7acf8034c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3cd5d9f6d743b0" /><Relationship Type="http://schemas.openxmlformats.org/officeDocument/2006/relationships/notesMaster" Target="/ppt/notesMasters/notesMaster1.xml" Id="Rff6951e2523e4f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937e0945074cdf" /><Relationship Type="http://schemas.openxmlformats.org/officeDocument/2006/relationships/notesMaster" Target="/ppt/notesMasters/notesMaster1.xml" Id="R2800a130173645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paper: Christian Mouchet, Elliott Bertrand and Jean-Pierre Hubaux, An Efficient Threshold Access-Structure for RLWE-Based Multiparty Homomorphic Encryption, Journal of Cryptology, 2023. https://doi.org/10.1007/s00145-023-09452-8</a:t>
            </a:r>
          </a:p>
          <a:p xmlns:a="http://schemas.openxmlformats.org/drawingml/2006/main">
            <a:r>
              <a:t>Threshold BGV integration and joint BNP protocol are proposed, not implemented or benchmarked here. Conceptual grid artwork created using the built-in ImageGen tool. Prompt: restrained editorial residential distribution grid on the right of a deep navy 16:9 canvas, empty left half, cream houses and teal electric connections, no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adapted to the existing two-round fitter in dpvolt/secure_agg.py and SECURE_AGGREGATION.md. Current code uses Gaussian shares and single-key Paillier. A threshold BGV backend and a calibrated distributed BNP sampler remain future work. Local noise shares are not automatically local DP. Authorities need authenticated rosters, transcript checks and release-budget controls to enforce aggregate-only access. With a fixed public network, downstream generation is post-processing for customer-data privacy, not an automatic topology-privacy proof. Sources: https://doi.org/10.1007/s00145-023-09452-8 ; https://arxiv.org/abs/2605.02390 ; local SECURE_AGGREGATION.md.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illustration only: 100 + 1.2 = 101.2 and the illustrative support is [-2,2]. A bound B does not establish DP without query sensitivity, adjacency, distribution and composition accounting. No voltage-error or grid-safety bound follows from this example. Independent uniform shares sum to a non-uniform distribution, so the existing Gaussian share construction cannot simply substitute uniform draws. Adding independent Gaussian noise yields unbounded support. Bounded-support approximate DP example: Dagan and Kur, A bounded-noise mechanism for differential privacy, https://arxiv.org/abs/2012.03817 . This is not asserted to be the repository-specific BNP paper. Encryption protects the noisy statistic during computation and cannot replace privacy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Mouchet, Bertrand and Hubaux 2023, Section 4.2, https://doi.org/10.1007/s00145-023-09452-8. Published total is 12.0 ms per party for a decryption share at N=20, t=7, parameter set III. Combine costs 0.4 ms. Other computation is derived as 12.0-0.4=11.6 ms; share is 0.4/12=3.333 percent. These are not separate independent observations or a speedup over Paillier. Published local CPU benchmark, no networking. Current Lattigo limitations on retries and decryption leakage still apply. Proposed project setup remains 3-of-5, allowing two unavailable authorities if the remaining three complete the protocol under its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source: results/secure_agg_fit.json and results/secure_agg_report.md, 2026-09-22. Encryption 214.25438060052693 s, total 215.54404539999086 s, other fitting time (derived residual) 1.2896647994639352 s. Percentage 99.40166994774981%. The residual includes addition, decryption, key generation and harness/model overhead, not just decryption. 91 load rows, ten proportional simulated meters per row, four time coordinates, 12,740 scalar encryptions. Serial wall time, network excluded, two benchmark processes overlapped during part of measurement. This is Paillier and Gaussian fitting, not a BGV measurement. No new benchmark run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Calculated from the implemented mean and covariance statistics: T + T(T+1)/2. Counts for T=[4,24,48,96] are [14,324,1224,4752]. Across 91 load rows with ten simulated meters per row: 4752*910=4,324,320 scalar encryptions at T=96. Source: SECURE_AGGREGATION.md, dpvolt/secure_agg.py and results/secure_agg_report.md. Counts are deterministic arithmetic, not runtime measurements. BGV packing depends on the chosen encoding and cryptographic parameters; no packing factor, latency or speedup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evaluation, not achieved results. Report epsilon/delta under a named adjacency (customer-day or full trajectory), compose both model-fitting rounds and repeated releases, and account for quantization/overflow and any failure probability. B bounds perturbation of the chosen statistic, not automatically voltage error. Evaluate minimum honest contributing meters separately from available decryption authorities. Compare BNP and Gaussian releases at matched guarantees before judging utility. Record voltage magnitude RMSE in pu, ANSI exceedance fraction, temporal correlation, convergence, total wall time, communication bytes, packing rate, and dropout bias. Lattigo current security guidance states multiparty retries may reveal key information and current retry countermeasures are not implemented: https://github.com/tuneinsight/lattigo/security. New backend remains a research prototype until protocol security is established. No first-in-CPS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66d8c0929b42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db4ef958484ba5" /><Relationship Type="http://schemas.openxmlformats.org/officeDocument/2006/relationships/slideLayout" Target="/ppt/slideLayouts/slideLayout1.xml" Id="R80d0b026c3db49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0b026c3db49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c56ef0afc14f74" /><Relationship Type="http://schemas.openxmlformats.org/officeDocument/2006/relationships/image" Target="/ppt/media/image.png" Id="Rca418a7f7c384e18" /><Relationship Type="http://schemas.openxmlformats.org/officeDocument/2006/relationships/notesSlide" Target="/ppt/notesSlides/notesSlide1.xml" Id="Rb056ac58287343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e384ee901c4f52" /><Relationship Type="http://schemas.openxmlformats.org/officeDocument/2006/relationships/notesSlide" Target="/ppt/notesSlides/notesSlide2.xml" Id="R6301422dcaec4c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a72674664b4509" /><Relationship Type="http://schemas.openxmlformats.org/officeDocument/2006/relationships/notesSlide" Target="/ppt/notesSlides/notesSlide3.xml" Id="R5055a9475ea14c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15b0b0dfd74116" /><Relationship Type="http://schemas.openxmlformats.org/officeDocument/2006/relationships/chart" Target="/ppt/slides/charts/chart1.xml" Id="R80c728d3efeb410e" /><Relationship Type="http://schemas.openxmlformats.org/officeDocument/2006/relationships/notesSlide" Target="/ppt/notesSlides/notesSlide4.xml" Id="Rf3f2728e32f943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cc9fca88ca42d4" /><Relationship Type="http://schemas.openxmlformats.org/officeDocument/2006/relationships/chart" Target="/ppt/slides/charts/chart2.xml" Id="R2db09c679d2e436a" /><Relationship Type="http://schemas.openxmlformats.org/officeDocument/2006/relationships/notesSlide" Target="/ppt/notesSlides/notesSlide5.xml" Id="Rdc1c676dec584c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45ab43521e47be" /><Relationship Type="http://schemas.openxmlformats.org/officeDocument/2006/relationships/chart" Target="/ppt/slides/charts/chart3.xml" Id="R2c552d303bd5476e" /><Relationship Type="http://schemas.openxmlformats.org/officeDocument/2006/relationships/notesSlide" Target="/ppt/notesSlides/notesSlide6.xml" Id="Rb11dd702311647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7e1613a31642b8" /><Relationship Type="http://schemas.openxmlformats.org/officeDocument/2006/relationships/notesSlide" Target="/ppt/notesSlides/notesSlide7.xml" Id="R8106d3586c3446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CPU time (ms)</c:v>
          </c:tx>
          <c:spPr>
            <a:solidFill xmlns:a="http://schemas.openxmlformats.org/drawingml/2006/main">
              <a:srgbClr val="102C3C"/>
            </a:solidFill>
          </c:spPr>
          <c:dPt>
            <c:idx val="0"/>
            <c:invertIfNegative val="0"/>
            <c:spPr>
              <a:solidFill xmlns:a="http://schemas.openxmlformats.org/drawingml/2006/main">
                <a:srgbClr val="102C3C"/>
              </a:solidFill>
            </c:spPr>
          </c:dPt>
          <c:dPt>
            <c:idx val="1"/>
            <c:invertIfNegative val="0"/>
            <c:spPr>
              <a:solidFill xmlns:a="http://schemas.openxmlformats.org/drawingml/2006/main">
                <a:srgbClr val="E9B365"/>
              </a:solidFill>
            </c:spPr>
          </c:dPt>
          <c:cat>
            <c:strRef>
              <c:f>'Chart Data'!$A$2:$A$3</c:f>
              <c:strCache>
                <c:ptCount val="2"/>
                <c:pt idx="0">
                  <c:v>Other share
computation</c:v>
                </c:pt>
                <c:pt idx="1">
                  <c:v>Threshold
preparation</c:v>
                </c:pt>
              </c:strCache>
            </c:strRef>
          </c:cat>
          <c:val>
            <c:numRef>
              <c:f>'Chart Data'!$B$2:$B$3</c:f>
              <c:numCache>
                <c:formatCode>0.0</c:formatCode>
                <c:ptCount val="2"/>
                <c:pt idx="0">
                  <c:v>11.6</c:v>
                </c:pt>
                <c:pt idx="1">
                  <c:v>0.4</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02C3C"/>
                </a:solidFill>
                <a:latin typeface="Arial"/>
                <a:ea typeface="Arial"/>
                <a:cs typeface="Arial"/>
              </a:defRPr>
            </a:pPr>
          </a:p>
        </c:txPr>
        <c:crossAx val="48672768"/>
      </c:catAx>
      <c:valAx>
        <c:axId val="48672768"/>
        <c:scaling>
          <c:orientation val="minMax"/>
          <c:max val="14"/>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650">
                    <a:solidFill>
                      <a:srgbClr val="536974"/>
                    </a:solidFill>
                    <a:latin typeface="Arial"/>
                    <a:ea typeface="Arial"/>
                    <a:cs typeface="Arial"/>
                  </a:rPr>
                  <a:t>CPU time (milliseconds)</a:t>
                </a:r>
              </a:p>
            </c:rich>
          </c:tx>
          <c:overlay val="0"/>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Seconds</c:v>
          </c:tx>
          <c:dPt>
            <c:idx val="0"/>
            <c:spPr>
              <a:solidFill xmlns:a="http://schemas.openxmlformats.org/drawingml/2006/main">
                <a:srgbClr val="137D7C"/>
              </a:solidFill>
            </c:spPr>
          </c:dPt>
          <c:dPt>
            <c:idx val="1"/>
            <c:spPr>
              <a:solidFill xmlns:a="http://schemas.openxmlformats.org/drawingml/2006/main">
                <a:srgbClr val="E9B365"/>
              </a:solidFill>
            </c:spPr>
          </c:dPt>
          <c:cat>
            <c:strRef>
              <c:f>'Chart Data'!$A$2:$A$3</c:f>
              <c:strCache>
                <c:ptCount val="2"/>
                <c:pt idx="0">
                  <c:v>Encryption</c:v>
                </c:pt>
                <c:pt idx="1">
                  <c:v>Other fitting time</c:v>
                </c:pt>
              </c:strCache>
            </c:strRef>
          </c:cat>
          <c:val>
            <c:numRef>
              <c:f>'Chart Data'!$B$2:$B$3</c:f>
              <c:numCache>
                <c:formatCode>General</c:formatCode>
                <c:ptCount val="2"/>
                <c:pt idx="0">
                  <c:v>214.254381</c:v>
                </c:pt>
                <c:pt idx="1">
                  <c:v>1.289665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firstSliceAng val="270"/>
        <c:holeSize val="62"/>
      </c:doughnutChart>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02C3C"/>
              </a:solidFill>
              <a:latin typeface="Arial"/>
              <a:ea typeface="Arial"/>
              <a:cs typeface="Arial"/>
            </a:defRPr>
          </a:pPr>
        </a:p>
      </c:txPr>
    </c:legend>
    <c:plotVisOnly val="1"/>
  </c:chart>
  <c:spPr>
    <a:solidFill xmlns:a="http://schemas.openxmlformats.org/drawingml/2006/main">
      <a:srgbClr val="F7F8F5"/>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Values per meter</c:v>
          </c:tx>
          <c:spPr>
            <a:solidFill xmlns:a="http://schemas.openxmlformats.org/drawingml/2006/main">
              <a:srgbClr val="137D7C"/>
            </a:solidFill>
          </c:spPr>
          <c:dPt>
            <c:idx val="3"/>
            <c:invertIfNegative val="0"/>
            <c:spPr>
              <a:solidFill xmlns:a="http://schemas.openxmlformats.org/drawingml/2006/main">
                <a:srgbClr val="102C3C"/>
              </a:solidFill>
            </c:spPr>
          </c:dPt>
          <c:cat>
            <c:numRef>
              <c:f>'Chart Data'!$A$2:$A$5</c:f>
              <c:numCache>
                <c:formatCode>General</c:formatCode>
                <c:ptCount val="4"/>
                <c:pt idx="0">
                  <c:v>4</c:v>
                </c:pt>
                <c:pt idx="1">
                  <c:v>24</c:v>
                </c:pt>
                <c:pt idx="2">
                  <c:v>48</c:v>
                </c:pt>
                <c:pt idx="3">
                  <c:v>96</c:v>
                </c:pt>
              </c:numCache>
            </c:numRef>
          </c:cat>
          <c:val>
            <c:numRef>
              <c:f>'Chart Data'!$B$2:$B$5</c:f>
              <c:numCache>
                <c:formatCode>#,##0</c:formatCode>
                <c:ptCount val="4"/>
                <c:pt idx="0">
                  <c:v>14</c:v>
                </c:pt>
                <c:pt idx="1">
                  <c:v>324</c:v>
                </c:pt>
                <c:pt idx="2">
                  <c:v>1224</c:v>
                </c:pt>
                <c:pt idx="3">
                  <c:v>4752</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536974"/>
                    </a:solidFill>
                    <a:latin typeface="Arial"/>
                    <a:ea typeface="Arial"/>
                    <a:cs typeface="Arial"/>
                  </a:rPr>
                  <a:t>Time samples in each profile</a:t>
                </a:r>
              </a:p>
            </c:rich>
          </c:tx>
          <c:overlay val="0"/>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02C3C"/>
                </a:solidFill>
                <a:latin typeface="Arial"/>
                <a:ea typeface="Arial"/>
                <a:cs typeface="Arial"/>
              </a:defRPr>
            </a:pPr>
          </a:p>
        </c:txPr>
        <c:crossAx val="48672768"/>
      </c:catAx>
      <c:valAx>
        <c:axId val="48672768"/>
        <c:scaling>
          <c:orientation val="minMax"/>
          <c:max val="55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650">
                    <a:solidFill>
                      <a:srgbClr val="536974"/>
                    </a:solidFill>
                    <a:latin typeface="Arial"/>
                    <a:ea typeface="Arial"/>
                    <a:cs typeface="Arial"/>
                  </a:rPr>
                  <a:t>Scalar encryptions per meter</a:t>
                </a:r>
              </a:p>
            </c:rich>
          </c:tx>
          <c:overlay val="0"/>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a418a7f7c384e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Proposed research architecture</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Evidence and next measurements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Each meter keeps its raw records locally.</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It cannot read the individual contributions.</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Authorities authorize a release</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137D7C"/>
                </a:solidFill>
                <a:latin typeface="Arial"/>
                <a:ea typeface="Arial"/>
                <a:cs typeface="Arial"/>
              </a:defRPr>
            </a:pPr>
            <a:r>
              <a:rPr sz="1800" b="1">
                <a:solidFill>
                  <a:srgbClr val="137D7C"/>
                </a:solidFill>
                <a:latin typeface="Arial"/>
                <a:ea typeface="Arial"/>
                <a:cs typeface="Arial"/>
              </a:rPr>
              <a:t>The fitter repeats this process for the mean and then the covariance.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0405D1-8578-444B-AD5C-3C29ACEFAA54}"/>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A simple example of bounded noise</a:t>
            </a:r>
          </a:p>
        </p:txBody>
      </p:sp>
      <p:sp>
        <p:nvSpPr>
          <p:cNvPr id="2" name="">
            <a:extLst xmlns:a="http://schemas.openxmlformats.org/drawingml/2006/main">
              <a:ext uri="{FF2B5EF4-FFF2-40B4-BE49-F238E27FC236}">
                <a16:creationId xmlns:a16="http://schemas.microsoft.com/office/drawing/2014/main" id="{865A69E5-E584-4597-BB56-656E482A303B}"/>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Illustrative aggregate statistic, in arbitrary units. These values are not a privacy calibration.</a:t>
            </a:r>
          </a:p>
        </p:txBody>
      </p:sp>
      <p:sp>
        <p:nvSpPr>
          <p:cNvPr id="3" name="">
            <a:extLst xmlns:a="http://schemas.openxmlformats.org/drawingml/2006/main">
              <a:ext uri="{FF2B5EF4-FFF2-40B4-BE49-F238E27FC236}">
                <a16:creationId xmlns:a16="http://schemas.microsoft.com/office/drawing/2014/main" id="{27B13DF5-DFFB-4281-8FD0-3B3A13FB268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7C90BEE9-E0A7-4C13-B1CB-B361B498427A}"/>
              </a:ext>
            </a:extLst>
          </p:cNvPr>
          <p:cNvSpPr>
            <a:spLocks xmlns:a="http://schemas.openxmlformats.org/drawingml/2006/main" noGrp="1"/>
          </p:cNvSpPr>
          <p:nvPr/>
        </p:nvSpPr>
        <p:spPr>
          <a:xfrm xmlns:a="http://schemas.openxmlformats.org/drawingml/2006/main">
            <a:off x="666750" y="23145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000" b="1">
                <a:solidFill>
                  <a:srgbClr val="102C3C"/>
                </a:solidFill>
                <a:latin typeface="Arial"/>
                <a:ea typeface="Arial"/>
                <a:cs typeface="Arial"/>
              </a:defRPr>
            </a:pPr>
            <a:r>
              <a:rPr sz="6000" b="1">
                <a:solidFill>
                  <a:srgbClr val="102C3C"/>
                </a:solidFill>
                <a:latin typeface="Arial"/>
                <a:ea typeface="Arial"/>
                <a:cs typeface="Arial"/>
              </a:rPr>
              <a:t>100</a:t>
            </a:r>
          </a:p>
        </p:txBody>
      </p:sp>
      <p:sp>
        <p:nvSpPr>
          <p:cNvPr id="5" name="">
            <a:extLst xmlns:a="http://schemas.openxmlformats.org/drawingml/2006/main">
              <a:ext uri="{FF2B5EF4-FFF2-40B4-BE49-F238E27FC236}">
                <a16:creationId xmlns:a16="http://schemas.microsoft.com/office/drawing/2014/main" id="{89907E83-32AE-4557-98C4-F2EE2DA91EBD}"/>
              </a:ext>
            </a:extLst>
          </p:cNvPr>
          <p:cNvSpPr>
            <a:spLocks xmlns:a="http://schemas.openxmlformats.org/drawingml/2006/main" noGrp="1"/>
          </p:cNvSpPr>
          <p:nvPr/>
        </p:nvSpPr>
        <p:spPr>
          <a:xfrm xmlns:a="http://schemas.openxmlformats.org/drawingml/2006/main">
            <a:off x="666750" y="3476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Exact aggregate</a:t>
            </a:r>
          </a:p>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kept hidden</a:t>
            </a:r>
          </a:p>
        </p:txBody>
      </p:sp>
      <p:sp>
        <p:nvSpPr>
          <p:cNvPr id="6" name="">
            <a:extLst xmlns:a="http://schemas.openxmlformats.org/drawingml/2006/main">
              <a:ext uri="{FF2B5EF4-FFF2-40B4-BE49-F238E27FC236}">
                <a16:creationId xmlns:a16="http://schemas.microsoft.com/office/drawing/2014/main" id="{E0B82B91-229F-4C0C-A736-42F3310122D5}"/>
              </a:ext>
            </a:extLst>
          </p:cNvPr>
          <p:cNvSpPr>
            <a:spLocks xmlns:a="http://schemas.openxmlformats.org/drawingml/2006/main" noGrp="1"/>
          </p:cNvSpPr>
          <p:nvPr/>
        </p:nvSpPr>
        <p:spPr>
          <a:xfrm xmlns:a="http://schemas.openxmlformats.org/drawingml/2006/main">
            <a:off x="4514850" y="23145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000" b="1">
                <a:solidFill>
                  <a:srgbClr val="137D7C"/>
                </a:solidFill>
                <a:latin typeface="Arial"/>
                <a:ea typeface="Arial"/>
                <a:cs typeface="Arial"/>
              </a:defRPr>
            </a:pPr>
            <a:r>
              <a:rPr sz="6000" b="1">
                <a:solidFill>
                  <a:srgbClr val="137D7C"/>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08C1BA96-E66B-49A3-9631-6A1BF6838663}"/>
              </a:ext>
            </a:extLst>
          </p:cNvPr>
          <p:cNvSpPr>
            <a:spLocks xmlns:a="http://schemas.openxmlformats.org/drawingml/2006/main" noGrp="1"/>
          </p:cNvSpPr>
          <p:nvPr/>
        </p:nvSpPr>
        <p:spPr>
          <a:xfrm xmlns:a="http://schemas.openxmlformats.org/drawingml/2006/main">
            <a:off x="4514850" y="34766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Hidden noise draw</a:t>
            </a:r>
          </a:p>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inside [−2, +2]</a:t>
            </a:r>
          </a:p>
        </p:txBody>
      </p:sp>
      <p:sp>
        <p:nvSpPr>
          <p:cNvPr id="8" name="">
            <a:extLst xmlns:a="http://schemas.openxmlformats.org/drawingml/2006/main">
              <a:ext uri="{FF2B5EF4-FFF2-40B4-BE49-F238E27FC236}">
                <a16:creationId xmlns:a16="http://schemas.microsoft.com/office/drawing/2014/main" id="{3FC5FBB7-7DC8-4DE2-AE76-F51C1417DBA8}"/>
              </a:ext>
            </a:extLst>
          </p:cNvPr>
          <p:cNvSpPr>
            <a:spLocks xmlns:a="http://schemas.openxmlformats.org/drawingml/2006/main" noGrp="1"/>
          </p:cNvSpPr>
          <p:nvPr/>
        </p:nvSpPr>
        <p:spPr>
          <a:xfrm xmlns:a="http://schemas.openxmlformats.org/drawingml/2006/main">
            <a:off x="8334375" y="23145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000" b="1">
                <a:solidFill>
                  <a:srgbClr val="102C3C"/>
                </a:solidFill>
                <a:latin typeface="Arial"/>
                <a:ea typeface="Arial"/>
                <a:cs typeface="Arial"/>
              </a:defRPr>
            </a:pPr>
            <a:r>
              <a:rPr sz="6000" b="1">
                <a:solidFill>
                  <a:srgbClr val="102C3C"/>
                </a:solidFill>
                <a:latin typeface="Arial"/>
                <a:ea typeface="Arial"/>
                <a:cs typeface="Arial"/>
              </a:rPr>
              <a:t>101.2</a:t>
            </a:r>
          </a:p>
        </p:txBody>
      </p:sp>
      <p:sp>
        <p:nvSpPr>
          <p:cNvPr id="9" name="">
            <a:extLst xmlns:a="http://schemas.openxmlformats.org/drawingml/2006/main">
              <a:ext uri="{FF2B5EF4-FFF2-40B4-BE49-F238E27FC236}">
                <a16:creationId xmlns:a16="http://schemas.microsoft.com/office/drawing/2014/main" id="{8642DCCC-E89D-4401-984B-150F931A7508}"/>
              </a:ext>
            </a:extLst>
          </p:cNvPr>
          <p:cNvSpPr>
            <a:spLocks xmlns:a="http://schemas.openxmlformats.org/drawingml/2006/main" noGrp="1"/>
          </p:cNvSpPr>
          <p:nvPr/>
        </p:nvSpPr>
        <p:spPr>
          <a:xfrm xmlns:a="http://schemas.openxmlformats.org/drawingml/2006/main">
            <a:off x="8334375" y="34766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Authorized</a:t>
            </a:r>
          </a:p>
          <a:p xmlns:a="http://schemas.openxmlformats.org/drawingml/2006/main">
            <a:pPr>
              <a:buNone/>
              <a:defRPr sz="2250" b="0">
                <a:solidFill>
                  <a:srgbClr val="536974"/>
                </a:solidFill>
                <a:latin typeface="Arial"/>
                <a:ea typeface="Arial"/>
                <a:cs typeface="Arial"/>
              </a:defRPr>
            </a:pPr>
            <a:r>
              <a:rPr sz="2250" b="0">
                <a:solidFill>
                  <a:srgbClr val="536974"/>
                </a:solidFill>
                <a:latin typeface="Arial"/>
                <a:ea typeface="Arial"/>
                <a:cs typeface="Arial"/>
              </a:rPr>
              <a:t>released statistic</a:t>
            </a:r>
          </a:p>
        </p:txBody>
      </p:sp>
      <p:sp>
        <p:nvSpPr>
          <p:cNvPr id="10" name="">
            <a:extLst xmlns:a="http://schemas.openxmlformats.org/drawingml/2006/main">
              <a:ext uri="{FF2B5EF4-FFF2-40B4-BE49-F238E27FC236}">
                <a16:creationId xmlns:a16="http://schemas.microsoft.com/office/drawing/2014/main" id="{3141ED70-F770-4256-B015-FB267184FF81}"/>
              </a:ext>
            </a:extLst>
          </p:cNvPr>
          <p:cNvSpPr>
            <a:spLocks xmlns:a="http://schemas.openxmlformats.org/drawingml/2006/main" noGrp="1"/>
          </p:cNvSpPr>
          <p:nvPr/>
        </p:nvSpPr>
        <p:spPr>
          <a:xfrm xmlns:a="http://schemas.openxmlformats.org/drawingml/2006/main">
            <a:off x="609600" y="47625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BNP bounds the perturbation. DP quantifies the privacy guarantee.</a:t>
            </a:r>
          </a:p>
        </p:txBody>
      </p:sp>
      <p:sp>
        <p:nvSpPr>
          <p:cNvPr id="11" name="">
            <a:extLst xmlns:a="http://schemas.openxmlformats.org/drawingml/2006/main">
              <a:ext uri="{FF2B5EF4-FFF2-40B4-BE49-F238E27FC236}">
                <a16:creationId xmlns:a16="http://schemas.microsoft.com/office/drawing/2014/main" id="{5E0B8464-02EF-4717-A094-5039CBC355F5}"/>
              </a:ext>
            </a:extLst>
          </p:cNvPr>
          <p:cNvSpPr>
            <a:spLocks xmlns:a="http://schemas.openxmlformats.org/drawingml/2006/main" noGrp="1"/>
          </p:cNvSpPr>
          <p:nvPr/>
        </p:nvSpPr>
        <p:spPr>
          <a:xfrm xmlns:a="http://schemas.openxmlformats.org/drawingml/2006/main">
            <a:off x="609600" y="56007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536974"/>
                </a:solidFill>
                <a:latin typeface="Arial"/>
                <a:ea typeface="Arial"/>
                <a:cs typeface="Arial"/>
              </a:defRPr>
            </a:pPr>
            <a:r>
              <a:rPr sz="1875" b="0">
                <a:solidFill>
                  <a:srgbClr val="536974"/>
                </a:solidFill>
                <a:latin typeface="Arial"/>
                <a:ea typeface="Arial"/>
                <a:cs typeface="Arial"/>
              </a:rPr>
              <a:t>A suitable bounded mechanism can satisfy DP itself. Gaussian noise added on top removes the hard bound on total noise.</a:t>
            </a:r>
          </a:p>
        </p:txBody>
      </p:sp>
    </p:spTree>
    <p:extLst>
      <p:ext uri="{BB962C8B-B14F-4D97-AF65-F5344CB8AC3E}">
        <p14:creationId xmlns:p14="http://schemas.microsoft.com/office/powerpoint/2010/main" val="1382875555"/>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F48B30-C52F-4137-B00F-39863399504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Threshold preparation takes 0.4 ms</a:t>
            </a:r>
          </a:p>
        </p:txBody>
      </p:sp>
      <p:sp>
        <p:nvSpPr>
          <p:cNvPr id="2" name="">
            <a:extLst xmlns:a="http://schemas.openxmlformats.org/drawingml/2006/main">
              <a:ext uri="{FF2B5EF4-FFF2-40B4-BE49-F238E27FC236}">
                <a16:creationId xmlns:a16="http://schemas.microsoft.com/office/drawing/2014/main" id="{1A0603C7-0DE5-4A8A-AB2E-1417078562F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Published breakdown of one authority’s 12 ms decryption-share computation</a:t>
            </a:r>
          </a:p>
        </p:txBody>
      </p:sp>
      <p:sp>
        <p:nvSpPr>
          <p:cNvPr id="3" name="">
            <a:extLst xmlns:a="http://schemas.openxmlformats.org/drawingml/2006/main">
              <a:ext uri="{FF2B5EF4-FFF2-40B4-BE49-F238E27FC236}">
                <a16:creationId xmlns:a16="http://schemas.microsoft.com/office/drawing/2014/main" id="{2049F6A1-D108-4A61-8D1A-F9998AB04629}"/>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1" name="Chart"/>
          <p:cNvGraphicFramePr/>
          <p:nvPr/>
        </p:nvGraphicFramePr>
        <p:xfrm>
          <a:off xmlns:a="http://schemas.openxmlformats.org/drawingml/2006/main" x="609600" y="2152650"/>
          <a:ext xmlns:a="http://schemas.openxmlformats.org/drawingml/2006/main" cx="7381875" cy="3238500"/>
        </p:xfrm>
        <a:graphic xmlns:a="http://schemas.openxmlformats.org/drawingml/2006/main">
          <a:graphicData uri="http://schemas.openxmlformats.org/drawingml/2006/chart">
            <c:chart xmlns:r="http://schemas.openxmlformats.org/officeDocument/2006/relationships" xmlns:c="http://schemas.openxmlformats.org/drawingml/2006/chart" r:id="R80c728d3efeb410e"/>
          </a:graphicData>
        </a:graphic>
      </p:graphicFrame>
      <p:sp>
        <p:nvSpPr>
          <p:cNvPr id="5" name="">
            <a:extLst xmlns:a="http://schemas.openxmlformats.org/drawingml/2006/main">
              <a:ext uri="{FF2B5EF4-FFF2-40B4-BE49-F238E27FC236}">
                <a16:creationId xmlns:a16="http://schemas.microsoft.com/office/drawing/2014/main" id="{F6AAD381-1CC2-4C94-A4C3-53E1CC556EFD}"/>
              </a:ext>
            </a:extLst>
          </p:cNvPr>
          <p:cNvSpPr>
            <a:spLocks xmlns:a="http://schemas.openxmlformats.org/drawingml/2006/main" noGrp="1"/>
          </p:cNvSpPr>
          <p:nvPr/>
        </p:nvSpPr>
        <p:spPr>
          <a:xfrm xmlns:a="http://schemas.openxmlformats.org/drawingml/2006/main">
            <a:off x="8572500" y="2486025"/>
            <a:ext cx="2914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625" b="1">
                <a:solidFill>
                  <a:srgbClr val="137D7C"/>
                </a:solidFill>
                <a:latin typeface="Arial"/>
                <a:ea typeface="Arial"/>
                <a:cs typeface="Arial"/>
              </a:defRPr>
            </a:pPr>
            <a:r>
              <a:rPr sz="5625" b="1">
                <a:solidFill>
                  <a:srgbClr val="137D7C"/>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FC2D14EA-FDF7-4248-804A-65574F173306}"/>
              </a:ext>
            </a:extLst>
          </p:cNvPr>
          <p:cNvSpPr>
            <a:spLocks xmlns:a="http://schemas.openxmlformats.org/drawingml/2006/main" noGrp="1"/>
          </p:cNvSpPr>
          <p:nvPr/>
        </p:nvSpPr>
        <p:spPr>
          <a:xfrm xmlns:a="http://schemas.openxmlformats.org/drawingml/2006/main">
            <a:off x="8572500" y="3476625"/>
            <a:ext cx="2914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of this operation</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for threshold</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preparation</a:t>
            </a:r>
          </a:p>
        </p:txBody>
      </p:sp>
      <p:sp>
        <p:nvSpPr>
          <p:cNvPr id="7" name="">
            <a:extLst xmlns:a="http://schemas.openxmlformats.org/drawingml/2006/main">
              <a:ext uri="{FF2B5EF4-FFF2-40B4-BE49-F238E27FC236}">
                <a16:creationId xmlns:a16="http://schemas.microsoft.com/office/drawing/2014/main" id="{77A492FA-E59E-4C1C-9FA4-C9B1FD7B35EE}"/>
              </a:ext>
            </a:extLst>
          </p:cNvPr>
          <p:cNvSpPr>
            <a:spLocks xmlns:a="http://schemas.openxmlformats.org/drawingml/2006/main" noGrp="1"/>
          </p:cNvSpPr>
          <p:nvPr/>
        </p:nvSpPr>
        <p:spPr>
          <a:xfrm xmlns:a="http://schemas.openxmlformats.org/drawingml/2006/main">
            <a:off x="609600" y="56102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7 of 20 authorities, parameter set III, Ryzen 9 5900X. Network time excluded.</a:t>
            </a:r>
          </a:p>
        </p:txBody>
      </p:sp>
    </p:spTree>
    <p:extLst>
      <p:ext uri="{BB962C8B-B14F-4D97-AF65-F5344CB8AC3E}">
        <p14:creationId xmlns:p14="http://schemas.microsoft.com/office/powerpoint/2010/main" val="837689039"/>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46D7DF-1968-4B95-BB69-FDDAA2BABD8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Encryption uses 99.4% of fitting time</a:t>
            </a:r>
          </a:p>
        </p:txBody>
      </p:sp>
      <p:sp>
        <p:nvSpPr>
          <p:cNvPr id="2" name="">
            <a:extLst xmlns:a="http://schemas.openxmlformats.org/drawingml/2006/main">
              <a:ext uri="{FF2B5EF4-FFF2-40B4-BE49-F238E27FC236}">
                <a16:creationId xmlns:a16="http://schemas.microsoft.com/office/drawing/2014/main" id="{6804B849-F9D9-4C9A-B958-95DD3A8B644C}"/>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Measured Paillier baseline on the full feeder with four time samples</a:t>
            </a:r>
          </a:p>
        </p:txBody>
      </p:sp>
      <p:sp>
        <p:nvSpPr>
          <p:cNvPr id="3" name="">
            <a:extLst xmlns:a="http://schemas.openxmlformats.org/drawingml/2006/main">
              <a:ext uri="{FF2B5EF4-FFF2-40B4-BE49-F238E27FC236}">
                <a16:creationId xmlns:a16="http://schemas.microsoft.com/office/drawing/2014/main" id="{000F2E03-2115-4AB0-8B4D-85DCD3CBB5D8}"/>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graphicFrame>
        <p:nvGraphicFramePr>
          <p:cNvPr id="13" name="Chart"/>
          <p:cNvGraphicFramePr/>
          <p:nvPr/>
        </p:nvGraphicFramePr>
        <p:xfrm>
          <a:off xmlns:a="http://schemas.openxmlformats.org/drawingml/2006/main" x="619125" y="2000250"/>
          <a:ext xmlns:a="http://schemas.openxmlformats.org/drawingml/2006/main" cx="6096000" cy="3333750"/>
        </p:xfrm>
        <a:graphic xmlns:a="http://schemas.openxmlformats.org/drawingml/2006/main">
          <a:graphicData uri="http://schemas.openxmlformats.org/drawingml/2006/chart">
            <c:chart xmlns:r="http://schemas.openxmlformats.org/officeDocument/2006/relationships" xmlns:c="http://schemas.openxmlformats.org/drawingml/2006/chart" r:id="R2db09c679d2e436a"/>
          </a:graphicData>
        </a:graphic>
      </p:graphicFrame>
      <p:sp>
        <p:nvSpPr>
          <p:cNvPr id="5" name="">
            <a:extLst xmlns:a="http://schemas.openxmlformats.org/drawingml/2006/main">
              <a:ext uri="{FF2B5EF4-FFF2-40B4-BE49-F238E27FC236}">
                <a16:creationId xmlns:a16="http://schemas.microsoft.com/office/drawing/2014/main" id="{4E794CE3-650A-4409-BA6B-931913B49D58}"/>
              </a:ext>
            </a:extLst>
          </p:cNvPr>
          <p:cNvSpPr>
            <a:spLocks xmlns:a="http://schemas.openxmlformats.org/drawingml/2006/main" noGrp="1"/>
          </p:cNvSpPr>
          <p:nvPr/>
        </p:nvSpPr>
        <p:spPr>
          <a:xfrm xmlns:a="http://schemas.openxmlformats.org/drawingml/2006/main">
            <a:off x="7381875" y="2219325"/>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75" b="1">
                <a:solidFill>
                  <a:srgbClr val="137D7C"/>
                </a:solidFill>
                <a:latin typeface="Arial"/>
                <a:ea typeface="Arial"/>
                <a:cs typeface="Arial"/>
              </a:defRPr>
            </a:pPr>
            <a:r>
              <a:rPr sz="4875" b="1">
                <a:solidFill>
                  <a:srgbClr val="137D7C"/>
                </a:solidFill>
                <a:latin typeface="Arial"/>
                <a:ea typeface="Arial"/>
                <a:cs typeface="Arial"/>
              </a:rPr>
              <a:t>214.25 s</a:t>
            </a:r>
          </a:p>
        </p:txBody>
      </p:sp>
      <p:sp>
        <p:nvSpPr>
          <p:cNvPr id="6" name="">
            <a:extLst xmlns:a="http://schemas.openxmlformats.org/drawingml/2006/main">
              <a:ext uri="{FF2B5EF4-FFF2-40B4-BE49-F238E27FC236}">
                <a16:creationId xmlns:a16="http://schemas.microsoft.com/office/drawing/2014/main" id="{A4A452FD-2B66-4B3A-909F-D7B6569E81A7}"/>
              </a:ext>
            </a:extLst>
          </p:cNvPr>
          <p:cNvSpPr>
            <a:spLocks xmlns:a="http://schemas.openxmlformats.org/drawingml/2006/main" noGrp="1"/>
          </p:cNvSpPr>
          <p:nvPr/>
        </p:nvSpPr>
        <p:spPr>
          <a:xfrm xmlns:a="http://schemas.openxmlformats.org/drawingml/2006/main">
            <a:off x="7381875" y="30861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Encryption</a:t>
            </a:r>
          </a:p>
        </p:txBody>
      </p:sp>
      <p:sp>
        <p:nvSpPr>
          <p:cNvPr id="7" name="">
            <a:extLst xmlns:a="http://schemas.openxmlformats.org/drawingml/2006/main">
              <a:ext uri="{FF2B5EF4-FFF2-40B4-BE49-F238E27FC236}">
                <a16:creationId xmlns:a16="http://schemas.microsoft.com/office/drawing/2014/main" id="{F8EEFDF7-F500-4BEC-8A8F-C4354BE1866F}"/>
              </a:ext>
            </a:extLst>
          </p:cNvPr>
          <p:cNvSpPr>
            <a:spLocks xmlns:a="http://schemas.openxmlformats.org/drawingml/2006/main" noGrp="1"/>
          </p:cNvSpPr>
          <p:nvPr/>
        </p:nvSpPr>
        <p:spPr>
          <a:xfrm xmlns:a="http://schemas.openxmlformats.org/drawingml/2006/main">
            <a:off x="7381875" y="3790950"/>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00" b="1">
                <a:solidFill>
                  <a:srgbClr val="102C3C"/>
                </a:solidFill>
                <a:latin typeface="Arial"/>
                <a:ea typeface="Arial"/>
                <a:cs typeface="Arial"/>
              </a:defRPr>
            </a:pPr>
            <a:r>
              <a:rPr sz="3900" b="1">
                <a:solidFill>
                  <a:srgbClr val="102C3C"/>
                </a:solidFill>
                <a:latin typeface="Arial"/>
                <a:ea typeface="Arial"/>
                <a:cs typeface="Arial"/>
              </a:rPr>
              <a:t>1.29 s</a:t>
            </a:r>
          </a:p>
        </p:txBody>
      </p:sp>
      <p:sp>
        <p:nvSpPr>
          <p:cNvPr id="8" name="">
            <a:extLst xmlns:a="http://schemas.openxmlformats.org/drawingml/2006/main">
              <a:ext uri="{FF2B5EF4-FFF2-40B4-BE49-F238E27FC236}">
                <a16:creationId xmlns:a16="http://schemas.microsoft.com/office/drawing/2014/main" id="{9F3F8AF6-D1AB-4854-B7A9-891AC62B6F16}"/>
              </a:ext>
            </a:extLst>
          </p:cNvPr>
          <p:cNvSpPr>
            <a:spLocks xmlns:a="http://schemas.openxmlformats.org/drawingml/2006/main" noGrp="1"/>
          </p:cNvSpPr>
          <p:nvPr/>
        </p:nvSpPr>
        <p:spPr>
          <a:xfrm xmlns:a="http://schemas.openxmlformats.org/drawingml/2006/main">
            <a:off x="7381875" y="452437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536974"/>
                </a:solidFill>
                <a:latin typeface="Arial"/>
                <a:ea typeface="Arial"/>
                <a:cs typeface="Arial"/>
              </a:defRPr>
            </a:pPr>
            <a:r>
              <a:rPr sz="2175" b="0">
                <a:solidFill>
                  <a:srgbClr val="536974"/>
                </a:solidFill>
                <a:latin typeface="Arial"/>
                <a:ea typeface="Arial"/>
                <a:cs typeface="Arial"/>
              </a:rPr>
              <a:t>All other fitting work</a:t>
            </a:r>
          </a:p>
        </p:txBody>
      </p:sp>
      <p:sp>
        <p:nvSpPr>
          <p:cNvPr id="9" name="">
            <a:extLst xmlns:a="http://schemas.openxmlformats.org/drawingml/2006/main">
              <a:ext uri="{FF2B5EF4-FFF2-40B4-BE49-F238E27FC236}">
                <a16:creationId xmlns:a16="http://schemas.microsoft.com/office/drawing/2014/main" id="{DBD2418D-8B6E-4587-9F9B-51C93A2913AC}"/>
              </a:ext>
            </a:extLst>
          </p:cNvPr>
          <p:cNvSpPr>
            <a:spLocks xmlns:a="http://schemas.openxmlformats.org/drawingml/2006/main" noGrp="1"/>
          </p:cNvSpPr>
          <p:nvPr/>
        </p:nvSpPr>
        <p:spPr>
          <a:xfrm xmlns:a="http://schemas.openxmlformats.org/drawingml/2006/main">
            <a:off x="609600" y="55911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02C3C"/>
                </a:solidFill>
                <a:latin typeface="Arial"/>
                <a:ea typeface="Arial"/>
                <a:cs typeface="Arial"/>
              </a:defRPr>
            </a:pPr>
            <a:r>
              <a:rPr sz="2100" b="1">
                <a:solidFill>
                  <a:srgbClr val="102C3C"/>
                </a:solidFill>
                <a:latin typeface="Arial"/>
                <a:ea typeface="Arial"/>
                <a:cs typeface="Arial"/>
              </a:rPr>
              <a:t>215.54 s total. Batching targets almost all of the current fitting cost.</a:t>
            </a:r>
          </a:p>
        </p:txBody>
      </p:sp>
    </p:spTree>
    <p:extLst>
      <p:ext uri="{BB962C8B-B14F-4D97-AF65-F5344CB8AC3E}">
        <p14:creationId xmlns:p14="http://schemas.microsoft.com/office/powerpoint/2010/main" val="201091180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2FE8F2-7F30-4C58-9CFE-B20471E074D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Longer profiles sharply increase the workload</a:t>
            </a:r>
          </a:p>
        </p:txBody>
      </p:sp>
      <p:sp>
        <p:nvSpPr>
          <p:cNvPr id="2" name="">
            <a:extLst xmlns:a="http://schemas.openxmlformats.org/drawingml/2006/main">
              <a:ext uri="{FF2B5EF4-FFF2-40B4-BE49-F238E27FC236}">
                <a16:creationId xmlns:a16="http://schemas.microsoft.com/office/drawing/2014/main" id="{3235981F-FD40-4B85-866B-B47E25CC51B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Calculated scalar encryptions per meter in the current unbatched fitter</a:t>
            </a:r>
          </a:p>
        </p:txBody>
      </p:sp>
      <p:sp>
        <p:nvSpPr>
          <p:cNvPr id="3" name="">
            <a:extLst xmlns:a="http://schemas.openxmlformats.org/drawingml/2006/main">
              <a:ext uri="{FF2B5EF4-FFF2-40B4-BE49-F238E27FC236}">
                <a16:creationId xmlns:a16="http://schemas.microsoft.com/office/drawing/2014/main" id="{C83826D1-9BEB-46BD-8DE3-40E3365E6383}"/>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1" name="Chart"/>
          <p:cNvGraphicFramePr/>
          <p:nvPr/>
        </p:nvGraphicFramePr>
        <p:xfrm>
          <a:off xmlns:a="http://schemas.openxmlformats.org/drawingml/2006/main" x="609600" y="2095500"/>
          <a:ext xmlns:a="http://schemas.openxmlformats.org/drawingml/2006/main" cx="7715250" cy="3257550"/>
        </p:xfrm>
        <a:graphic xmlns:a="http://schemas.openxmlformats.org/drawingml/2006/main">
          <a:graphicData uri="http://schemas.openxmlformats.org/drawingml/2006/chart">
            <c:chart xmlns:r="http://schemas.openxmlformats.org/officeDocument/2006/relationships" xmlns:c="http://schemas.openxmlformats.org/drawingml/2006/chart" r:id="R2c552d303bd5476e"/>
          </a:graphicData>
        </a:graphic>
      </p:graphicFrame>
      <p:sp>
        <p:nvSpPr>
          <p:cNvPr id="5" name="">
            <a:extLst xmlns:a="http://schemas.openxmlformats.org/drawingml/2006/main">
              <a:ext uri="{FF2B5EF4-FFF2-40B4-BE49-F238E27FC236}">
                <a16:creationId xmlns:a16="http://schemas.microsoft.com/office/drawing/2014/main" id="{9FE601A6-7DE3-47B8-80C8-7E519F24AE6D}"/>
              </a:ext>
            </a:extLst>
          </p:cNvPr>
          <p:cNvSpPr>
            <a:spLocks xmlns:a="http://schemas.openxmlformats.org/drawingml/2006/main" noGrp="1"/>
          </p:cNvSpPr>
          <p:nvPr/>
        </p:nvSpPr>
        <p:spPr>
          <a:xfrm xmlns:a="http://schemas.openxmlformats.org/drawingml/2006/main">
            <a:off x="8705850" y="2552700"/>
            <a:ext cx="2905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825" b="1">
                <a:solidFill>
                  <a:srgbClr val="137D7C"/>
                </a:solidFill>
                <a:latin typeface="Arial"/>
                <a:ea typeface="Arial"/>
                <a:cs typeface="Arial"/>
              </a:defRPr>
            </a:pPr>
            <a:r>
              <a:rPr sz="3825" b="1">
                <a:solidFill>
                  <a:srgbClr val="137D7C"/>
                </a:solidFill>
                <a:latin typeface="Arial"/>
                <a:ea typeface="Arial"/>
                <a:cs typeface="Arial"/>
              </a:rPr>
              <a:t>4.32 million</a:t>
            </a:r>
          </a:p>
        </p:txBody>
      </p:sp>
      <p:sp>
        <p:nvSpPr>
          <p:cNvPr id="6" name="">
            <a:extLst xmlns:a="http://schemas.openxmlformats.org/drawingml/2006/main">
              <a:ext uri="{FF2B5EF4-FFF2-40B4-BE49-F238E27FC236}">
                <a16:creationId xmlns:a16="http://schemas.microsoft.com/office/drawing/2014/main" id="{C039A5F5-FEBF-4936-8A24-17640FA74E1C}"/>
              </a:ext>
            </a:extLst>
          </p:cNvPr>
          <p:cNvSpPr>
            <a:spLocks xmlns:a="http://schemas.openxmlformats.org/drawingml/2006/main" noGrp="1"/>
          </p:cNvSpPr>
          <p:nvPr/>
        </p:nvSpPr>
        <p:spPr>
          <a:xfrm xmlns:a="http://schemas.openxmlformats.org/drawingml/2006/main">
            <a:off x="8705850" y="3857625"/>
            <a:ext cx="2905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scalar encryptions</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for 910 meters</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at 96 samples</a:t>
            </a:r>
          </a:p>
        </p:txBody>
      </p:sp>
      <p:sp>
        <p:nvSpPr>
          <p:cNvPr id="7" name="">
            <a:extLst xmlns:a="http://schemas.openxmlformats.org/drawingml/2006/main">
              <a:ext uri="{FF2B5EF4-FFF2-40B4-BE49-F238E27FC236}">
                <a16:creationId xmlns:a16="http://schemas.microsoft.com/office/drawing/2014/main" id="{142AEFE4-645E-4616-9650-DA0F54E7DFFE}"/>
              </a:ext>
            </a:extLst>
          </p:cNvPr>
          <p:cNvSpPr>
            <a:spLocks xmlns:a="http://schemas.openxmlformats.org/drawingml/2006/main" noGrp="1"/>
          </p:cNvSpPr>
          <p:nvPr/>
        </p:nvSpPr>
        <p:spPr>
          <a:xfrm xmlns:a="http://schemas.openxmlformats.org/drawingml/2006/main">
            <a:off x="609600" y="5667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02C3C"/>
                </a:solidFill>
                <a:latin typeface="Arial"/>
                <a:ea typeface="Arial"/>
                <a:cs typeface="Arial"/>
              </a:defRPr>
            </a:pPr>
            <a:r>
              <a:rPr sz="2025" b="1">
                <a:solidFill>
                  <a:srgbClr val="102C3C"/>
                </a:solidFill>
                <a:latin typeface="Arial"/>
                <a:ea typeface="Arial"/>
                <a:cs typeface="Arial"/>
              </a:rPr>
              <a:t>Packed BGV can group values. Its actual speedup still needs measurement.</a:t>
            </a:r>
          </a:p>
        </p:txBody>
      </p:sp>
    </p:spTree>
    <p:extLst>
      <p:ext uri="{BB962C8B-B14F-4D97-AF65-F5344CB8AC3E}">
        <p14:creationId xmlns:p14="http://schemas.microsoft.com/office/powerpoint/2010/main" val="206416019"/>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BD973A-B5DB-4BD1-88E9-EB3B81541A8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The measurements that will decide success</a:t>
            </a:r>
          </a:p>
        </p:txBody>
      </p:sp>
      <p:sp>
        <p:nvSpPr>
          <p:cNvPr id="2" name="">
            <a:extLst xmlns:a="http://schemas.openxmlformats.org/drawingml/2006/main">
              <a:ext uri="{FF2B5EF4-FFF2-40B4-BE49-F238E27FC236}">
                <a16:creationId xmlns:a16="http://schemas.microsoft.com/office/drawing/2014/main" id="{1F5C0F5B-6629-4DC3-A8DA-4ACA8FF57D8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The best settings must balance privacy, availability and voltage quality.</a:t>
            </a:r>
          </a:p>
        </p:txBody>
      </p:sp>
      <p:sp>
        <p:nvSpPr>
          <p:cNvPr id="3" name="">
            <a:extLst xmlns:a="http://schemas.openxmlformats.org/drawingml/2006/main">
              <a:ext uri="{FF2B5EF4-FFF2-40B4-BE49-F238E27FC236}">
                <a16:creationId xmlns:a16="http://schemas.microsoft.com/office/drawing/2014/main" id="{475F2AA1-C4A1-4E56-8F94-7861F44EB80B}"/>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7</a:t>
            </a:r>
          </a:p>
        </p:txBody>
      </p:sp>
      <p:graphicFrame>
        <p:nvGraphicFramePr>
          <p:cNvPr id="13"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429000"/>
                <a:gridCol w="7543800"/>
              </a:tblGrid>
              <a:tr h="785813">
                <a:tc>
                  <a:txBody>
                    <a:bodyPr/>
                    <a:lstStyle/>
                    <a:p>
                      <a:r>
                        <a:rPr sz="1875" b="1">
                          <a:solidFill>
                            <a:srgbClr val="FFFFFF"/>
                          </a:solidFill>
                          <a:latin typeface="Arial"/>
                          <a:ea typeface="Arial"/>
                          <a:cs typeface="Arial"/>
                        </a:rPr>
                        <a:t>Measure</a:t>
                      </a:r>
                    </a:p>
                  </a:txBody>
                  <a:tcPr marL="91440" marR="91440" marT="45720" marB="45720">
                    <a:solidFill>
                      <a:srgbClr val="102C3C"/>
                    </a:solidFill>
                  </a:tcPr>
                </a:tc>
                <a:tc>
                  <a:txBody>
                    <a:bodyPr/>
                    <a:lstStyle/>
                    <a:p>
                      <a:r>
                        <a:rPr sz="1875" b="1">
                          <a:solidFill>
                            <a:srgbClr val="FFFFFF"/>
                          </a:solidFill>
                          <a:latin typeface="Arial"/>
                          <a:ea typeface="Arial"/>
                          <a:cs typeface="Arial"/>
                        </a:rPr>
                        <a:t>What a good result means</a:t>
                      </a:r>
                    </a:p>
                  </a:txBody>
                  <a:tcPr marL="91440" marR="91440" marT="45720" marB="45720">
                    <a:solidFill>
                      <a:srgbClr val="102C3C"/>
                    </a:solidFill>
                  </a:tcPr>
                </a:tc>
              </a:tr>
              <a:tr h="785813">
                <a:tc>
                  <a:txBody>
                    <a:bodyPr/>
                    <a:lstStyle/>
                    <a:p>
                      <a:r>
                        <a:rPr sz="1875" b="0">
                          <a:solidFill>
                            <a:srgbClr val="102C3C"/>
                          </a:solidFill>
                          <a:latin typeface="Arial"/>
                          <a:ea typeface="Arial"/>
                          <a:cs typeface="Arial"/>
                        </a:rPr>
                        <a:t>Privacy: ε, δ and bound B</a:t>
                      </a:r>
                    </a:p>
                  </a:txBody>
                  <a:tcPr marL="91440" marR="91440" marT="45720" marB="45720">
                    <a:solidFill>
                      <a:srgbClr val="FFFFFF"/>
                    </a:solidFill>
                  </a:tcPr>
                </a:tc>
                <a:tc>
                  <a:txBody>
                    <a:bodyPr/>
                    <a:lstStyle/>
                    <a:p>
                      <a:r>
                        <a:rPr sz="1875" b="0">
                          <a:solidFill>
                            <a:srgbClr val="102C3C"/>
                          </a:solidFill>
                          <a:latin typeface="Arial"/>
                          <a:ea typeface="Arial"/>
                          <a:cs typeface="Arial"/>
                        </a:rPr>
                        <a:t>A proved budget and bounded perturbation</a:t>
                      </a:r>
                    </a:p>
                    <a:p>
                      <a:r>
                        <a:rPr sz="1875" b="0">
                          <a:solidFill>
                            <a:srgbClr val="102C3C"/>
                          </a:solidFill>
                          <a:latin typeface="Arial"/>
                          <a:ea typeface="Arial"/>
                          <a:cs typeface="Arial"/>
                        </a:rPr>
                        <a:t>under the stated honest-survivor count.</a:t>
                      </a:r>
                    </a:p>
                  </a:txBody>
                  <a:tcPr marL="91440" marR="91440" marT="45720" marB="45720">
                    <a:solidFill>
                      <a:srgbClr val="FFFFFF"/>
                    </a:solidFill>
                  </a:tcPr>
                </a:tc>
              </a:tr>
              <a:tr h="785813">
                <a:tc>
                  <a:txBody>
                    <a:bodyPr/>
                    <a:lstStyle/>
                    <a:p>
                      <a:r>
                        <a:rPr sz="1875" b="0">
                          <a:solidFill>
                            <a:srgbClr val="102C3C"/>
                          </a:solidFill>
                          <a:latin typeface="Arial"/>
                          <a:ea typeface="Arial"/>
                          <a:cs typeface="Arial"/>
                        </a:rPr>
                        <a:t>Voltage quality</a:t>
                      </a:r>
                    </a:p>
                  </a:txBody>
                  <a:tcPr marL="91440" marR="91440" marT="45720" marB="45720">
                    <a:solidFill>
                      <a:srgbClr val="EDF3F0"/>
                    </a:solidFill>
                  </a:tcPr>
                </a:tc>
                <a:tc>
                  <a:txBody>
                    <a:bodyPr/>
                    <a:lstStyle/>
                    <a:p>
                      <a:r>
                        <a:rPr sz="1875" b="0">
                          <a:solidFill>
                            <a:srgbClr val="102C3C"/>
                          </a:solidFill>
                          <a:latin typeface="Arial"/>
                          <a:ea typeface="Arial"/>
                          <a:cs typeface="Arial"/>
                        </a:rPr>
                        <a:t>Small voltage error and few limit violations</a:t>
                      </a:r>
                    </a:p>
                    <a:p>
                      <a:r>
                        <a:rPr sz="1875" b="0">
                          <a:solidFill>
                            <a:srgbClr val="102C3C"/>
                          </a:solidFill>
                          <a:latin typeface="Arial"/>
                          <a:ea typeface="Arial"/>
                          <a:cs typeface="Arial"/>
                        </a:rPr>
                        <a:t>at matched privacy budgets.</a:t>
                      </a:r>
                    </a:p>
                  </a:txBody>
                  <a:tcPr marL="91440" marR="91440" marT="45720" marB="45720">
                    <a:solidFill>
                      <a:srgbClr val="EDF3F0"/>
                    </a:solidFill>
                  </a:tcPr>
                </a:tc>
              </a:tr>
              <a:tr h="785813">
                <a:tc>
                  <a:txBody>
                    <a:bodyPr/>
                    <a:lstStyle/>
                    <a:p>
                      <a:r>
                        <a:rPr sz="1875" b="0">
                          <a:solidFill>
                            <a:srgbClr val="102C3C"/>
                          </a:solidFill>
                          <a:latin typeface="Arial"/>
                          <a:ea typeface="Arial"/>
                          <a:cs typeface="Arial"/>
                        </a:rPr>
                        <a:t>Cost and dropout</a:t>
                      </a:r>
                    </a:p>
                  </a:txBody>
                  <a:tcPr marL="91440" marR="91440" marT="45720" marB="45720">
                    <a:solidFill>
                      <a:srgbClr val="FFFFFF"/>
                    </a:solidFill>
                  </a:tcPr>
                </a:tc>
                <a:tc>
                  <a:txBody>
                    <a:bodyPr/>
                    <a:lstStyle/>
                    <a:p>
                      <a:r>
                        <a:rPr sz="1875" b="0">
                          <a:solidFill>
                            <a:srgbClr val="102C3C"/>
                          </a:solidFill>
                          <a:latin typeface="Arial"/>
                          <a:ea typeface="Arial"/>
                          <a:cs typeface="Arial"/>
                        </a:rPr>
                        <a:t>Lower total time and communication.</a:t>
                      </a:r>
                    </a:p>
                    <a:p>
                      <a:r>
                        <a:rPr sz="1875" b="0">
                          <a:solidFill>
                            <a:srgbClr val="102C3C"/>
                          </a:solidFill>
                          <a:latin typeface="Arial"/>
                          <a:ea typeface="Arial"/>
                          <a:cs typeface="Arial"/>
                        </a:rPr>
                        <a:t>Valid releases when enough parties remain.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610BA87-B251-46A6-8CD5-A6BB0C29E2C6}"/>
              </a:ext>
            </a:extLst>
          </p:cNvPr>
          <p:cNvSpPr>
            <a:spLocks xmlns:a="http://schemas.openxmlformats.org/drawingml/2006/main" noGrp="1"/>
          </p:cNvSpPr>
          <p:nvPr/>
        </p:nvSpPr>
        <p:spPr>
          <a:xfrm xmlns:a="http://schemas.openxmlformats.org/drawingml/2006/main">
            <a:off x="609600" y="5505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37D7C"/>
                </a:solidFill>
                <a:latin typeface="Arial"/>
                <a:ea typeface="Arial"/>
                <a:cs typeface="Arial"/>
              </a:defRPr>
            </a:pPr>
            <a:r>
              <a:rPr sz="2025" b="1">
                <a:solidFill>
                  <a:srgbClr val="137D7C"/>
                </a:solidFill>
                <a:latin typeface="Arial"/>
                <a:ea typeface="Arial"/>
                <a:cs typeface="Arial"/>
              </a:rPr>
              <a:t>Next comparison: current Paillier versus packed threshold BGV.</a:t>
            </a:r>
          </a:p>
        </p:txBody>
      </p:sp>
      <p:sp>
        <p:nvSpPr>
          <p:cNvPr id="6" name="">
            <a:extLst xmlns:a="http://schemas.openxmlformats.org/drawingml/2006/main">
              <a:ext uri="{FF2B5EF4-FFF2-40B4-BE49-F238E27FC236}">
                <a16:creationId xmlns:a16="http://schemas.microsoft.com/office/drawing/2014/main" id="{53B2FA1C-98FA-4F54-B161-9156985A7945}"/>
              </a:ext>
            </a:extLst>
          </p:cNvPr>
          <p:cNvSpPr>
            <a:spLocks xmlns:a="http://schemas.openxmlformats.org/drawingml/2006/main" noGrp="1"/>
          </p:cNvSpPr>
          <p:nvPr/>
        </p:nvSpPr>
        <p:spPr>
          <a:xfrm xmlns:a="http://schemas.openxmlformats.org/drawingml/2006/main">
            <a:off x="609600" y="601027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BNP sampling, collusion protection and safe recovery still need validation.</a:t>
            </a:r>
          </a:p>
        </p:txBody>
      </p:sp>
      <p:sp>
        <p:nvSpPr>
          <p:cNvPr id="9" name="">
            <a:extLst xmlns:a="http://schemas.openxmlformats.org/drawingml/2006/main">
              <a:ext uri="{FF2B5EF4-FFF2-40B4-BE49-F238E27FC236}">
                <a16:creationId xmlns:a16="http://schemas.microsoft.com/office/drawing/2014/main" id="{1DAB23F5-017A-4FF6-A707-B348171E2133}"/>
              </a:ext>
            </a:extLst>
          </p:cNvPr>
          <p:cNvSpPr>
            <a:spLocks xmlns:a="http://schemas.openxmlformats.org/drawingml/2006/main" noGrp="1"/>
          </p:cNvSpPr>
          <p:nvPr/>
        </p:nvSpPr>
        <p:spPr>
          <a:xfrm xmlns:a="http://schemas.openxmlformats.org/drawingml/2006/main">
            <a:off x="609600" y="1714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Proposed quorum: 3 of 5 authorities. Two can be offline.</a:t>
            </a:r>
          </a:p>
        </p:txBody>
      </p:sp>
    </p:spTree>
    <p:extLst>
      <p:ext uri="{BB962C8B-B14F-4D97-AF65-F5344CB8AC3E}">
        <p14:creationId xmlns:p14="http://schemas.microsoft.com/office/powerpoint/2010/main" val="1007009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2026-10-01T16:13:39.9730000Z</dcterms:created>
  <dcterms:modified xsi:type="dcterms:W3CDTF">2026-10-01T16:13:39.9730000Z</dcterms:modified>
</coreProperties>
</file>