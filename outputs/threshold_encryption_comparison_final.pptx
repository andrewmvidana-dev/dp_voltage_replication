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70ae33d4a1a4a24" /><Relationship Type="http://schemas.openxmlformats.org/officeDocument/2006/relationships/extended-properties" Target="/docProps/app.xml" Id="R719495f411824976" /><Relationship Type="http://schemas.openxmlformats.org/officeDocument/2006/relationships/officeDocument" Target="/ppt/presentation.xml" Id="Re0ee9dcdc5704fd8" /></Relationships>
</file>

<file path=ppt/presentation.xml><?xml version="1.0" encoding="utf-8"?>
<p:presentation xmlns:p="http://schemas.openxmlformats.org/presentationml/2006/main">
  <p:sldMasterIdLst>
    <p:sldMasterId xmlns:r="http://schemas.openxmlformats.org/officeDocument/2006/relationships" id="2147483648" r:id="Rf4165814e04f4f6c"/>
  </p:sldMasterIdLst>
  <p:notesMasterIdLst>
    <p:notesMasterId xmlns:r="http://schemas.openxmlformats.org/officeDocument/2006/relationships" r:id="Rfea0dd7377794dd9"/>
  </p:notesMasterIdLst>
  <p:sldIdLst>
    <p:sldId xmlns:r="http://schemas.openxmlformats.org/officeDocument/2006/relationships" id="256" r:id="Ra3b7b0291a6a4125"/>
    <p:sldId xmlns:r="http://schemas.openxmlformats.org/officeDocument/2006/relationships" id="257" r:id="R875560f5c095493f"/>
    <p:sldId xmlns:r="http://schemas.openxmlformats.org/officeDocument/2006/relationships" id="258" r:id="R9ed1a985153c4242"/>
    <p:sldId xmlns:r="http://schemas.openxmlformats.org/officeDocument/2006/relationships" id="259" r:id="R98401a8718cb4ee4"/>
    <p:sldId xmlns:r="http://schemas.openxmlformats.org/officeDocument/2006/relationships" id="260" r:id="Ra999d8cb18474d09"/>
    <p:sldId xmlns:r="http://schemas.openxmlformats.org/officeDocument/2006/relationships" id="261" r:id="Rcf6c090df4304c3c"/>
    <p:sldId xmlns:r="http://schemas.openxmlformats.org/officeDocument/2006/relationships" id="262" r:id="Re78e4320c052428f"/>
    <p:sldId xmlns:r="http://schemas.openxmlformats.org/officeDocument/2006/relationships" id="263" r:id="R10f954ea30f74590"/>
    <p:sldId xmlns:r="http://schemas.openxmlformats.org/officeDocument/2006/relationships" id="264" r:id="R180d0c32df9a4d8e"/>
    <p:sldId xmlns:r="http://schemas.openxmlformats.org/officeDocument/2006/relationships" id="265" r:id="R7e2bce0165914eca"/>
    <p:sldId xmlns:r="http://schemas.openxmlformats.org/officeDocument/2006/relationships" id="266" r:id="R6fba0f9078af4fe5"/>
    <p:sldId xmlns:r="http://schemas.openxmlformats.org/officeDocument/2006/relationships" id="267" r:id="Rcb3535a3a8194ca9"/>
    <p:sldId xmlns:r="http://schemas.openxmlformats.org/officeDocument/2006/relationships" id="268" r:id="R0facaa4fcc304e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cfef1c8f74417a" /><Relationship Type="http://schemas.openxmlformats.org/officeDocument/2006/relationships/slideMaster" Target="/ppt/slideMasters/slideMaster1.xml" Id="Rf4165814e04f4f6c" /><Relationship Type="http://schemas.openxmlformats.org/officeDocument/2006/relationships/notesMaster" Target="/ppt/notesMasters/notesMaster1.xml" Id="Rfea0dd7377794dd9" /><Relationship Type="http://schemas.openxmlformats.org/officeDocument/2006/relationships/presProps" Target="/ppt/presProps.xml" Id="R75294038bc594d48" /><Relationship Type="http://schemas.openxmlformats.org/officeDocument/2006/relationships/tableStyles" Target="/ppt/tableStyles.xml" Id="R71d67d43062b4df5" /><Relationship Type="http://schemas.openxmlformats.org/officeDocument/2006/relationships/slide" Target="/ppt/slides/slide1.xml" Id="Ra3b7b0291a6a4125" /><Relationship Type="http://schemas.openxmlformats.org/officeDocument/2006/relationships/slide" Target="/ppt/slides/slide2.xml" Id="R875560f5c095493f" /><Relationship Type="http://schemas.openxmlformats.org/officeDocument/2006/relationships/slide" Target="/ppt/slides/slide3.xml" Id="R9ed1a985153c4242" /><Relationship Type="http://schemas.openxmlformats.org/officeDocument/2006/relationships/slide" Target="/ppt/slides/slide4.xml" Id="R98401a8718cb4ee4" /><Relationship Type="http://schemas.openxmlformats.org/officeDocument/2006/relationships/slide" Target="/ppt/slides/slide5.xml" Id="Ra999d8cb18474d09" /><Relationship Type="http://schemas.openxmlformats.org/officeDocument/2006/relationships/slide" Target="/ppt/slides/slide6.xml" Id="Rcf6c090df4304c3c" /><Relationship Type="http://schemas.openxmlformats.org/officeDocument/2006/relationships/slide" Target="/ppt/slides/slide7.xml" Id="Re78e4320c052428f" /><Relationship Type="http://schemas.openxmlformats.org/officeDocument/2006/relationships/slide" Target="/ppt/slides/slide8.xml" Id="R10f954ea30f74590" /><Relationship Type="http://schemas.openxmlformats.org/officeDocument/2006/relationships/slide" Target="/ppt/slides/slide9.xml" Id="R180d0c32df9a4d8e" /><Relationship Type="http://schemas.openxmlformats.org/officeDocument/2006/relationships/slide" Target="/ppt/slides/slide10.xml" Id="R7e2bce0165914eca" /><Relationship Type="http://schemas.openxmlformats.org/officeDocument/2006/relationships/slide" Target="/ppt/slides/slide11.xml" Id="R6fba0f9078af4fe5" /><Relationship Type="http://schemas.openxmlformats.org/officeDocument/2006/relationships/slide" Target="/ppt/slides/slide12.xml" Id="Rcb3535a3a8194ca9" /><Relationship Type="http://schemas.openxmlformats.org/officeDocument/2006/relationships/slide" Target="/ppt/slides/slide13.xml" Id="R0facaa4fcc304e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2baffff73145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58c4e050a44410" /><Relationship Type="http://schemas.openxmlformats.org/officeDocument/2006/relationships/notesMaster" Target="/ppt/notesMasters/notesMaster1.xml" Id="Rb7566707753b4e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c38d2921294c51" /><Relationship Type="http://schemas.openxmlformats.org/officeDocument/2006/relationships/notesMaster" Target="/ppt/notesMasters/notesMaster1.xml" Id="R255d081775684f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035d5300ea442c" /><Relationship Type="http://schemas.openxmlformats.org/officeDocument/2006/relationships/notesMaster" Target="/ppt/notesMasters/notesMaster1.xml" Id="R27f3e0877abe42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bd71f3d98b420d" /><Relationship Type="http://schemas.openxmlformats.org/officeDocument/2006/relationships/notesMaster" Target="/ppt/notesMasters/notesMaster1.xml" Id="Rb3aaaee0226b445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a381176a7a64cde" /><Relationship Type="http://schemas.openxmlformats.org/officeDocument/2006/relationships/notesMaster" Target="/ppt/notesMasters/notesMaster1.xml" Id="R2d208c9d4f0e47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0691aac8ce4274" /><Relationship Type="http://schemas.openxmlformats.org/officeDocument/2006/relationships/notesMaster" Target="/ppt/notesMasters/notesMaster1.xml" Id="Rbc93b74782f74d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af7304e0e446af" /><Relationship Type="http://schemas.openxmlformats.org/officeDocument/2006/relationships/notesMaster" Target="/ppt/notesMasters/notesMaster1.xml" Id="R6859a2bede0449e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94c1f486fe4cf5" /><Relationship Type="http://schemas.openxmlformats.org/officeDocument/2006/relationships/notesMaster" Target="/ppt/notesMasters/notesMaster1.xml" Id="R1c4ebeecac6d48e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0a40dd2bf7b40ce" /><Relationship Type="http://schemas.openxmlformats.org/officeDocument/2006/relationships/notesMaster" Target="/ppt/notesMasters/notesMaster1.xml" Id="Rc9aff70c86c4496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7a474c799b455c" /><Relationship Type="http://schemas.openxmlformats.org/officeDocument/2006/relationships/notesMaster" Target="/ppt/notesMasters/notesMaster1.xml" Id="R8931ed1387dd4bb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8073f12248f4780" /><Relationship Type="http://schemas.openxmlformats.org/officeDocument/2006/relationships/notesMaster" Target="/ppt/notesMasters/notesMaster1.xml" Id="R50f746abd7ca4f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a62de87ec8a4a9c" /><Relationship Type="http://schemas.openxmlformats.org/officeDocument/2006/relationships/notesMaster" Target="/ppt/notesMasters/notesMaster1.xml" Id="R6fb9a85caa624a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f1c0997b614434e" /><Relationship Type="http://schemas.openxmlformats.org/officeDocument/2006/relationships/notesMaster" Target="/ppt/notesMasters/notesMaster1.xml" Id="Rc2967c4e0f7648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2023 Journal of Cryptology paper by Christian Mouchet, Elliott Bertrand and Jean-Pierre Hubaux: https://doi.org/10.1007/s00145-023-09452-8. Actual Lattigo v6.2.0 research implementation, simulated colocated roles, not a production security deployment. Cover artwork retained from prior deck (ImageGen conceptual residential grid).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Gaussian fitter: dpvolt/secure_agg.py fit_class, new dpvolt/threshold_agg.py and threshold_mhe/main.go. Noise enters before encryption. Threshold shares never reconstruct a complete key. Application authentication/authorization remains future work. BNP is implemented only for direct sums, using an independent trusted uniform-noise service. Fixed-grid power flow is customer-DP post-processing, not topology privacy. https://doi.org/10.1007/s00145-023-09452-8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https://doi.org/10.1007/s00145-023-09452-8 ; https://pkg.go.dev/github.com/tuneinsight/lattigo/v6/multiparty . Paper published 2023, preprint 2022/780. Semi-honest setting. Implementation uses degree-two Shamir sharing of every authority component, public-key generation, Combine and collective key-switch-to-zero. No full secret-key reconstruction. All ten possible 3-of-5 quorums tested on fresh ciphertexts/keys. Mid-round dropout/retry is not supported. Do not infer 128-bit security from the parameter choices. https://github.com/tuneinsight/lattigo/security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Privacy unit: replace one reading, one meter, one time. Public meter clipping [0,20] kW, sensitivity 20 kW. Uniform bound 1000 kW gives (0,.01) for ideal continuous scalar sum. Gaussian sigma 797.8637 kW matches that guarantee by total variation. These are illustrative stress settings, not standards-approved parameters. Encryption-only has no nontrivial output DP. The trusted BNP service can know exact aggregate by subtracting its noise and is excluded from the DP adversary. Gaussian assumes all reporting meters contribute independent hidden noise. https://csrc.nist.gov/pubs/sp/800/226/final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Bars show means of trial RMSE, not theoretical standard deviations. The displayed paired interval covers 30 seed-paired trial differences. Utility trials use plaintext-equivalent mechanism after checking real encryption for first trial of every condition. No-noise zero error has no output DP, so it is not a privacy competitor. BNP theoretical raw RMSE 577.3503 kW; Gaussian 797.8637 kW. Encryption does not reduce DP noise. All inputs synthetic; inference is conditional on this feeder.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91 load rows, six time snapshots, 96 retained nodes. All measured power flows converged. RMSE averages voltage magnitudes against the publicly clipped noise-free reference. Convergence does not establish acceptable operational accuracy. 95% intervals: {"Gaussian":{"mean":0.09653808372874013,"ci95":[0.09426700194279077,0.0988091655146895]},"BNP":{"mean":0.09639563536205209,"ci95":[0.09360639089527283,0.09918487982883135]}}. Paired BNP minus Gaussian interval: {"mean":-0.00014244836668805873,"ci95":[-0.0038065736198863286,0.0035216768865102112]}. Public clipping is ideal DP post-processing but changes utility. These are direct-sum experiments, distinct from synthetic-model fitting.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Each bus has ten meter contributions and an extra noise-service contribution, zero outside BNP. Paillier: 6006 scalar ciphertexts, one key setup outside timed releases; key setup is separately recorded. BGV: 1001 packed ciphertexts across 91 fresh key epochs, setup and process overhead included in wall time. Thus this is observed implementation cost, not security-equivalent algorithm speedup. Serial workers=1. Windows single-machine run; no LAN overhead or production hardening. No timing confidence interval from this single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Three raw elapsed measurements per condition: {"Paillier":[15.151837400044315,15.09007920010481,14.77280969999265],"BGV serial":[0.2637838999507949,0.24166110006626695,0.23880629998166114],"BGV 4 workers":[0.19117550004739314,0.20760999992489815,0.19800890004262328]}. Count reduction is scalar Paillier vs one packed BGV ciphertext per meter, not a 96-fold runtime claim. BGV supports 16384 slots but only 96 used in this benchmark. 4 worker goroutines parallelize independent encryptions; authority operations remain serial. Fresh threshold setup included, Paillier setup separate. Different precision and security settings. Serialized payload can grow even with fewer ciphertexts.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Computed serialized BGV ciphertext sizes and decryption-share sizes reported by Lattigo BinarySize, summed across91 releases. These are payload sizes, not network measurements. Paillier estimate6006 ciphertext integers times512bytes for fixed-width4096-bit integers, excludes exponent/key metadata. BGV excludes all setup/public-key/resharing traffic and network framing; the separate share bar is additional to ciphertexts. Thus the total BGV payload is at least about569MiB in this sparse six-slot workload, despite lower CPU time. Microbench96slots also leaves spare capacity. Packing longer mean/covariance vectors can use capacity better without combining unrelated households in plaintext.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Quorum correctness tested by verify_threshold.py. Fewer than three or duplicate/invalid identities refused. This is pre-committed authority availability, not a tested network recovery mechanism. Missing-load chart is calculated from surviving synthetic meters without noise; no imputation/rescaling. Delta curve analytic at epsilon0 assuming all survivors independent and honest: effective sigma=original sigma sqrt(k/10). Survivor compensation restores nominal variance, not signal. Missing profile data and dishonest meters require separate handling.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data: results/threshold_20261005/metrics.json. Reproduce with run_threshold_comparison.py. Fit settings epsilon=50,delta=1e-5,public synthetic load bounds [.0001,1]pu,T4,45days. This is an integration smoke test, not the eps0 direct-sum comparison. Errors measured in log-load mean and log-load covariance units. Paired plaintext reference uses same RNG to isolate quantization. Earlier Paillier result215.54s used a different archive, so no matched model-fit speedup is asserted. Data remain proportional simulated customers. BNP sum primitive is implemented, but joint BNP mean/covariance privacy accounting is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https://csrc.nist.gov/pubs/sp/800/226/final ; https://github.com/tuneinsight/lattigo/security . NIST 2025 evaluation guidance motivates adjacency, bounded contribution, mechanism, trust model and accounting disclosures; no universal epsilon recommendation is inferred. This remains research. Experimental parameters LogN14, LogQ55+55,LogP55,plaintext1099511922689,scale1e6,flooding sigma2^40. No derived decryption leakage bound or independent lattice estimator assessment. Fresh epochs avoid exposed retry endpoints but do not prove full protocol security. Authenticated distributed services, malicious-share verification and persistent budget control remain absent.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foundation: https://doi.org/10.1007/s00145-023-09452-8. The implemented contribution is an integration and evaluation, not an independent cryptographic invention or established first-in-CPS claim. Prior literature already combines encryption and differential privacy in cyber-physical applications. Future BNP distributed sampling must justify exact joint distribution and collusion assumptions; adding arbitrary uniform shares is insufficient. Full-customer trajectories require adjacency and privacy composition beyond this event-level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6e624571e046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9addf942c34aea" /><Relationship Type="http://schemas.openxmlformats.org/officeDocument/2006/relationships/slideLayout" Target="/ppt/slideLayouts/slideLayout1.xml" Id="R6b80182274654f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80182274654f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8e20b50c5b04dab" /><Relationship Type="http://schemas.openxmlformats.org/officeDocument/2006/relationships/image" Target="/ppt/media/image.png" Id="R1cb8e7f599bf42d3" /><Relationship Type="http://schemas.openxmlformats.org/officeDocument/2006/relationships/notesSlide" Target="/ppt/notesSlides/notesSlide1.xml" Id="R9fa3e8d1115243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c3926282714ddf" /><Relationship Type="http://schemas.openxmlformats.org/officeDocument/2006/relationships/notesSlide" Target="/ppt/notesSlides/notesSlide2.xml" Id="Reeec5bea12a740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60dfa1190a24e2c" /><Relationship Type="http://schemas.openxmlformats.org/officeDocument/2006/relationships/notesSlide" Target="/ppt/notesSlides/notesSlide3.xml" Id="Raedd0320b1bd4d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2929722ef034f31" /><Relationship Type="http://schemas.openxmlformats.org/officeDocument/2006/relationships/notesSlide" Target="/ppt/notesSlides/notesSlide4.xml" Id="Rc68d16c45d8a43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5bb1f8118e346da" /><Relationship Type="http://schemas.openxmlformats.org/officeDocument/2006/relationships/chart" Target="/ppt/slides/charts/chart1.xml" Id="Reb9d51dd9d5d4e40" /><Relationship Type="http://schemas.openxmlformats.org/officeDocument/2006/relationships/notesSlide" Target="/ppt/notesSlides/notesSlide5.xml" Id="R62873f322f624f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164a1c71d764840" /><Relationship Type="http://schemas.openxmlformats.org/officeDocument/2006/relationships/chart" Target="/ppt/slides/charts/chart2.xml" Id="Rc4452283a17247bf" /><Relationship Type="http://schemas.openxmlformats.org/officeDocument/2006/relationships/notesSlide" Target="/ppt/notesSlides/notesSlide6.xml" Id="R050ce13890bc4a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a3670bd77b44732" /><Relationship Type="http://schemas.openxmlformats.org/officeDocument/2006/relationships/chart" Target="/ppt/slides/charts/chart3.xml" Id="R026662e7c2ee4bba" /><Relationship Type="http://schemas.openxmlformats.org/officeDocument/2006/relationships/notesSlide" Target="/ppt/notesSlides/notesSlide7.xml" Id="Rfbeceeb5c46b478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082a6eedf444f44" /><Relationship Type="http://schemas.openxmlformats.org/officeDocument/2006/relationships/chart" Target="/ppt/slides/charts/chart4.xml" Id="R7f8b2bb0f4094ab2" /><Relationship Type="http://schemas.openxmlformats.org/officeDocument/2006/relationships/notesSlide" Target="/ppt/notesSlides/notesSlide8.xml" Id="Ra57ed199b1bc4f7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c6b301927964db1" /><Relationship Type="http://schemas.openxmlformats.org/officeDocument/2006/relationships/chart" Target="/ppt/slides/charts/chart5.xml" Id="R78a98b77bc1c4655" /><Relationship Type="http://schemas.openxmlformats.org/officeDocument/2006/relationships/notesSlide" Target="/ppt/notesSlides/notesSlide9.xml" Id="Rc2325dc570194ac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b13da1292854e93" /><Relationship Type="http://schemas.openxmlformats.org/officeDocument/2006/relationships/chart" Target="/ppt/slides/charts/chart6.xml" Id="R85594be11bd74884" /><Relationship Type="http://schemas.openxmlformats.org/officeDocument/2006/relationships/notesSlide" Target="/ppt/notesSlides/notesSlide10.xml" Id="R742eabee35984c2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6df4752154142df" /><Relationship Type="http://schemas.openxmlformats.org/officeDocument/2006/relationships/notesSlide" Target="/ppt/notesSlides/notesSlide11.xml" Id="Raee5e2ddd15e45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30b9523a9a44c6b" /><Relationship Type="http://schemas.openxmlformats.org/officeDocument/2006/relationships/notesSlide" Target="/ppt/notesSlides/notesSlide12.xml" Id="R3fd5a7dfcd1948a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d3f02e031d440d3" /><Relationship Type="http://schemas.openxmlformats.org/officeDocument/2006/relationships/notesSlide" Target="/ppt/notesSlides/notesSlide13.xml" Id="R883bce0e835849a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Raw RMSE</c:v>
          </c:tx>
          <c:spPr>
            <a:solidFill xmlns:a="http://schemas.openxmlformats.org/drawingml/2006/main">
              <a:srgbClr val="137D7C"/>
            </a:solidFill>
          </c:spPr>
          <c:cat>
            <c:strRef>
              <c:f>'Chart Data'!$A$2:$A$4</c:f>
              <c:strCache>
                <c:ptCount val="3"/>
                <c:pt idx="0">
                  <c:v>No noise</c:v>
                </c:pt>
                <c:pt idx="1">
                  <c:v>Gaussian DP</c:v>
                </c:pt>
                <c:pt idx="2">
                  <c:v>BNP</c:v>
                </c:pt>
              </c:strCache>
            </c:strRef>
          </c:cat>
          <c:val>
            <c:numRef>
              <c:f>'Chart Data'!$B$2:$B$4</c:f>
              <c:numCache>
                <c:formatCode>0.0</c:formatCode>
                <c:ptCount val="3"/>
                <c:pt idx="0">
                  <c:v>0</c:v>
                </c:pt>
                <c:pt idx="1">
                  <c:v>794.2753</c:v>
                </c:pt>
                <c:pt idx="2">
                  <c:v>580.6718</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ax val="1000"/>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Raw load RMSE (kW)</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Voltage RMSE</c:v>
          </c:tx>
          <c:spPr>
            <a:solidFill xmlns:a="http://schemas.openxmlformats.org/drawingml/2006/main">
              <a:srgbClr val="102C3C"/>
            </a:solidFill>
          </c:spPr>
          <c:cat>
            <c:strRef>
              <c:f>'Chart Data'!$A$2:$A$4</c:f>
              <c:strCache>
                <c:ptCount val="3"/>
                <c:pt idx="0">
                  <c:v>No noise</c:v>
                </c:pt>
                <c:pt idx="1">
                  <c:v>Gaussian DP</c:v>
                </c:pt>
                <c:pt idx="2">
                  <c:v>BNP</c:v>
                </c:pt>
              </c:strCache>
            </c:strRef>
          </c:cat>
          <c:val>
            <c:numRef>
              <c:f>'Chart Data'!$B$2:$B$4</c:f>
              <c:numCache>
                <c:formatCode>0.000</c:formatCode>
                <c:ptCount val="3"/>
                <c:pt idx="0">
                  <c:v>0</c:v>
                </c:pt>
                <c:pt idx="1">
                  <c:v>0.09653808</c:v>
                </c:pt>
                <c:pt idx="2">
                  <c:v>0.09639564</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ax val="0.13"/>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Voltage magnitude RMSE (pu)</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Paillier</c:v>
          </c:tx>
          <c:spPr>
            <a:solidFill xmlns:a="http://schemas.openxmlformats.org/drawingml/2006/main">
              <a:srgbClr val="102C3C"/>
            </a:solidFill>
          </c:spPr>
          <c:cat>
            <c:strRef>
              <c:f>'Chart Data'!$A$2:$A$4</c:f>
              <c:strCache>
                <c:ptCount val="3"/>
                <c:pt idx="0">
                  <c:v>No noise</c:v>
                </c:pt>
                <c:pt idx="1">
                  <c:v>Gaussian DP</c:v>
                </c:pt>
                <c:pt idx="2">
                  <c:v>BNP</c:v>
                </c:pt>
              </c:strCache>
            </c:strRef>
          </c:cat>
          <c:val>
            <c:numRef>
              <c:f>'Chart Data'!$B$2:$B$4</c:f>
              <c:numCache>
                <c:formatCode>0.0</c:formatCode>
                <c:ptCount val="3"/>
                <c:pt idx="0">
                  <c:v>97.87344</c:v>
                </c:pt>
                <c:pt idx="1">
                  <c:v>92.49618</c:v>
                </c:pt>
                <c:pt idx="2">
                  <c:v>95.59435</c:v>
                </c:pt>
              </c:numCache>
            </c:numRef>
          </c:val>
        </c:ser>
        <c:ser>
          <c:idx val="1"/>
          <c:order val="1"/>
          <c:tx>
            <c:v>Threshold BGV</c:v>
          </c:tx>
          <c:spPr>
            <a:solidFill xmlns:a="http://schemas.openxmlformats.org/drawingml/2006/main">
              <a:srgbClr val="137D7C"/>
            </a:solidFill>
          </c:spPr>
          <c:cat>
            <c:strRef>
              <c:f>'Chart Data'!$C$2:$C$4</c:f>
              <c:strCache>
                <c:ptCount val="3"/>
                <c:pt idx="0">
                  <c:v>No noise</c:v>
                </c:pt>
                <c:pt idx="1">
                  <c:v>Gaussian DP</c:v>
                </c:pt>
                <c:pt idx="2">
                  <c:v>BNP</c:v>
                </c:pt>
              </c:strCache>
            </c:strRef>
          </c:cat>
          <c:val>
            <c:numRef>
              <c:f>'Chart Data'!$D$2:$D$4</c:f>
              <c:numCache>
                <c:formatCode>0.0</c:formatCode>
                <c:ptCount val="3"/>
                <c:pt idx="0">
                  <c:v>21.93956</c:v>
                </c:pt>
                <c:pt idx="1">
                  <c:v>21.92119</c:v>
                </c:pt>
                <c:pt idx="2">
                  <c:v>21.68275</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Elapsed seconds</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02C3C"/>
              </a:solidFill>
              <a:latin typeface="Arial"/>
              <a:ea typeface="Arial"/>
              <a:cs typeface="Arial"/>
            </a:defRPr>
          </a:pPr>
        </a:p>
      </c:txPr>
    </c:legend>
    <c:plotVisOnly val="1"/>
  </c:chart>
  <c:spPr>
    <a:solidFill xmlns:a="http://schemas.openxmlformats.org/drawingml/2006/main">
      <a:srgbClr val="F7F8F5"/>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elapsed time</c:v>
          </c:tx>
          <c:spPr>
            <a:solidFill xmlns:a="http://schemas.openxmlformats.org/drawingml/2006/main">
              <a:srgbClr val="137D7C"/>
            </a:solidFill>
          </c:spPr>
          <c:cat>
            <c:strRef>
              <c:f>'Chart Data'!$A$2:$A$4</c:f>
              <c:strCache>
                <c:ptCount val="3"/>
                <c:pt idx="0">
                  <c:v>Paillier</c:v>
                </c:pt>
                <c:pt idx="1">
                  <c:v>BGV serial</c:v>
                </c:pt>
                <c:pt idx="2">
                  <c:v>BGV 4 workers</c:v>
                </c:pt>
              </c:strCache>
            </c:strRef>
          </c:cat>
          <c:val>
            <c:numRef>
              <c:f>'Chart Data'!$B$2:$B$4</c:f>
              <c:numCache>
                <c:formatCode>0.0</c:formatCode>
                <c:ptCount val="3"/>
                <c:pt idx="0">
                  <c:v>15.00491</c:v>
                </c:pt>
                <c:pt idx="1">
                  <c:v>0.2480838</c:v>
                </c:pt>
                <c:pt idx="2">
                  <c:v>0.1989315</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Mean elapsed seconds</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Payload size</c:v>
          </c:tx>
          <c:spPr>
            <a:solidFill xmlns:a="http://schemas.openxmlformats.org/drawingml/2006/main">
              <a:srgbClr val="137D7C"/>
            </a:solidFill>
          </c:spPr>
          <c:cat>
            <c:strRef>
              <c:f>'Chart Data'!$A$2:$A$4</c:f>
              <c:strCache>
                <c:ptCount val="3"/>
                <c:pt idx="0">
                  <c:v>Paillier integers
fixed-width estimate</c:v>
                </c:pt>
                <c:pt idx="1">
                  <c:v>BGV ciphertexts
serialized size</c:v>
                </c:pt>
                <c:pt idx="2">
                  <c:v>BGV decryption shares
serialized size</c:v>
                </c:pt>
              </c:strCache>
            </c:strRef>
          </c:cat>
          <c:val>
            <c:numRef>
              <c:f>'Chart Data'!$B$2:$B$4</c:f>
              <c:numCache>
                <c:formatCode>0.0</c:formatCode>
                <c:ptCount val="3"/>
                <c:pt idx="0">
                  <c:v>2.932617</c:v>
                </c:pt>
                <c:pt idx="1">
                  <c:v>500.8188</c:v>
                </c:pt>
                <c:pt idx="2">
                  <c:v>68.25625</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ax val="600"/>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Payload size (MiB)</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Missing-load RMSE</c:v>
          </c:tx>
          <c:spPr>
            <a:solidFill xmlns:a="http://schemas.openxmlformats.org/drawingml/2006/main">
              <a:srgbClr val="102C3C"/>
            </a:solidFill>
          </c:spPr>
          <c:cat>
            <c:strRef>
              <c:f>'Chart Data'!$A$2:$A$6</c:f>
              <c:strCache>
                <c:ptCount val="5"/>
                <c:pt idx="0">
                  <c:v>0%</c:v>
                </c:pt>
                <c:pt idx="1">
                  <c:v>20%</c:v>
                </c:pt>
                <c:pt idx="2">
                  <c:v>40%</c:v>
                </c:pt>
                <c:pt idx="3">
                  <c:v>60%</c:v>
                </c:pt>
                <c:pt idx="4">
                  <c:v>80%</c:v>
                </c:pt>
              </c:strCache>
            </c:strRef>
          </c:cat>
          <c:val>
            <c:numRef>
              <c:f>'Chart Data'!$B$2:$B$6</c:f>
              <c:numCache>
                <c:formatCode>0.0</c:formatCode>
                <c:ptCount val="5"/>
                <c:pt idx="0">
                  <c:v>0</c:v>
                </c:pt>
                <c:pt idx="1">
                  <c:v>9.574533</c:v>
                </c:pt>
                <c:pt idx="2">
                  <c:v>17.40327</c:v>
                </c:pt>
                <c:pt idx="3">
                  <c:v>24.52827</c:v>
                </c:pt>
                <c:pt idx="4">
                  <c:v>31.24647</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02C3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C"/>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8E0DD"/>
              </a:solidFill>
            </a:ln>
          </c:spPr>
        </c:majorGridlines>
        <c:title>
          <c:tx>
            <c:rich>
              <a:bodyPr xmlns:a="http://schemas.openxmlformats.org/drawingml/2006/main"/>
              <a:lstStyle xmlns:a="http://schemas.openxmlformats.org/drawingml/2006/main"/>
              <a:p xmlns:a="http://schemas.openxmlformats.org/drawingml/2006/main">
                <a:r>
                  <a:rPr sz="1575">
                    <a:solidFill>
                      <a:srgbClr val="536974"/>
                    </a:solidFill>
                    <a:latin typeface="Arial"/>
                    <a:ea typeface="Arial"/>
                    <a:cs typeface="Arial"/>
                  </a:rPr>
                  <a:t>Missing-load RMSE (kW)</a:t>
                </a:r>
              </a:p>
            </c:rich>
          </c:tx>
          <c:overlay val="0"/>
          <c:txPr>
            <a:bodyPr xmlns:a="http://schemas.openxmlformats.org/drawingml/2006/main" anchorCtr="1"/>
            <a:lstStyle xmlns:a="http://schemas.openxmlformats.org/drawingml/2006/main"/>
            <a:p xmlns:a="http://schemas.openxmlformats.org/drawingml/2006/main">
              <a:pPr>
                <a:defRPr sz="1575">
                  <a:solidFill>
                    <a:srgbClr val="536974"/>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974"/>
                </a:solidFill>
                <a:latin typeface="Arial"/>
                <a:ea typeface="Arial"/>
                <a:cs typeface="Arial"/>
              </a:defRPr>
            </a:pPr>
          </a:p>
        </c:txPr>
        <c:crossAx val="48650112"/>
        <c:crossBetween val="between"/>
      </c:valAx>
      <c:spPr>
        <a:solidFill xmlns:a="http://schemas.openxmlformats.org/drawingml/2006/main">
          <a:srgbClr val="F7F8F5"/>
        </a:solidFill>
      </c:spPr>
    </c:plotArea>
    <c:plotVisOnly val="1"/>
  </c:chart>
  <c:spPr>
    <a:solidFill xmlns:a="http://schemas.openxmlformats.org/drawingml/2006/main">
      <a:srgbClr val="F7F8F5"/>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cb8e7f599bf42d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1F3DBB-6543-46FB-A651-79211D666A4F}"/>
              </a:ext>
            </a:extLst>
          </p:cNvPr>
          <p:cNvSpPr>
            <a:spLocks xmlns:a="http://schemas.openxmlformats.org/drawingml/2006/main" noGrp="1"/>
          </p:cNvSpPr>
          <p:nvPr/>
        </p:nvSpPr>
        <p:spPr>
          <a:xfrm xmlns:a="http://schemas.openxmlformats.org/drawingml/2006/main">
            <a:off x="609600" y="1143000"/>
            <a:ext cx="6096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4275" b="1">
                <a:solidFill>
                  <a:srgbClr val="FFFFFF"/>
                </a:solidFill>
                <a:latin typeface="Arial"/>
                <a:ea typeface="Arial"/>
                <a:cs typeface="Arial"/>
              </a:defRPr>
            </a:pPr>
            <a:r>
              <a:rPr sz="4275" b="1">
                <a:solidFill>
                  <a:srgbClr val="FFFFFF"/>
                </a:solidFill>
                <a:latin typeface="Arial"/>
                <a:ea typeface="Arial"/>
                <a:cs typeface="Arial"/>
              </a:rPr>
              <a:t>Encryption + privacy</a:t>
            </a:r>
          </a:p>
          <a:p xmlns:a="http://schemas.openxmlformats.org/drawingml/2006/main">
            <a:pPr>
              <a:buNone/>
              <a:defRPr sz="4275" b="1">
                <a:solidFill>
                  <a:srgbClr val="FFFFFF"/>
                </a:solidFill>
                <a:latin typeface="Arial"/>
                <a:ea typeface="Arial"/>
                <a:cs typeface="Arial"/>
              </a:defRPr>
            </a:pPr>
            <a:r>
              <a:rPr sz="4275" b="1">
                <a:solidFill>
                  <a:srgbClr val="FFFFFF"/>
                </a:solidFill>
                <a:latin typeface="Arial"/>
                <a:ea typeface="Arial"/>
                <a:cs typeface="Arial"/>
              </a:rPr>
              <a:t>for synthetic grids</a:t>
            </a:r>
          </a:p>
        </p:txBody>
      </p:sp>
      <p:sp>
        <p:nvSpPr>
          <p:cNvPr id="3" name="">
            <a:extLst xmlns:a="http://schemas.openxmlformats.org/drawingml/2006/main">
              <a:ext uri="{FF2B5EF4-FFF2-40B4-BE49-F238E27FC236}">
                <a16:creationId xmlns:a16="http://schemas.microsoft.com/office/drawing/2014/main" id="{A64CE0D6-C6B2-4A4A-9C65-7C9063F57791}"/>
              </a:ext>
            </a:extLst>
          </p:cNvPr>
          <p:cNvSpPr>
            <a:spLocks xmlns:a="http://schemas.openxmlformats.org/drawingml/2006/main" noGrp="1"/>
          </p:cNvSpPr>
          <p:nvPr/>
        </p:nvSpPr>
        <p:spPr>
          <a:xfrm xmlns:a="http://schemas.openxmlformats.org/drawingml/2006/main">
            <a:off x="609600" y="3162300"/>
            <a:ext cx="561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0">
                <a:solidFill>
                  <a:srgbClr val="B9E1D9"/>
                </a:solidFill>
                <a:latin typeface="Arial"/>
                <a:ea typeface="Arial"/>
                <a:cs typeface="Arial"/>
              </a:defRPr>
            </a:pPr>
            <a:r>
              <a:rPr sz="2325" b="0">
                <a:solidFill>
                  <a:srgbClr val="B9E1D9"/>
                </a:solidFill>
                <a:latin typeface="Arial"/>
                <a:ea typeface="Arial"/>
                <a:cs typeface="Arial"/>
              </a:rPr>
              <a:t>How threshold encryption works</a:t>
            </a:r>
          </a:p>
          <a:p xmlns:a="http://schemas.openxmlformats.org/drawingml/2006/main">
            <a:pPr>
              <a:buNone/>
              <a:defRPr sz="2325" b="0">
                <a:solidFill>
                  <a:srgbClr val="B9E1D9"/>
                </a:solidFill>
                <a:latin typeface="Arial"/>
                <a:ea typeface="Arial"/>
                <a:cs typeface="Arial"/>
              </a:defRPr>
            </a:pPr>
            <a:r>
              <a:rPr sz="2325" b="0">
                <a:solidFill>
                  <a:srgbClr val="B9E1D9"/>
                </a:solidFill>
                <a:latin typeface="Arial"/>
                <a:ea typeface="Arial"/>
                <a:cs typeface="Arial"/>
              </a:rPr>
              <a:t>with BNP and differential privacy</a:t>
            </a:r>
          </a:p>
        </p:txBody>
      </p:sp>
      <p:sp>
        <p:nvSpPr>
          <p:cNvPr id="4" name="">
            <a:extLst xmlns:a="http://schemas.openxmlformats.org/drawingml/2006/main">
              <a:ext uri="{FF2B5EF4-FFF2-40B4-BE49-F238E27FC236}">
                <a16:creationId xmlns:a16="http://schemas.microsoft.com/office/drawing/2014/main" id="{34B87818-0545-4D8B-9B86-3D7B055032FB}"/>
              </a:ext>
            </a:extLst>
          </p:cNvPr>
          <p:cNvSpPr>
            <a:spLocks xmlns:a="http://schemas.openxmlformats.org/drawingml/2006/main" noGrp="1"/>
          </p:cNvSpPr>
          <p:nvPr/>
        </p:nvSpPr>
        <p:spPr>
          <a:xfrm xmlns:a="http://schemas.openxmlformats.org/drawingml/2006/main">
            <a:off x="609600" y="5238750"/>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2023 threshold protocol implemented</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Synthetic-grid comparison results</a:t>
            </a:r>
          </a:p>
        </p:txBody>
      </p:sp>
    </p:spTree>
    <p:extLst>
      <p:ext uri="{BB962C8B-B14F-4D97-AF65-F5344CB8AC3E}">
        <p14:creationId xmlns:p14="http://schemas.microsoft.com/office/powerpoint/2010/main" val="1610811745"/>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1AC0162-B7D1-4DA4-B4FF-C2CF3EDA0EA9}"/>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450" b="1">
                <a:solidFill>
                  <a:srgbClr val="102C3C"/>
                </a:solidFill>
                <a:latin typeface="Arial"/>
                <a:ea typeface="Arial"/>
                <a:cs typeface="Arial"/>
              </a:defRPr>
            </a:pPr>
            <a:r>
              <a:rPr sz="3450" b="1">
                <a:solidFill>
                  <a:srgbClr val="102C3C"/>
                </a:solidFill>
                <a:latin typeface="Arial"/>
                <a:ea typeface="Arial"/>
                <a:cs typeface="Arial"/>
              </a:rPr>
              <a:t>How the protections work together</a:t>
            </a:r>
          </a:p>
        </p:txBody>
      </p:sp>
      <p:sp>
        <p:nvSpPr>
          <p:cNvPr id="2" name="">
            <a:extLst xmlns:a="http://schemas.openxmlformats.org/drawingml/2006/main">
              <a:ext uri="{FF2B5EF4-FFF2-40B4-BE49-F238E27FC236}">
                <a16:creationId xmlns:a16="http://schemas.microsoft.com/office/drawing/2014/main" id="{DD8921A2-8132-4D37-B346-7D195DB360EA}"/>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536974"/>
                </a:solidFill>
                <a:latin typeface="Arial"/>
                <a:ea typeface="Arial"/>
                <a:cs typeface="Arial"/>
              </a:defRPr>
            </a:pPr>
            <a:r>
              <a:rPr sz="1950" b="0">
                <a:solidFill>
                  <a:srgbClr val="536974"/>
                </a:solidFill>
                <a:latin typeface="Arial"/>
                <a:ea typeface="Arial"/>
                <a:cs typeface="Arial"/>
              </a:rPr>
              <a:t>Encryption protects computation. Calibrated noise protects the released statistics.</a:t>
            </a:r>
          </a:p>
        </p:txBody>
      </p:sp>
      <p:sp>
        <p:nvSpPr>
          <p:cNvPr id="3" name="">
            <a:extLst xmlns:a="http://schemas.openxmlformats.org/drawingml/2006/main">
              <a:ext uri="{FF2B5EF4-FFF2-40B4-BE49-F238E27FC236}">
                <a16:creationId xmlns:a16="http://schemas.microsoft.com/office/drawing/2014/main" id="{7121F221-31A9-4EE0-8D26-B221F37DC4D6}"/>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0">
                <a:solidFill>
                  <a:srgbClr val="536974"/>
                </a:solidFill>
                <a:latin typeface="Arial"/>
                <a:ea typeface="Arial"/>
                <a:cs typeface="Arial"/>
              </a:defRPr>
            </a:pPr>
            <a:r>
              <a:rPr sz="1500" b="0">
                <a:solidFill>
                  <a:srgbClr val="536974"/>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1D076157-F0C8-4234-ABF1-4034D3743AF7}"/>
              </a:ext>
            </a:extLst>
          </p:cNvPr>
          <p:cNvSpPr>
            <a:spLocks xmlns:a="http://schemas.openxmlformats.org/drawingml/2006/main" noGrp="1"/>
          </p:cNvSpPr>
          <p:nvPr/>
        </p:nvSpPr>
        <p:spPr>
          <a:xfrm xmlns:a="http://schemas.openxmlformats.org/drawingml/2006/main">
            <a:off x="647700" y="209550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855CE7D7-6170-48F6-BC7C-82E20A66EEC3}"/>
              </a:ext>
            </a:extLst>
          </p:cNvPr>
          <p:cNvSpPr>
            <a:spLocks xmlns:a="http://schemas.openxmlformats.org/drawingml/2006/main" noGrp="1"/>
          </p:cNvSpPr>
          <p:nvPr/>
        </p:nvSpPr>
        <p:spPr>
          <a:xfrm xmlns:a="http://schemas.openxmlformats.org/drawingml/2006/main">
            <a:off x="1381125" y="209550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Meters compute statistics</a:t>
            </a:r>
          </a:p>
        </p:txBody>
      </p:sp>
      <p:sp>
        <p:nvSpPr>
          <p:cNvPr id="6" name="">
            <a:extLst xmlns:a="http://schemas.openxmlformats.org/drawingml/2006/main">
              <a:ext uri="{FF2B5EF4-FFF2-40B4-BE49-F238E27FC236}">
                <a16:creationId xmlns:a16="http://schemas.microsoft.com/office/drawing/2014/main" id="{85FB6377-93B7-4CDF-BDEE-60533F68A4D9}"/>
              </a:ext>
            </a:extLst>
          </p:cNvPr>
          <p:cNvSpPr>
            <a:spLocks xmlns:a="http://schemas.openxmlformats.org/drawingml/2006/main" noGrp="1"/>
          </p:cNvSpPr>
          <p:nvPr/>
        </p:nvSpPr>
        <p:spPr>
          <a:xfrm xmlns:a="http://schemas.openxmlformats.org/drawingml/2006/main">
            <a:off x="1381125" y="244792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The prototype simulates local meter roles on one machine.</a:t>
            </a:r>
          </a:p>
        </p:txBody>
      </p:sp>
      <p:sp>
        <p:nvSpPr>
          <p:cNvPr id="7" name="">
            <a:extLst xmlns:a="http://schemas.openxmlformats.org/drawingml/2006/main">
              <a:ext uri="{FF2B5EF4-FFF2-40B4-BE49-F238E27FC236}">
                <a16:creationId xmlns:a16="http://schemas.microsoft.com/office/drawing/2014/main" id="{52B1920B-019C-450A-9CD6-4CA2CAE0E3E0}"/>
              </a:ext>
            </a:extLst>
          </p:cNvPr>
          <p:cNvSpPr>
            <a:spLocks xmlns:a="http://schemas.openxmlformats.org/drawingml/2006/main" noGrp="1"/>
          </p:cNvSpPr>
          <p:nvPr/>
        </p:nvSpPr>
        <p:spPr>
          <a:xfrm xmlns:a="http://schemas.openxmlformats.org/drawingml/2006/main">
            <a:off x="647700" y="2809875"/>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24C9FBD7-07D9-42D2-BE82-56B5A0583E7D}"/>
              </a:ext>
            </a:extLst>
          </p:cNvPr>
          <p:cNvSpPr>
            <a:spLocks xmlns:a="http://schemas.openxmlformats.org/drawingml/2006/main" noGrp="1"/>
          </p:cNvSpPr>
          <p:nvPr/>
        </p:nvSpPr>
        <p:spPr>
          <a:xfrm xmlns:a="http://schemas.openxmlformats.org/drawingml/2006/main">
            <a:off x="1381125" y="2809875"/>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Noise enters before decryption</a:t>
            </a:r>
          </a:p>
        </p:txBody>
      </p:sp>
      <p:sp>
        <p:nvSpPr>
          <p:cNvPr id="9" name="">
            <a:extLst xmlns:a="http://schemas.openxmlformats.org/drawingml/2006/main">
              <a:ext uri="{FF2B5EF4-FFF2-40B4-BE49-F238E27FC236}">
                <a16:creationId xmlns:a16="http://schemas.microsoft.com/office/drawing/2014/main" id="{4486F55F-1E1B-47CC-87E2-D6A34D58C640}"/>
              </a:ext>
            </a:extLst>
          </p:cNvPr>
          <p:cNvSpPr>
            <a:spLocks xmlns:a="http://schemas.openxmlformats.org/drawingml/2006/main" noGrp="1"/>
          </p:cNvSpPr>
          <p:nvPr/>
        </p:nvSpPr>
        <p:spPr>
          <a:xfrm xmlns:a="http://schemas.openxmlformats.org/drawingml/2006/main">
            <a:off x="1381125" y="3162300"/>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A calibrated protocol protects the aggregate.</a:t>
            </a:r>
          </a:p>
        </p:txBody>
      </p:sp>
      <p:sp>
        <p:nvSpPr>
          <p:cNvPr id="10" name="">
            <a:extLst xmlns:a="http://schemas.openxmlformats.org/drawingml/2006/main">
              <a:ext uri="{FF2B5EF4-FFF2-40B4-BE49-F238E27FC236}">
                <a16:creationId xmlns:a16="http://schemas.microsoft.com/office/drawing/2014/main" id="{2C6DA616-11E5-473C-ABC1-C398421B6D63}"/>
              </a:ext>
            </a:extLst>
          </p:cNvPr>
          <p:cNvSpPr>
            <a:spLocks xmlns:a="http://schemas.openxmlformats.org/drawingml/2006/main" noGrp="1"/>
          </p:cNvSpPr>
          <p:nvPr/>
        </p:nvSpPr>
        <p:spPr>
          <a:xfrm xmlns:a="http://schemas.openxmlformats.org/drawingml/2006/main">
            <a:off x="647700" y="352425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4E14B151-7814-42E0-8BB0-8528914DEE50}"/>
              </a:ext>
            </a:extLst>
          </p:cNvPr>
          <p:cNvSpPr>
            <a:spLocks xmlns:a="http://schemas.openxmlformats.org/drawingml/2006/main" noGrp="1"/>
          </p:cNvSpPr>
          <p:nvPr/>
        </p:nvSpPr>
        <p:spPr>
          <a:xfrm xmlns:a="http://schemas.openxmlformats.org/drawingml/2006/main">
            <a:off x="1381125" y="352425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The server adds encrypted values</a:t>
            </a:r>
          </a:p>
        </p:txBody>
      </p:sp>
      <p:sp>
        <p:nvSpPr>
          <p:cNvPr id="12" name="">
            <a:extLst xmlns:a="http://schemas.openxmlformats.org/drawingml/2006/main">
              <a:ext uri="{FF2B5EF4-FFF2-40B4-BE49-F238E27FC236}">
                <a16:creationId xmlns:a16="http://schemas.microsoft.com/office/drawing/2014/main" id="{91F1D587-5F82-4D2E-B172-AD72C23C7AE2}"/>
              </a:ext>
            </a:extLst>
          </p:cNvPr>
          <p:cNvSpPr>
            <a:spLocks xmlns:a="http://schemas.openxmlformats.org/drawingml/2006/main" noGrp="1"/>
          </p:cNvSpPr>
          <p:nvPr/>
        </p:nvSpPr>
        <p:spPr>
          <a:xfrm xmlns:a="http://schemas.openxmlformats.org/drawingml/2006/main">
            <a:off x="1381125" y="387667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Its cryptographic interface uses the public key only.</a:t>
            </a:r>
          </a:p>
        </p:txBody>
      </p:sp>
      <p:sp>
        <p:nvSpPr>
          <p:cNvPr id="13" name="">
            <a:extLst xmlns:a="http://schemas.openxmlformats.org/drawingml/2006/main">
              <a:ext uri="{FF2B5EF4-FFF2-40B4-BE49-F238E27FC236}">
                <a16:creationId xmlns:a16="http://schemas.microsoft.com/office/drawing/2014/main" id="{F62FB3DF-A79C-4D8E-8C8C-B2D486A2F69A}"/>
              </a:ext>
            </a:extLst>
          </p:cNvPr>
          <p:cNvSpPr>
            <a:spLocks xmlns:a="http://schemas.openxmlformats.org/drawingml/2006/main" noGrp="1"/>
          </p:cNvSpPr>
          <p:nvPr/>
        </p:nvSpPr>
        <p:spPr>
          <a:xfrm xmlns:a="http://schemas.openxmlformats.org/drawingml/2006/main">
            <a:off x="647700" y="4238625"/>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D7195D30-0BE3-4489-BCEC-1D3742CF668C}"/>
              </a:ext>
            </a:extLst>
          </p:cNvPr>
          <p:cNvSpPr>
            <a:spLocks xmlns:a="http://schemas.openxmlformats.org/drawingml/2006/main" noGrp="1"/>
          </p:cNvSpPr>
          <p:nvPr/>
        </p:nvSpPr>
        <p:spPr>
          <a:xfrm xmlns:a="http://schemas.openxmlformats.org/drawingml/2006/main">
            <a:off x="1381125" y="4238625"/>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Three authorities cooperate to decrypt</a:t>
            </a:r>
          </a:p>
        </p:txBody>
      </p:sp>
      <p:sp>
        <p:nvSpPr>
          <p:cNvPr id="15" name="">
            <a:extLst xmlns:a="http://schemas.openxmlformats.org/drawingml/2006/main">
              <a:ext uri="{FF2B5EF4-FFF2-40B4-BE49-F238E27FC236}">
                <a16:creationId xmlns:a16="http://schemas.microsoft.com/office/drawing/2014/main" id="{184F5371-0554-4B77-B992-5B6FE17BCC9B}"/>
              </a:ext>
            </a:extLst>
          </p:cNvPr>
          <p:cNvSpPr>
            <a:spLocks xmlns:a="http://schemas.openxmlformats.org/drawingml/2006/main" noGrp="1"/>
          </p:cNvSpPr>
          <p:nvPr/>
        </p:nvSpPr>
        <p:spPr>
          <a:xfrm xmlns:a="http://schemas.openxmlformats.org/drawingml/2006/main">
            <a:off x="1381125" y="4591050"/>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A quorum combines partial decryptions.</a:t>
            </a:r>
          </a:p>
        </p:txBody>
      </p:sp>
      <p:sp>
        <p:nvSpPr>
          <p:cNvPr id="16" name="">
            <a:extLst xmlns:a="http://schemas.openxmlformats.org/drawingml/2006/main">
              <a:ext uri="{FF2B5EF4-FFF2-40B4-BE49-F238E27FC236}">
                <a16:creationId xmlns:a16="http://schemas.microsoft.com/office/drawing/2014/main" id="{3D880B4F-5EFE-483B-99E3-17D59FECFE36}"/>
              </a:ext>
            </a:extLst>
          </p:cNvPr>
          <p:cNvSpPr>
            <a:spLocks xmlns:a="http://schemas.openxmlformats.org/drawingml/2006/main" noGrp="1"/>
          </p:cNvSpPr>
          <p:nvPr/>
        </p:nvSpPr>
        <p:spPr>
          <a:xfrm xmlns:a="http://schemas.openxmlformats.org/drawingml/2006/main">
            <a:off x="647700" y="495300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37D7C"/>
                </a:solidFill>
                <a:latin typeface="Arial"/>
                <a:ea typeface="Arial"/>
                <a:cs typeface="Arial"/>
              </a:defRPr>
            </a:pPr>
            <a:r>
              <a:rPr sz="2700" b="1">
                <a:solidFill>
                  <a:srgbClr val="137D7C"/>
                </a:solidFill>
                <a:latin typeface="Arial"/>
                <a:ea typeface="Arial"/>
                <a:cs typeface="Arial"/>
              </a:rPr>
              <a:t>5</a:t>
            </a:r>
          </a:p>
        </p:txBody>
      </p:sp>
      <p:sp>
        <p:nvSpPr>
          <p:cNvPr id="17" name="">
            <a:extLst xmlns:a="http://schemas.openxmlformats.org/drawingml/2006/main">
              <a:ext uri="{FF2B5EF4-FFF2-40B4-BE49-F238E27FC236}">
                <a16:creationId xmlns:a16="http://schemas.microsoft.com/office/drawing/2014/main" id="{C1213023-EA0B-407E-A9B4-B1B79A9020F0}"/>
              </a:ext>
            </a:extLst>
          </p:cNvPr>
          <p:cNvSpPr>
            <a:spLocks xmlns:a="http://schemas.openxmlformats.org/drawingml/2006/main" noGrp="1"/>
          </p:cNvSpPr>
          <p:nvPr/>
        </p:nvSpPr>
        <p:spPr>
          <a:xfrm xmlns:a="http://schemas.openxmlformats.org/drawingml/2006/main">
            <a:off x="1381125" y="495300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02C3C"/>
                </a:solidFill>
                <a:latin typeface="Arial"/>
                <a:ea typeface="Arial"/>
                <a:cs typeface="Arial"/>
              </a:defRPr>
            </a:pPr>
            <a:r>
              <a:rPr sz="2175" b="1">
                <a:solidFill>
                  <a:srgbClr val="102C3C"/>
                </a:solidFill>
                <a:latin typeface="Arial"/>
                <a:ea typeface="Arial"/>
                <a:cs typeface="Arial"/>
              </a:rPr>
              <a:t>The model generates voltages</a:t>
            </a:r>
          </a:p>
        </p:txBody>
      </p:sp>
      <p:sp>
        <p:nvSpPr>
          <p:cNvPr id="18" name="">
            <a:extLst xmlns:a="http://schemas.openxmlformats.org/drawingml/2006/main">
              <a:ext uri="{FF2B5EF4-FFF2-40B4-BE49-F238E27FC236}">
                <a16:creationId xmlns:a16="http://schemas.microsoft.com/office/drawing/2014/main" id="{6BB6E66C-9972-4E48-B2EC-DDD0CFDD4298}"/>
              </a:ext>
            </a:extLst>
          </p:cNvPr>
          <p:cNvSpPr>
            <a:spLocks xmlns:a="http://schemas.openxmlformats.org/drawingml/2006/main" noGrp="1"/>
          </p:cNvSpPr>
          <p:nvPr/>
        </p:nvSpPr>
        <p:spPr>
          <a:xfrm xmlns:a="http://schemas.openxmlformats.org/drawingml/2006/main">
            <a:off x="1381125" y="530542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36974"/>
                </a:solidFill>
                <a:latin typeface="Arial"/>
                <a:ea typeface="Arial"/>
                <a:cs typeface="Arial"/>
              </a:defRPr>
            </a:pPr>
            <a:r>
              <a:rPr sz="1800" b="0">
                <a:solidFill>
                  <a:srgbClr val="536974"/>
                </a:solidFill>
                <a:latin typeface="Arial"/>
                <a:ea typeface="Arial"/>
                <a:cs typeface="Arial"/>
              </a:rPr>
              <a:t>Synthetic loads pass through AC power flow.</a:t>
            </a:r>
          </a:p>
        </p:txBody>
      </p:sp>
      <p:sp>
        <p:nvSpPr>
          <p:cNvPr id="19" name="">
            <a:extLst xmlns:a="http://schemas.openxmlformats.org/drawingml/2006/main">
              <a:ext uri="{FF2B5EF4-FFF2-40B4-BE49-F238E27FC236}">
                <a16:creationId xmlns:a16="http://schemas.microsoft.com/office/drawing/2014/main" id="{7119F9EB-63B7-46FE-8540-352A9893938C}"/>
              </a:ext>
            </a:extLst>
          </p:cNvPr>
          <p:cNvSpPr>
            <a:spLocks xmlns:a="http://schemas.openxmlformats.org/drawingml/2006/main" noGrp="1"/>
          </p:cNvSpPr>
          <p:nvPr/>
        </p:nvSpPr>
        <p:spPr>
          <a:xfrm xmlns:a="http://schemas.openxmlformats.org/drawingml/2006/main">
            <a:off x="609600" y="59531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137D7C"/>
                </a:solidFill>
                <a:latin typeface="Arial"/>
                <a:ea typeface="Arial"/>
                <a:cs typeface="Arial"/>
              </a:defRPr>
            </a:pPr>
            <a:r>
              <a:rPr sz="1800" b="1">
                <a:solidFill>
                  <a:srgbClr val="137D7C"/>
                </a:solidFill>
                <a:latin typeface="Arial"/>
                <a:ea typeface="Arial"/>
                <a:cs typeface="Arial"/>
              </a:rPr>
              <a:t>Gaussian fitting works now. BNP testing uses direct sums and a trusted noise service.</a:t>
            </a:r>
          </a:p>
        </p:txBody>
      </p:sp>
    </p:spTree>
    <p:extLst>
      <p:ext uri="{BB962C8B-B14F-4D97-AF65-F5344CB8AC3E}">
        <p14:creationId xmlns:p14="http://schemas.microsoft.com/office/powerpoint/2010/main" val="1617531365"/>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C09DCD-FACB-44E1-8BA1-F63DEC22755E}"/>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What the 2023 paper adds</a:t>
            </a:r>
          </a:p>
        </p:txBody>
      </p:sp>
      <p:sp>
        <p:nvSpPr>
          <p:cNvPr id="2" name="">
            <a:extLst xmlns:a="http://schemas.openxmlformats.org/drawingml/2006/main">
              <a:ext uri="{FF2B5EF4-FFF2-40B4-BE49-F238E27FC236}">
                <a16:creationId xmlns:a16="http://schemas.microsoft.com/office/drawing/2014/main" id="{E19C0F23-8864-48EF-8B06-0F6162B11981}"/>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Thresholdize creates secret shares. Combine prepares any committed quorum to decrypt.</a:t>
            </a:r>
          </a:p>
        </p:txBody>
      </p:sp>
      <p:sp>
        <p:nvSpPr>
          <p:cNvPr id="3" name="">
            <a:extLst xmlns:a="http://schemas.openxmlformats.org/drawingml/2006/main">
              <a:ext uri="{FF2B5EF4-FFF2-40B4-BE49-F238E27FC236}">
                <a16:creationId xmlns:a16="http://schemas.microsoft.com/office/drawing/2014/main" id="{7223808C-E843-4AC2-8D23-17FD6C3D83E1}"/>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3</a:t>
            </a:r>
          </a:p>
        </p:txBody>
      </p:sp>
      <p:graphicFrame>
        <p:nvGraphicFramePr>
          <p:cNvPr id="9" name=""/>
          <p:cNvGraphicFramePr/>
          <p:nvPr/>
        </p:nvGraphicFramePr>
        <p:xfrm>
          <a:off xmlns:a="http://schemas.openxmlformats.org/drawingml/2006/main" x="609600" y="2095500"/>
          <a:ext xmlns:a="http://schemas.openxmlformats.org/drawingml/2006/main" cx="10972800" cy="3143250"/>
        </p:xfrm>
        <a:graphic xmlns:a="http://schemas.openxmlformats.org/drawingml/2006/main">
          <a:graphicData uri="http://schemas.openxmlformats.org/drawingml/2006/table">
            <a:tbl>
              <a:tblPr/>
              <a:tblGrid>
                <a:gridCol w="3143250"/>
                <a:gridCol w="3381375"/>
                <a:gridCol w="4448175"/>
              </a:tblGrid>
              <a:tr h="628650">
                <a:tc>
                  <a:txBody>
                    <a:bodyPr/>
                    <a:lstStyle/>
                    <a:p>
                      <a:r>
                        <a:rPr sz="1800" b="1">
                          <a:solidFill>
                            <a:srgbClr val="FFFFFF"/>
                          </a:solidFill>
                          <a:latin typeface="Arial"/>
                          <a:ea typeface="Arial"/>
                          <a:cs typeface="Arial"/>
                        </a:rPr>
                        <a:t>Property</a:t>
                      </a:r>
                    </a:p>
                  </a:txBody>
                  <a:tcPr marL="91440" marR="91440" marT="45720" marB="45720">
                    <a:solidFill>
                      <a:srgbClr val="102C3C"/>
                    </a:solidFill>
                  </a:tcPr>
                </a:tc>
                <a:tc>
                  <a:txBody>
                    <a:bodyPr/>
                    <a:lstStyle/>
                    <a:p>
                      <a:r>
                        <a:rPr sz="1800" b="1">
                          <a:solidFill>
                            <a:srgbClr val="FFFFFF"/>
                          </a:solidFill>
                          <a:latin typeface="Arial"/>
                          <a:ea typeface="Arial"/>
                          <a:cs typeface="Arial"/>
                        </a:rPr>
                        <a:t>Previous Paillier</a:t>
                      </a:r>
                    </a:p>
                  </a:txBody>
                  <a:tcPr marL="91440" marR="91440" marT="45720" marB="45720">
                    <a:solidFill>
                      <a:srgbClr val="102C3C"/>
                    </a:solidFill>
                  </a:tcPr>
                </a:tc>
                <a:tc>
                  <a:txBody>
                    <a:bodyPr/>
                    <a:lstStyle/>
                    <a:p>
                      <a:r>
                        <a:rPr sz="1800" b="1">
                          <a:solidFill>
                            <a:srgbClr val="FFFFFF"/>
                          </a:solidFill>
                          <a:latin typeface="Arial"/>
                          <a:ea typeface="Arial"/>
                          <a:cs typeface="Arial"/>
                        </a:rPr>
                        <a:t>New research backend</a:t>
                      </a:r>
                    </a:p>
                  </a:txBody>
                  <a:tcPr marL="91440" marR="91440" marT="45720" marB="45720">
                    <a:solidFill>
                      <a:srgbClr val="102C3C"/>
                    </a:solidFill>
                  </a:tcPr>
                </a:tc>
              </a:tr>
              <a:tr h="628650">
                <a:tc>
                  <a:txBody>
                    <a:bodyPr/>
                    <a:lstStyle/>
                    <a:p>
                      <a:r>
                        <a:rPr sz="1800" b="0">
                          <a:solidFill>
                            <a:srgbClr val="102C3C"/>
                          </a:solidFill>
                          <a:latin typeface="Arial"/>
                          <a:ea typeface="Arial"/>
                          <a:cs typeface="Arial"/>
                        </a:rPr>
                        <a:t>Decryption authority</a:t>
                      </a:r>
                    </a:p>
                  </a:txBody>
                  <a:tcPr marL="91440" marR="91440" marT="45720" marB="45720">
                    <a:solidFill>
                      <a:srgbClr val="FFFFFF"/>
                    </a:solidFill>
                  </a:tcPr>
                </a:tc>
                <a:tc>
                  <a:txBody>
                    <a:bodyPr/>
                    <a:lstStyle/>
                    <a:p>
                      <a:r>
                        <a:rPr sz="1800" b="0">
                          <a:solidFill>
                            <a:srgbClr val="102C3C"/>
                          </a:solidFill>
                          <a:latin typeface="Arial"/>
                          <a:ea typeface="Arial"/>
                          <a:cs typeface="Arial"/>
                        </a:rPr>
                        <a:t>One complete private key</a:t>
                      </a:r>
                    </a:p>
                  </a:txBody>
                  <a:tcPr marL="91440" marR="91440" marT="45720" marB="45720">
                    <a:solidFill>
                      <a:srgbClr val="FFFFFF"/>
                    </a:solidFill>
                  </a:tcPr>
                </a:tc>
                <a:tc>
                  <a:txBody>
                    <a:bodyPr/>
                    <a:lstStyle/>
                    <a:p>
                      <a:r>
                        <a:rPr sz="1800" b="0">
                          <a:solidFill>
                            <a:srgbClr val="102C3C"/>
                          </a:solidFill>
                          <a:latin typeface="Arial"/>
                          <a:ea typeface="Arial"/>
                          <a:cs typeface="Arial"/>
                        </a:rPr>
                        <a:t>Any 3 of 5 authorities</a:t>
                      </a:r>
                    </a:p>
                  </a:txBody>
                  <a:tcPr marL="91440" marR="91440" marT="45720" marB="45720">
                    <a:solidFill>
                      <a:srgbClr val="FFFFFF"/>
                    </a:solidFill>
                  </a:tcPr>
                </a:tc>
              </a:tr>
              <a:tr h="628650">
                <a:tc>
                  <a:txBody>
                    <a:bodyPr/>
                    <a:lstStyle/>
                    <a:p>
                      <a:r>
                        <a:rPr sz="1800" b="0">
                          <a:solidFill>
                            <a:srgbClr val="102C3C"/>
                          </a:solidFill>
                          <a:latin typeface="Arial"/>
                          <a:ea typeface="Arial"/>
                          <a:cs typeface="Arial"/>
                        </a:rPr>
                        <a:t>Encrypted arithmetic</a:t>
                      </a:r>
                    </a:p>
                  </a:txBody>
                  <a:tcPr marL="91440" marR="91440" marT="45720" marB="45720">
                    <a:solidFill>
                      <a:srgbClr val="EDF3F0"/>
                    </a:solidFill>
                  </a:tcPr>
                </a:tc>
                <a:tc>
                  <a:txBody>
                    <a:bodyPr/>
                    <a:lstStyle/>
                    <a:p>
                      <a:r>
                        <a:rPr sz="1800" b="0">
                          <a:solidFill>
                            <a:srgbClr val="102C3C"/>
                          </a:solidFill>
                          <a:latin typeface="Arial"/>
                          <a:ea typeface="Arial"/>
                          <a:cs typeface="Arial"/>
                        </a:rPr>
                        <a:t>One scalar per ciphertext</a:t>
                      </a:r>
                    </a:p>
                  </a:txBody>
                  <a:tcPr marL="91440" marR="91440" marT="45720" marB="45720">
                    <a:solidFill>
                      <a:srgbClr val="EDF3F0"/>
                    </a:solidFill>
                  </a:tcPr>
                </a:tc>
                <a:tc>
                  <a:txBody>
                    <a:bodyPr/>
                    <a:lstStyle/>
                    <a:p>
                      <a:r>
                        <a:rPr sz="1800" b="0">
                          <a:solidFill>
                            <a:srgbClr val="102C3C"/>
                          </a:solidFill>
                          <a:latin typeface="Arial"/>
                          <a:ea typeface="Arial"/>
                          <a:cs typeface="Arial"/>
                        </a:rPr>
                        <a:t>Packed BGV vectors</a:t>
                      </a:r>
                    </a:p>
                  </a:txBody>
                  <a:tcPr marL="91440" marR="91440" marT="45720" marB="45720">
                    <a:solidFill>
                      <a:srgbClr val="EDF3F0"/>
                    </a:solidFill>
                  </a:tcPr>
                </a:tc>
              </a:tr>
              <a:tr h="628650">
                <a:tc>
                  <a:txBody>
                    <a:bodyPr/>
                    <a:lstStyle/>
                    <a:p>
                      <a:r>
                        <a:rPr sz="1800" b="0">
                          <a:solidFill>
                            <a:srgbClr val="102C3C"/>
                          </a:solidFill>
                          <a:latin typeface="Arial"/>
                          <a:ea typeface="Arial"/>
                          <a:cs typeface="Arial"/>
                        </a:rPr>
                        <a:t>Authority availability</a:t>
                      </a:r>
                    </a:p>
                  </a:txBody>
                  <a:tcPr marL="91440" marR="91440" marT="45720" marB="45720">
                    <a:solidFill>
                      <a:srgbClr val="FFFFFF"/>
                    </a:solidFill>
                  </a:tcPr>
                </a:tc>
                <a:tc>
                  <a:txBody>
                    <a:bodyPr/>
                    <a:lstStyle/>
                    <a:p>
                      <a:r>
                        <a:rPr sz="1800" b="0">
                          <a:solidFill>
                            <a:srgbClr val="102C3C"/>
                          </a:solidFill>
                          <a:latin typeface="Arial"/>
                          <a:ea typeface="Arial"/>
                          <a:cs typeface="Arial"/>
                        </a:rPr>
                        <a:t>Key holder must be available</a:t>
                      </a:r>
                    </a:p>
                  </a:txBody>
                  <a:tcPr marL="91440" marR="91440" marT="45720" marB="45720">
                    <a:solidFill>
                      <a:srgbClr val="FFFFFF"/>
                    </a:solidFill>
                  </a:tcPr>
                </a:tc>
                <a:tc>
                  <a:txBody>
                    <a:bodyPr/>
                    <a:lstStyle/>
                    <a:p>
                      <a:r>
                        <a:rPr sz="1800" b="0">
                          <a:solidFill>
                            <a:srgbClr val="102C3C"/>
                          </a:solidFill>
                          <a:latin typeface="Arial"/>
                          <a:ea typeface="Arial"/>
                          <a:cs typeface="Arial"/>
                        </a:rPr>
                        <a:t>Two may be absent at start</a:t>
                      </a:r>
                    </a:p>
                  </a:txBody>
                  <a:tcPr marL="91440" marR="91440" marT="45720" marB="45720">
                    <a:solidFill>
                      <a:srgbClr val="FFFFFF"/>
                    </a:solidFill>
                  </a:tcPr>
                </a:tc>
              </a:tr>
              <a:tr h="628650">
                <a:tc>
                  <a:txBody>
                    <a:bodyPr/>
                    <a:lstStyle/>
                    <a:p>
                      <a:r>
                        <a:rPr sz="1800" b="0">
                          <a:solidFill>
                            <a:srgbClr val="102C3C"/>
                          </a:solidFill>
                          <a:latin typeface="Arial"/>
                          <a:ea typeface="Arial"/>
                          <a:cs typeface="Arial"/>
                        </a:rPr>
                        <a:t>Released-output privacy</a:t>
                      </a:r>
                    </a:p>
                  </a:txBody>
                  <a:tcPr marL="91440" marR="91440" marT="45720" marB="45720">
                    <a:solidFill>
                      <a:srgbClr val="EDF3F0"/>
                    </a:solidFill>
                  </a:tcPr>
                </a:tc>
                <a:tc>
                  <a:txBody>
                    <a:bodyPr/>
                    <a:lstStyle/>
                    <a:p>
                      <a:r>
                        <a:rPr sz="1800" b="0">
                          <a:solidFill>
                            <a:srgbClr val="102C3C"/>
                          </a:solidFill>
                          <a:latin typeface="Arial"/>
                          <a:ea typeface="Arial"/>
                          <a:cs typeface="Arial"/>
                        </a:rPr>
                        <a:t>Depends on added noise</a:t>
                      </a:r>
                    </a:p>
                  </a:txBody>
                  <a:tcPr marL="91440" marR="91440" marT="45720" marB="45720">
                    <a:solidFill>
                      <a:srgbClr val="EDF3F0"/>
                    </a:solidFill>
                  </a:tcPr>
                </a:tc>
                <a:tc>
                  <a:txBody>
                    <a:bodyPr/>
                    <a:lstStyle/>
                    <a:p>
                      <a:r>
                        <a:rPr sz="1800" b="0">
                          <a:solidFill>
                            <a:srgbClr val="102C3C"/>
                          </a:solidFill>
                          <a:latin typeface="Arial"/>
                          <a:ea typeface="Arial"/>
                          <a:cs typeface="Arial"/>
                        </a:rPr>
                        <a:t>Still depends on added noise</a:t>
                      </a:r>
                    </a:p>
                  </a:txBody>
                  <a:tcPr marL="91440" marR="91440" marT="45720" marB="45720">
                    <a:solidFill>
                      <a:srgbClr val="EDF3F0"/>
                    </a:solidFill>
                  </a:tcPr>
                </a:tc>
              </a:tr>
            </a:tbl>
          </a:graphicData>
        </a:graphic>
      </p:graphicFrame>
      <p:sp>
        <p:nvSpPr>
          <p:cNvPr id="5" name="">
            <a:extLst xmlns:a="http://schemas.openxmlformats.org/drawingml/2006/main">
              <a:ext uri="{FF2B5EF4-FFF2-40B4-BE49-F238E27FC236}">
                <a16:creationId xmlns:a16="http://schemas.microsoft.com/office/drawing/2014/main" id="{73E70F98-A0AE-4C4F-ABAD-271D6C31AC66}"/>
              </a:ext>
            </a:extLst>
          </p:cNvPr>
          <p:cNvSpPr>
            <a:spLocks xmlns:a="http://schemas.openxmlformats.org/drawingml/2006/main" noGrp="1"/>
          </p:cNvSpPr>
          <p:nvPr/>
        </p:nvSpPr>
        <p:spPr>
          <a:xfrm xmlns:a="http://schemas.openxmlformats.org/drawingml/2006/main">
            <a:off x="609600" y="5600700"/>
            <a:ext cx="10620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The change is shared control and batching. The privacy budget stays separate.</a:t>
            </a:r>
          </a:p>
        </p:txBody>
      </p:sp>
    </p:spTree>
    <p:extLst>
      <p:ext uri="{BB962C8B-B14F-4D97-AF65-F5344CB8AC3E}">
        <p14:creationId xmlns:p14="http://schemas.microsoft.com/office/powerpoint/2010/main" val="1438044488"/>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DD539F-AD53-4676-9A7C-2A82932118E8}"/>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Encryption and output privacy</a:t>
            </a:r>
          </a:p>
        </p:txBody>
      </p:sp>
      <p:sp>
        <p:nvSpPr>
          <p:cNvPr id="2" name="">
            <a:extLst xmlns:a="http://schemas.openxmlformats.org/drawingml/2006/main">
              <a:ext uri="{FF2B5EF4-FFF2-40B4-BE49-F238E27FC236}">
                <a16:creationId xmlns:a16="http://schemas.microsoft.com/office/drawing/2014/main" id="{0410826A-EC3E-437C-90C7-3BFBA485C1BD}"/>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BNP can satisfy DP itself. Gaussian DP and BNP are alternative noise mechanisms here.</a:t>
            </a:r>
          </a:p>
        </p:txBody>
      </p:sp>
      <p:sp>
        <p:nvSpPr>
          <p:cNvPr id="3" name="">
            <a:extLst xmlns:a="http://schemas.openxmlformats.org/drawingml/2006/main">
              <a:ext uri="{FF2B5EF4-FFF2-40B4-BE49-F238E27FC236}">
                <a16:creationId xmlns:a16="http://schemas.microsoft.com/office/drawing/2014/main" id="{705F69DE-3744-4FAF-82D1-1AE118A5A873}"/>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4</a:t>
            </a:r>
          </a:p>
        </p:txBody>
      </p:sp>
      <p:graphicFrame>
        <p:nvGraphicFramePr>
          <p:cNvPr id="10" name=""/>
          <p:cNvGraphicFramePr/>
          <p:nvPr/>
        </p:nvGraphicFramePr>
        <p:xfrm>
          <a:off xmlns:a="http://schemas.openxmlformats.org/drawingml/2006/main" x="609600" y="2095500"/>
          <a:ext xmlns:a="http://schemas.openxmlformats.org/drawingml/2006/main" cx="10972800" cy="2905125"/>
        </p:xfrm>
        <a:graphic xmlns:a="http://schemas.openxmlformats.org/drawingml/2006/main">
          <a:graphicData uri="http://schemas.openxmlformats.org/drawingml/2006/table">
            <a:tbl>
              <a:tblPr/>
              <a:tblGrid>
                <a:gridCol w="3238500"/>
                <a:gridCol w="2524125"/>
                <a:gridCol w="2524125"/>
                <a:gridCol w="2686050"/>
              </a:tblGrid>
              <a:tr h="726281">
                <a:tc>
                  <a:txBody>
                    <a:bodyPr/>
                    <a:lstStyle/>
                    <a:p>
                      <a:r>
                        <a:rPr sz="1725" b="1">
                          <a:solidFill>
                            <a:srgbClr val="FFFFFF"/>
                          </a:solidFill>
                          <a:latin typeface="Arial"/>
                          <a:ea typeface="Arial"/>
                          <a:cs typeface="Arial"/>
                        </a:rPr>
                        <a:t>Noise mechanism</a:t>
                      </a:r>
                    </a:p>
                  </a:txBody>
                  <a:tcPr marL="91440" marR="91440" marT="45720" marB="45720">
                    <a:solidFill>
                      <a:srgbClr val="102C3C"/>
                    </a:solidFill>
                  </a:tcPr>
                </a:tc>
                <a:tc>
                  <a:txBody>
                    <a:bodyPr/>
                    <a:lstStyle/>
                    <a:p>
                      <a:r>
                        <a:rPr sz="1725" b="1">
                          <a:solidFill>
                            <a:srgbClr val="FFFFFF"/>
                          </a:solidFill>
                          <a:latin typeface="Arial"/>
                          <a:ea typeface="Arial"/>
                          <a:cs typeface="Arial"/>
                        </a:rPr>
                        <a:t>No encryption</a:t>
                      </a:r>
                    </a:p>
                  </a:txBody>
                  <a:tcPr marL="91440" marR="91440" marT="45720" marB="45720">
                    <a:solidFill>
                      <a:srgbClr val="102C3C"/>
                    </a:solidFill>
                  </a:tcPr>
                </a:tc>
                <a:tc>
                  <a:txBody>
                    <a:bodyPr/>
                    <a:lstStyle/>
                    <a:p>
                      <a:r>
                        <a:rPr sz="1725" b="1">
                          <a:solidFill>
                            <a:srgbClr val="FFFFFF"/>
                          </a:solidFill>
                          <a:latin typeface="Arial"/>
                          <a:ea typeface="Arial"/>
                          <a:cs typeface="Arial"/>
                        </a:rPr>
                        <a:t>Paillier</a:t>
                      </a:r>
                    </a:p>
                  </a:txBody>
                  <a:tcPr marL="91440" marR="91440" marT="45720" marB="45720">
                    <a:solidFill>
                      <a:srgbClr val="102C3C"/>
                    </a:solidFill>
                  </a:tcPr>
                </a:tc>
                <a:tc>
                  <a:txBody>
                    <a:bodyPr/>
                    <a:lstStyle/>
                    <a:p>
                      <a:r>
                        <a:rPr sz="1725" b="1">
                          <a:solidFill>
                            <a:srgbClr val="FFFFFF"/>
                          </a:solidFill>
                          <a:latin typeface="Arial"/>
                          <a:ea typeface="Arial"/>
                          <a:cs typeface="Arial"/>
                        </a:rPr>
                        <a:t>Threshold BGV</a:t>
                      </a:r>
                    </a:p>
                  </a:txBody>
                  <a:tcPr marL="91440" marR="91440" marT="45720" marB="45720">
                    <a:solidFill>
                      <a:srgbClr val="102C3C"/>
                    </a:solidFill>
                  </a:tcPr>
                </a:tc>
              </a:tr>
              <a:tr h="726281">
                <a:tc>
                  <a:txBody>
                    <a:bodyPr/>
                    <a:lstStyle/>
                    <a:p>
                      <a:r>
                        <a:rPr sz="1725" b="0">
                          <a:solidFill>
                            <a:srgbClr val="102C3C"/>
                          </a:solidFill>
                          <a:latin typeface="Arial"/>
                          <a:ea typeface="Arial"/>
                          <a:cs typeface="Arial"/>
                        </a:rPr>
                        <a:t>None</a:t>
                      </a:r>
                    </a:p>
                  </a:txBody>
                  <a:tcPr marL="91440" marR="91440" marT="45720" marB="45720">
                    <a:solidFill>
                      <a:srgbClr val="FFFFFF"/>
                    </a:solidFill>
                  </a:tcPr>
                </a:tc>
                <a:tc>
                  <a:txBody>
                    <a:bodyPr/>
                    <a:lstStyle/>
                    <a:p>
                      <a:r>
                        <a:rPr sz="1725" b="0">
                          <a:solidFill>
                            <a:srgbClr val="102C3C"/>
                          </a:solidFill>
                          <a:latin typeface="Arial"/>
                          <a:ea typeface="Arial"/>
                          <a:cs typeface="Arial"/>
                        </a:rPr>
                        <a:t>No output DP</a:t>
                      </a:r>
                    </a:p>
                  </a:txBody>
                  <a:tcPr marL="91440" marR="91440" marT="45720" marB="45720">
                    <a:solidFill>
                      <a:srgbClr val="FFFFFF"/>
                    </a:solidFill>
                  </a:tcPr>
                </a:tc>
                <a:tc>
                  <a:txBody>
                    <a:bodyPr/>
                    <a:lstStyle/>
                    <a:p>
                      <a:r>
                        <a:rPr sz="1725" b="0">
                          <a:solidFill>
                            <a:srgbClr val="102C3C"/>
                          </a:solidFill>
                          <a:latin typeface="Arial"/>
                          <a:ea typeface="Arial"/>
                          <a:cs typeface="Arial"/>
                        </a:rPr>
                        <a:t>No output DP</a:t>
                      </a:r>
                    </a:p>
                  </a:txBody>
                  <a:tcPr marL="91440" marR="91440" marT="45720" marB="45720">
                    <a:solidFill>
                      <a:srgbClr val="FFFFFF"/>
                    </a:solidFill>
                  </a:tcPr>
                </a:tc>
                <a:tc>
                  <a:txBody>
                    <a:bodyPr/>
                    <a:lstStyle/>
                    <a:p>
                      <a:r>
                        <a:rPr sz="1725" b="0">
                          <a:solidFill>
                            <a:srgbClr val="102C3C"/>
                          </a:solidFill>
                          <a:latin typeface="Arial"/>
                          <a:ea typeface="Arial"/>
                          <a:cs typeface="Arial"/>
                        </a:rPr>
                        <a:t>No output DP</a:t>
                      </a:r>
                    </a:p>
                  </a:txBody>
                  <a:tcPr marL="91440" marR="91440" marT="45720" marB="45720">
                    <a:solidFill>
                      <a:srgbClr val="FFFFFF"/>
                    </a:solidFill>
                  </a:tcPr>
                </a:tc>
              </a:tr>
              <a:tr h="726281">
                <a:tc>
                  <a:txBody>
                    <a:bodyPr/>
                    <a:lstStyle/>
                    <a:p>
                      <a:r>
                        <a:rPr sz="1725" b="0">
                          <a:solidFill>
                            <a:srgbClr val="102C3C"/>
                          </a:solidFill>
                          <a:latin typeface="Arial"/>
                          <a:ea typeface="Arial"/>
                          <a:cs typeface="Arial"/>
                        </a:rPr>
                        <a:t>Gaussian DP</a:t>
                      </a:r>
                    </a:p>
                  </a:txBody>
                  <a:tcPr marL="91440" marR="91440" marT="45720" marB="45720">
                    <a:solidFill>
                      <a:srgbClr val="EDF3F0"/>
                    </a:solidFill>
                  </a:tcPr>
                </a:tc>
                <a:tc>
                  <a:txBody>
                    <a:bodyPr/>
                    <a:lstStyle/>
                    <a:p>
                      <a:r>
                        <a:rPr sz="1725" b="0">
                          <a:solidFill>
                            <a:srgbClr val="102C3C"/>
                          </a:solidFill>
                          <a:latin typeface="Arial"/>
                          <a:ea typeface="Arial"/>
                          <a:cs typeface="Arial"/>
                        </a:rPr>
                        <a:t>(0, 0.01) ideal DP</a:t>
                      </a:r>
                    </a:p>
                  </a:txBody>
                  <a:tcPr marL="91440" marR="91440" marT="45720" marB="45720">
                    <a:solidFill>
                      <a:srgbClr val="EDF3F0"/>
                    </a:solidFill>
                  </a:tcPr>
                </a:tc>
                <a:tc>
                  <a:txBody>
                    <a:bodyPr/>
                    <a:lstStyle/>
                    <a:p>
                      <a:r>
                        <a:rPr sz="1725" b="0">
                          <a:solidFill>
                            <a:srgbClr val="102C3C"/>
                          </a:solidFill>
                          <a:latin typeface="Arial"/>
                          <a:ea typeface="Arial"/>
                          <a:cs typeface="Arial"/>
                        </a:rPr>
                        <a:t>Same ideal DP</a:t>
                      </a:r>
                    </a:p>
                  </a:txBody>
                  <a:tcPr marL="91440" marR="91440" marT="45720" marB="45720">
                    <a:solidFill>
                      <a:srgbClr val="EDF3F0"/>
                    </a:solidFill>
                  </a:tcPr>
                </a:tc>
                <a:tc>
                  <a:txBody>
                    <a:bodyPr/>
                    <a:lstStyle/>
                    <a:p>
                      <a:r>
                        <a:rPr sz="1725" b="0">
                          <a:solidFill>
                            <a:srgbClr val="102C3C"/>
                          </a:solidFill>
                          <a:latin typeface="Arial"/>
                          <a:ea typeface="Arial"/>
                          <a:cs typeface="Arial"/>
                        </a:rPr>
                        <a:t>Same ideal DP</a:t>
                      </a:r>
                    </a:p>
                  </a:txBody>
                  <a:tcPr marL="91440" marR="91440" marT="45720" marB="45720">
                    <a:solidFill>
                      <a:srgbClr val="EDF3F0"/>
                    </a:solidFill>
                  </a:tcPr>
                </a:tc>
              </a:tr>
              <a:tr h="726281">
                <a:tc>
                  <a:txBody>
                    <a:bodyPr/>
                    <a:lstStyle/>
                    <a:p>
                      <a:r>
                        <a:rPr sz="1725" b="0">
                          <a:solidFill>
                            <a:srgbClr val="102C3C"/>
                          </a:solidFill>
                          <a:latin typeface="Arial"/>
                          <a:ea typeface="Arial"/>
                          <a:cs typeface="Arial"/>
                        </a:rPr>
                        <a:t>BNP uniform noise</a:t>
                      </a:r>
                    </a:p>
                  </a:txBody>
                  <a:tcPr marL="91440" marR="91440" marT="45720" marB="45720">
                    <a:solidFill>
                      <a:srgbClr val="FFFFFF"/>
                    </a:solidFill>
                  </a:tcPr>
                </a:tc>
                <a:tc>
                  <a:txBody>
                    <a:bodyPr/>
                    <a:lstStyle/>
                    <a:p>
                      <a:r>
                        <a:rPr sz="1725" b="0">
                          <a:solidFill>
                            <a:srgbClr val="102C3C"/>
                          </a:solidFill>
                          <a:latin typeface="Arial"/>
                          <a:ea typeface="Arial"/>
                          <a:cs typeface="Arial"/>
                        </a:rPr>
                        <a:t>(0, 0.01) ideal DP</a:t>
                      </a:r>
                    </a:p>
                  </a:txBody>
                  <a:tcPr marL="91440" marR="91440" marT="45720" marB="45720">
                    <a:solidFill>
                      <a:srgbClr val="FFFFFF"/>
                    </a:solidFill>
                  </a:tcPr>
                </a:tc>
                <a:tc>
                  <a:txBody>
                    <a:bodyPr/>
                    <a:lstStyle/>
                    <a:p>
                      <a:r>
                        <a:rPr sz="1725" b="0">
                          <a:solidFill>
                            <a:srgbClr val="102C3C"/>
                          </a:solidFill>
                          <a:latin typeface="Arial"/>
                          <a:ea typeface="Arial"/>
                          <a:cs typeface="Arial"/>
                        </a:rPr>
                        <a:t>Same ideal DP</a:t>
                      </a:r>
                    </a:p>
                  </a:txBody>
                  <a:tcPr marL="91440" marR="91440" marT="45720" marB="45720">
                    <a:solidFill>
                      <a:srgbClr val="FFFFFF"/>
                    </a:solidFill>
                  </a:tcPr>
                </a:tc>
                <a:tc>
                  <a:txBody>
                    <a:bodyPr/>
                    <a:lstStyle/>
                    <a:p>
                      <a:r>
                        <a:rPr sz="1725" b="0">
                          <a:solidFill>
                            <a:srgbClr val="102C3C"/>
                          </a:solidFill>
                          <a:latin typeface="Arial"/>
                          <a:ea typeface="Arial"/>
                          <a:cs typeface="Arial"/>
                        </a:rPr>
                        <a:t>Same ideal DP</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FA0DE49-4606-4980-9C26-DF131EB86D15}"/>
              </a:ext>
            </a:extLst>
          </p:cNvPr>
          <p:cNvSpPr>
            <a:spLocks xmlns:a="http://schemas.openxmlformats.org/drawingml/2006/main" noGrp="1"/>
          </p:cNvSpPr>
          <p:nvPr/>
        </p:nvSpPr>
        <p:spPr>
          <a:xfrm xmlns:a="http://schemas.openxmlformats.org/drawingml/2006/main">
            <a:off x="609600" y="53244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All nine conditions compared. Encryption changes access to inputs, not ε or δ.</a:t>
            </a:r>
          </a:p>
        </p:txBody>
      </p:sp>
      <p:sp>
        <p:nvSpPr>
          <p:cNvPr id="6" name="">
            <a:extLst xmlns:a="http://schemas.openxmlformats.org/drawingml/2006/main">
              <a:ext uri="{FF2B5EF4-FFF2-40B4-BE49-F238E27FC236}">
                <a16:creationId xmlns:a16="http://schemas.microsoft.com/office/drawing/2014/main" id="{2D3A2D4E-96F5-44A4-B4EA-3D1D6557119A}"/>
              </a:ext>
            </a:extLst>
          </p:cNvPr>
          <p:cNvSpPr>
            <a:spLocks xmlns:a="http://schemas.openxmlformats.org/drawingml/2006/main" noGrp="1"/>
          </p:cNvSpPr>
          <p:nvPr/>
        </p:nvSpPr>
        <p:spPr>
          <a:xfrm xmlns:a="http://schemas.openxmlformats.org/drawingml/2006/main">
            <a:off x="609600" y="60007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974"/>
                </a:solidFill>
                <a:latin typeface="Arial"/>
                <a:ea typeface="Arial"/>
                <a:cs typeface="Arial"/>
              </a:defRPr>
            </a:pPr>
            <a:r>
              <a:rPr sz="1725" b="0">
                <a:solidFill>
                  <a:srgbClr val="536974"/>
                </a:solidFill>
                <a:latin typeface="Arial"/>
                <a:ea typeface="Arial"/>
                <a:cs typeface="Arial"/>
              </a:rPr>
              <a:t>BNP uses a trusted noise service. Finite-precision DP remains unproved.</a:t>
            </a:r>
          </a:p>
        </p:txBody>
      </p:sp>
    </p:spTree>
    <p:extLst>
      <p:ext uri="{BB962C8B-B14F-4D97-AF65-F5344CB8AC3E}">
        <p14:creationId xmlns:p14="http://schemas.microsoft.com/office/powerpoint/2010/main" val="423748200"/>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0799A1A-81EF-4B46-BFB5-411EDA8057F3}"/>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Noise cost at the same privacy budget</a:t>
            </a:r>
          </a:p>
        </p:txBody>
      </p:sp>
      <p:sp>
        <p:nvSpPr>
          <p:cNvPr id="2" name="">
            <a:extLst xmlns:a="http://schemas.openxmlformats.org/drawingml/2006/main">
              <a:ext uri="{FF2B5EF4-FFF2-40B4-BE49-F238E27FC236}">
                <a16:creationId xmlns:a16="http://schemas.microsoft.com/office/drawing/2014/main" id="{231E4A14-407D-42E1-B93C-99C33CE22EE7}"/>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One meter reading, ε = 0 and δ = 0.01. Lower raw RMSE means less distortion.</a:t>
            </a:r>
          </a:p>
        </p:txBody>
      </p:sp>
      <p:sp>
        <p:nvSpPr>
          <p:cNvPr id="3" name="">
            <a:extLst xmlns:a="http://schemas.openxmlformats.org/drawingml/2006/main">
              <a:ext uri="{FF2B5EF4-FFF2-40B4-BE49-F238E27FC236}">
                <a16:creationId xmlns:a16="http://schemas.microsoft.com/office/drawing/2014/main" id="{7E61E34A-4AE6-4F3A-AEE1-DD4EF7290617}"/>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5</a:t>
            </a:r>
          </a:p>
        </p:txBody>
      </p:sp>
      <p:graphicFrame>
        <p:nvGraphicFramePr>
          <p:cNvPr id="10" name="Chart"/>
          <p:cNvGraphicFramePr/>
          <p:nvPr/>
        </p:nvGraphicFramePr>
        <p:xfrm>
          <a:off xmlns:a="http://schemas.openxmlformats.org/drawingml/2006/main" x="609600" y="2076450"/>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eb9d51dd9d5d4e40"/>
          </a:graphicData>
        </a:graphic>
      </p:graphicFrame>
      <p:sp>
        <p:nvSpPr>
          <p:cNvPr id="5" name="">
            <a:extLst xmlns:a="http://schemas.openxmlformats.org/drawingml/2006/main">
              <a:ext uri="{FF2B5EF4-FFF2-40B4-BE49-F238E27FC236}">
                <a16:creationId xmlns:a16="http://schemas.microsoft.com/office/drawing/2014/main" id="{9098FC91-E9CF-4DD0-BD12-0E883829E34C}"/>
              </a:ext>
            </a:extLst>
          </p:cNvPr>
          <p:cNvSpPr>
            <a:spLocks xmlns:a="http://schemas.openxmlformats.org/drawingml/2006/main" noGrp="1"/>
          </p:cNvSpPr>
          <p:nvPr/>
        </p:nvSpPr>
        <p:spPr>
          <a:xfrm xmlns:a="http://schemas.openxmlformats.org/drawingml/2006/main">
            <a:off x="609600" y="56197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02C3C"/>
                </a:solidFill>
                <a:latin typeface="Arial"/>
                <a:ea typeface="Arial"/>
                <a:cs typeface="Arial"/>
              </a:defRPr>
            </a:pPr>
            <a:r>
              <a:rPr sz="1950" b="1">
                <a:solidFill>
                  <a:srgbClr val="102C3C"/>
                </a:solidFill>
                <a:latin typeface="Arial"/>
                <a:ea typeface="Arial"/>
                <a:cs typeface="Arial"/>
              </a:rPr>
              <a:t>BNP minus Gaussian: -213.6 kW. 95% CI [-222.1, -205.1].</a:t>
            </a:r>
          </a:p>
        </p:txBody>
      </p:sp>
      <p:sp>
        <p:nvSpPr>
          <p:cNvPr id="6" name="">
            <a:extLst xmlns:a="http://schemas.openxmlformats.org/drawingml/2006/main">
              <a:ext uri="{FF2B5EF4-FFF2-40B4-BE49-F238E27FC236}">
                <a16:creationId xmlns:a16="http://schemas.microsoft.com/office/drawing/2014/main" id="{C824C10E-329F-4516-95D6-2EEC50048564}"/>
              </a:ext>
            </a:extLst>
          </p:cNvPr>
          <p:cNvSpPr>
            <a:spLocks xmlns:a="http://schemas.openxmlformats.org/drawingml/2006/main" noGrp="1"/>
          </p:cNvSpPr>
          <p:nvPr/>
        </p:nvSpPr>
        <p:spPr>
          <a:xfrm xmlns:a="http://schemas.openxmlformats.org/drawingml/2006/main">
            <a:off x="609600" y="60483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974"/>
                </a:solidFill>
                <a:latin typeface="Arial"/>
                <a:ea typeface="Arial"/>
                <a:cs typeface="Arial"/>
              </a:defRPr>
            </a:pPr>
            <a:r>
              <a:rPr sz="1725" b="0">
                <a:solidFill>
                  <a:srgbClr val="536974"/>
                </a:solidFill>
                <a:latin typeface="Arial"/>
                <a:ea typeface="Arial"/>
                <a:cs typeface="Arial"/>
              </a:rPr>
              <a:t>30 noise trials. The encryption variants preserve this utility within encoding error.</a:t>
            </a:r>
          </a:p>
        </p:txBody>
      </p:sp>
    </p:spTree>
    <p:extLst>
      <p:ext uri="{BB962C8B-B14F-4D97-AF65-F5344CB8AC3E}">
        <p14:creationId xmlns:p14="http://schemas.microsoft.com/office/powerpoint/2010/main" val="365808818"/>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C1A0C03-7004-4929-BA01-8E7A8C4966AD}"/>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Voltage quality after clipping</a:t>
            </a:r>
          </a:p>
        </p:txBody>
      </p:sp>
      <p:sp>
        <p:nvSpPr>
          <p:cNvPr id="2" name="">
            <a:extLst xmlns:a="http://schemas.openxmlformats.org/drawingml/2006/main">
              <a:ext uri="{FF2B5EF4-FFF2-40B4-BE49-F238E27FC236}">
                <a16:creationId xmlns:a16="http://schemas.microsoft.com/office/drawing/2014/main" id="{823C7876-0F53-469F-81B9-997512282D0A}"/>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Noisy loads are clipped to public [0,200] kW bounds before AC power flow.</a:t>
            </a:r>
          </a:p>
        </p:txBody>
      </p:sp>
      <p:sp>
        <p:nvSpPr>
          <p:cNvPr id="3" name="">
            <a:extLst xmlns:a="http://schemas.openxmlformats.org/drawingml/2006/main">
              <a:ext uri="{FF2B5EF4-FFF2-40B4-BE49-F238E27FC236}">
                <a16:creationId xmlns:a16="http://schemas.microsoft.com/office/drawing/2014/main" id="{5C46DE9D-9521-4D5D-876C-48CC0A91172B}"/>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6</a:t>
            </a:r>
          </a:p>
        </p:txBody>
      </p:sp>
      <p:graphicFrame>
        <p:nvGraphicFramePr>
          <p:cNvPr id="10" name="Chart"/>
          <p:cNvGraphicFramePr/>
          <p:nvPr/>
        </p:nvGraphicFramePr>
        <p:xfrm>
          <a:off xmlns:a="http://schemas.openxmlformats.org/drawingml/2006/main" x="609600" y="2076450"/>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c4452283a17247bf"/>
          </a:graphicData>
        </a:graphic>
      </p:graphicFrame>
      <p:sp>
        <p:nvSpPr>
          <p:cNvPr id="5" name="">
            <a:extLst xmlns:a="http://schemas.openxmlformats.org/drawingml/2006/main">
              <a:ext uri="{FF2B5EF4-FFF2-40B4-BE49-F238E27FC236}">
                <a16:creationId xmlns:a16="http://schemas.microsoft.com/office/drawing/2014/main" id="{1D7F226A-5AA7-4181-8127-667082142A42}"/>
              </a:ext>
            </a:extLst>
          </p:cNvPr>
          <p:cNvSpPr>
            <a:spLocks xmlns:a="http://schemas.openxmlformats.org/drawingml/2006/main" noGrp="1"/>
          </p:cNvSpPr>
          <p:nvPr/>
        </p:nvSpPr>
        <p:spPr>
          <a:xfrm xmlns:a="http://schemas.openxmlformats.org/drawingml/2006/main">
            <a:off x="609600" y="55626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Clipped outputs: Gaussian 89.9%; BNP 90.3%.</a:t>
            </a:r>
          </a:p>
        </p:txBody>
      </p:sp>
      <p:sp>
        <p:nvSpPr>
          <p:cNvPr id="6" name="">
            <a:extLst xmlns:a="http://schemas.openxmlformats.org/drawingml/2006/main">
              <a:ext uri="{FF2B5EF4-FFF2-40B4-BE49-F238E27FC236}">
                <a16:creationId xmlns:a16="http://schemas.microsoft.com/office/drawing/2014/main" id="{9F7265F5-6244-4752-9731-EFEBAFCC3C94}"/>
              </a:ext>
            </a:extLst>
          </p:cNvPr>
          <p:cNvSpPr>
            <a:spLocks xmlns:a="http://schemas.openxmlformats.org/drawingml/2006/main" noGrp="1"/>
          </p:cNvSpPr>
          <p:nvPr/>
        </p:nvSpPr>
        <p:spPr>
          <a:xfrm xmlns:a="http://schemas.openxmlformats.org/drawingml/2006/main">
            <a:off x="609600" y="60007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36974"/>
                </a:solidFill>
                <a:latin typeface="Arial"/>
                <a:ea typeface="Arial"/>
                <a:cs typeface="Arial"/>
              </a:defRPr>
            </a:pPr>
            <a:r>
              <a:rPr sz="1725" b="0">
                <a:solidFill>
                  <a:srgbClr val="536974"/>
                </a:solidFill>
                <a:latin typeface="Arial"/>
                <a:ea typeface="Arial"/>
                <a:cs typeface="Arial"/>
              </a:rPr>
              <a:t>No clear voltage advantage: the paired 95% interval includes zero. Both errors are large.</a:t>
            </a:r>
          </a:p>
        </p:txBody>
      </p:sp>
    </p:spTree>
    <p:extLst>
      <p:ext uri="{BB962C8B-B14F-4D97-AF65-F5344CB8AC3E}">
        <p14:creationId xmlns:p14="http://schemas.microsoft.com/office/powerpoint/2010/main" val="1081954713"/>
      </p:ext>
    </p:extLst>
  </p:cSld>
</p:sld>
</file>

<file path=ppt/slides/slide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8BB283A-2A6A-4607-94D5-D96BD87F6A3B}"/>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Measured full-feeder encryption cost</a:t>
            </a:r>
          </a:p>
        </p:txBody>
      </p:sp>
      <p:sp>
        <p:nvSpPr>
          <p:cNvPr id="2" name="">
            <a:extLst xmlns:a="http://schemas.openxmlformats.org/drawingml/2006/main">
              <a:ext uri="{FF2B5EF4-FFF2-40B4-BE49-F238E27FC236}">
                <a16:creationId xmlns:a16="http://schemas.microsoft.com/office/drawing/2014/main" id="{6DDCD1C3-53A9-42F6-8D54-259812F3FF70}"/>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Same 91 rows and six time samples. Each condition performs real cryptography once.</a:t>
            </a:r>
          </a:p>
        </p:txBody>
      </p:sp>
      <p:sp>
        <p:nvSpPr>
          <p:cNvPr id="3" name="">
            <a:extLst xmlns:a="http://schemas.openxmlformats.org/drawingml/2006/main">
              <a:ext uri="{FF2B5EF4-FFF2-40B4-BE49-F238E27FC236}">
                <a16:creationId xmlns:a16="http://schemas.microsoft.com/office/drawing/2014/main" id="{658C7643-6748-4050-A3E0-19CE9E0FF0C7}"/>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7</a:t>
            </a:r>
          </a:p>
        </p:txBody>
      </p:sp>
      <p:graphicFrame>
        <p:nvGraphicFramePr>
          <p:cNvPr id="10" name="Chart"/>
          <p:cNvGraphicFramePr/>
          <p:nvPr/>
        </p:nvGraphicFramePr>
        <p:xfrm>
          <a:off xmlns:a="http://schemas.openxmlformats.org/drawingml/2006/main" x="609600" y="2076450"/>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026662e7c2ee4bba"/>
          </a:graphicData>
        </a:graphic>
      </p:graphicFrame>
      <p:sp>
        <p:nvSpPr>
          <p:cNvPr id="5" name="">
            <a:extLst xmlns:a="http://schemas.openxmlformats.org/drawingml/2006/main">
              <a:ext uri="{FF2B5EF4-FFF2-40B4-BE49-F238E27FC236}">
                <a16:creationId xmlns:a16="http://schemas.microsoft.com/office/drawing/2014/main" id="{03ED78C5-A2D8-46FC-B487-9D5657DD7096}"/>
              </a:ext>
            </a:extLst>
          </p:cNvPr>
          <p:cNvSpPr>
            <a:spLocks xmlns:a="http://schemas.openxmlformats.org/drawingml/2006/main" noGrp="1"/>
          </p:cNvSpPr>
          <p:nvPr/>
        </p:nvSpPr>
        <p:spPr>
          <a:xfrm xmlns:a="http://schemas.openxmlformats.org/drawingml/2006/main">
            <a:off x="609600" y="5619750"/>
            <a:ext cx="1081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02C3C"/>
                </a:solidFill>
                <a:latin typeface="Arial"/>
                <a:ea typeface="Arial"/>
                <a:cs typeface="Arial"/>
              </a:defRPr>
            </a:pPr>
            <a:r>
              <a:rPr sz="1950" b="1">
                <a:solidFill>
                  <a:srgbClr val="102C3C"/>
                </a:solidFill>
                <a:latin typeface="Arial"/>
                <a:ea typeface="Arial"/>
                <a:cs typeface="Arial"/>
              </a:rPr>
              <a:t>BGV includes fresh setup for every bus. Network transfer is not measured.</a:t>
            </a:r>
          </a:p>
        </p:txBody>
      </p:sp>
      <p:sp>
        <p:nvSpPr>
          <p:cNvPr id="6" name="">
            <a:extLst xmlns:a="http://schemas.openxmlformats.org/drawingml/2006/main">
              <a:ext uri="{FF2B5EF4-FFF2-40B4-BE49-F238E27FC236}">
                <a16:creationId xmlns:a16="http://schemas.microsoft.com/office/drawing/2014/main" id="{EF775164-7A03-4761-9BB9-E0A5F77FFD07}"/>
              </a:ext>
            </a:extLst>
          </p:cNvPr>
          <p:cNvSpPr>
            <a:spLocks xmlns:a="http://schemas.openxmlformats.org/drawingml/2006/main" noGrp="1"/>
          </p:cNvSpPr>
          <p:nvPr/>
        </p:nvSpPr>
        <p:spPr>
          <a:xfrm xmlns:a="http://schemas.openxmlformats.org/drawingml/2006/main">
            <a:off x="609600" y="60483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974"/>
                </a:solidFill>
                <a:latin typeface="Arial"/>
                <a:ea typeface="Arial"/>
                <a:cs typeface="Arial"/>
              </a:defRPr>
            </a:pPr>
            <a:r>
              <a:rPr sz="1800" b="0">
                <a:solidFill>
                  <a:srgbClr val="536974"/>
                </a:solidFill>
                <a:latin typeface="Arial"/>
                <a:ea typeface="Arial"/>
                <a:cs typeface="Arial"/>
              </a:rPr>
              <a:t>These implementations use different precision and security parameters.</a:t>
            </a:r>
          </a:p>
        </p:txBody>
      </p:sp>
    </p:spTree>
    <p:extLst>
      <p:ext uri="{BB962C8B-B14F-4D97-AF65-F5344CB8AC3E}">
        <p14:creationId xmlns:p14="http://schemas.microsoft.com/office/powerpoint/2010/main" val="819135946"/>
      </p:ext>
    </p:extLst>
  </p:cSld>
</p:sld>
</file>

<file path=ppt/slides/slide8.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0ED4C62-7FEF-4442-8B3A-03181FDDB156}"/>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Batching and parallel processing</a:t>
            </a:r>
          </a:p>
        </p:txBody>
      </p:sp>
      <p:sp>
        <p:nvSpPr>
          <p:cNvPr id="2" name="">
            <a:extLst xmlns:a="http://schemas.openxmlformats.org/drawingml/2006/main">
              <a:ext uri="{FF2B5EF4-FFF2-40B4-BE49-F238E27FC236}">
                <a16:creationId xmlns:a16="http://schemas.microsoft.com/office/drawing/2014/main" id="{BDAC34C6-7BA8-4F01-B2A7-9F6A91800BF3}"/>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Matched microbenchmark: ten meters, 96 values each, three fresh runs per backend.</a:t>
            </a:r>
          </a:p>
        </p:txBody>
      </p:sp>
      <p:sp>
        <p:nvSpPr>
          <p:cNvPr id="3" name="">
            <a:extLst xmlns:a="http://schemas.openxmlformats.org/drawingml/2006/main">
              <a:ext uri="{FF2B5EF4-FFF2-40B4-BE49-F238E27FC236}">
                <a16:creationId xmlns:a16="http://schemas.microsoft.com/office/drawing/2014/main" id="{456DBF5F-87DD-4F62-A97E-F4F29297581C}"/>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8</a:t>
            </a:r>
          </a:p>
        </p:txBody>
      </p:sp>
      <p:graphicFrame>
        <p:nvGraphicFramePr>
          <p:cNvPr id="11" name="Chart"/>
          <p:cNvGraphicFramePr/>
          <p:nvPr/>
        </p:nvGraphicFramePr>
        <p:xfrm>
          <a:off xmlns:a="http://schemas.openxmlformats.org/drawingml/2006/main" x="609600" y="2076450"/>
          <a:ext xmlns:a="http://schemas.openxmlformats.org/drawingml/2006/main" cx="7762875" cy="3333750"/>
        </p:xfrm>
        <a:graphic xmlns:a="http://schemas.openxmlformats.org/drawingml/2006/main">
          <a:graphicData uri="http://schemas.openxmlformats.org/drawingml/2006/chart">
            <c:chart xmlns:r="http://schemas.openxmlformats.org/officeDocument/2006/relationships" xmlns:c="http://schemas.openxmlformats.org/drawingml/2006/chart" r:id="R7f8b2bb0f4094ab2"/>
          </a:graphicData>
        </a:graphic>
      </p:graphicFrame>
      <p:sp>
        <p:nvSpPr>
          <p:cNvPr id="5" name="">
            <a:extLst xmlns:a="http://schemas.openxmlformats.org/drawingml/2006/main">
              <a:ext uri="{FF2B5EF4-FFF2-40B4-BE49-F238E27FC236}">
                <a16:creationId xmlns:a16="http://schemas.microsoft.com/office/drawing/2014/main" id="{E8BE48B1-2CB7-485B-ACA4-A77AD35FFD84}"/>
              </a:ext>
            </a:extLst>
          </p:cNvPr>
          <p:cNvSpPr>
            <a:spLocks xmlns:a="http://schemas.openxmlformats.org/drawingml/2006/main" noGrp="1"/>
          </p:cNvSpPr>
          <p:nvPr/>
        </p:nvSpPr>
        <p:spPr>
          <a:xfrm xmlns:a="http://schemas.openxmlformats.org/drawingml/2006/main">
            <a:off x="8763000" y="250507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37D7C"/>
                </a:solidFill>
                <a:latin typeface="Arial"/>
                <a:ea typeface="Arial"/>
                <a:cs typeface="Arial"/>
              </a:defRPr>
            </a:pPr>
            <a:r>
              <a:rPr sz="3450" b="1">
                <a:solidFill>
                  <a:srgbClr val="137D7C"/>
                </a:solidFill>
                <a:latin typeface="Arial"/>
                <a:ea typeface="Arial"/>
                <a:cs typeface="Arial"/>
              </a:rPr>
              <a:t>960 → 10</a:t>
            </a:r>
          </a:p>
        </p:txBody>
      </p:sp>
      <p:sp>
        <p:nvSpPr>
          <p:cNvPr id="6" name="">
            <a:extLst xmlns:a="http://schemas.openxmlformats.org/drawingml/2006/main">
              <a:ext uri="{FF2B5EF4-FFF2-40B4-BE49-F238E27FC236}">
                <a16:creationId xmlns:a16="http://schemas.microsoft.com/office/drawing/2014/main" id="{B0BDC25C-8F88-43BB-81A2-C93927DDACA2}"/>
              </a:ext>
            </a:extLst>
          </p:cNvPr>
          <p:cNvSpPr>
            <a:spLocks xmlns:a="http://schemas.openxmlformats.org/drawingml/2006/main" noGrp="1"/>
          </p:cNvSpPr>
          <p:nvPr/>
        </p:nvSpPr>
        <p:spPr>
          <a:xfrm xmlns:a="http://schemas.openxmlformats.org/drawingml/2006/main">
            <a:off x="8763000" y="3467100"/>
            <a:ext cx="2857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02C3C"/>
                </a:solidFill>
                <a:latin typeface="Arial"/>
                <a:ea typeface="Arial"/>
                <a:cs typeface="Arial"/>
              </a:defRPr>
            </a:pPr>
            <a:r>
              <a:rPr sz="2100" b="0">
                <a:solidFill>
                  <a:srgbClr val="102C3C"/>
                </a:solidFill>
                <a:latin typeface="Arial"/>
                <a:ea typeface="Arial"/>
                <a:cs typeface="Arial"/>
              </a:rPr>
              <a:t>ciphertexts for</a:t>
            </a:r>
          </a:p>
          <a:p xmlns:a="http://schemas.openxmlformats.org/drawingml/2006/main">
            <a:pPr>
              <a:defRPr sz="2100" b="0">
                <a:solidFill>
                  <a:srgbClr val="102C3C"/>
                </a:solidFill>
                <a:latin typeface="Arial"/>
                <a:ea typeface="Arial"/>
                <a:cs typeface="Arial"/>
              </a:defRPr>
            </a:pPr>
            <a:r>
              <a:rPr sz="2100" b="0">
                <a:solidFill>
                  <a:srgbClr val="102C3C"/>
                </a:solidFill>
                <a:latin typeface="Arial"/>
                <a:ea typeface="Arial"/>
                <a:cs typeface="Arial"/>
              </a:rPr>
              <a:t>the same input</a:t>
            </a:r>
          </a:p>
          <a:p xmlns:a="http://schemas.openxmlformats.org/drawingml/2006/main">
            <a:pPr>
              <a:defRPr sz="2100" b="0">
                <a:solidFill>
                  <a:srgbClr val="102C3C"/>
                </a:solidFill>
                <a:latin typeface="Arial"/>
                <a:ea typeface="Arial"/>
                <a:cs typeface="Arial"/>
              </a:defRPr>
            </a:pPr>
            <a:r>
              <a:rPr sz="2100" b="0">
                <a:solidFill>
                  <a:srgbClr val="102C3C"/>
                </a:solidFill>
                <a:latin typeface="Arial"/>
                <a:ea typeface="Arial"/>
                <a:cs typeface="Arial"/>
              </a:rPr>
              <a:t>vector workload</a:t>
            </a:r>
          </a:p>
        </p:txBody>
      </p:sp>
      <p:sp>
        <p:nvSpPr>
          <p:cNvPr id="7" name="">
            <a:extLst xmlns:a="http://schemas.openxmlformats.org/drawingml/2006/main">
              <a:ext uri="{FF2B5EF4-FFF2-40B4-BE49-F238E27FC236}">
                <a16:creationId xmlns:a16="http://schemas.microsoft.com/office/drawing/2014/main" id="{C265CBFE-9016-4B0A-A0C8-413A5C981FF7}"/>
              </a:ext>
            </a:extLst>
          </p:cNvPr>
          <p:cNvSpPr>
            <a:spLocks xmlns:a="http://schemas.openxmlformats.org/drawingml/2006/main" noGrp="1"/>
          </p:cNvSpPr>
          <p:nvPr/>
        </p:nvSpPr>
        <p:spPr>
          <a:xfrm xmlns:a="http://schemas.openxmlformats.org/drawingml/2006/main">
            <a:off x="609600" y="5591175"/>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02C3C"/>
                </a:solidFill>
                <a:latin typeface="Arial"/>
                <a:ea typeface="Arial"/>
                <a:cs typeface="Arial"/>
              </a:defRPr>
            </a:pPr>
            <a:r>
              <a:rPr sz="1950" b="1">
                <a:solidFill>
                  <a:srgbClr val="102C3C"/>
                </a:solidFill>
                <a:latin typeface="Arial"/>
                <a:ea typeface="Arial"/>
                <a:cs typeface="Arial"/>
              </a:rPr>
              <a:t>Packing reduces ciphertext count. Parallel speed depends on workload and overhead.</a:t>
            </a:r>
          </a:p>
        </p:txBody>
      </p:sp>
    </p:spTree>
    <p:extLst>
      <p:ext uri="{BB962C8B-B14F-4D97-AF65-F5344CB8AC3E}">
        <p14:creationId xmlns:p14="http://schemas.microsoft.com/office/powerpoint/2010/main" val="946292113"/>
      </p:ext>
    </p:extLst>
  </p:cSld>
</p:sld>
</file>

<file path=ppt/slides/slide9.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92679B-3521-43CD-8607-C85B09F70BDF}"/>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The communication tradeoff</a:t>
            </a:r>
          </a:p>
        </p:txBody>
      </p:sp>
      <p:sp>
        <p:nvSpPr>
          <p:cNvPr id="2" name="">
            <a:extLst xmlns:a="http://schemas.openxmlformats.org/drawingml/2006/main">
              <a:ext uri="{FF2B5EF4-FFF2-40B4-BE49-F238E27FC236}">
                <a16:creationId xmlns:a16="http://schemas.microsoft.com/office/drawing/2014/main" id="{9988ABDF-5114-4EEE-A14F-75954F3C29EF}"/>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Short six-value vectors leave almost all BGV slots unused. Fewer ciphertexts can still mean more bytes.</a:t>
            </a:r>
          </a:p>
        </p:txBody>
      </p:sp>
      <p:sp>
        <p:nvSpPr>
          <p:cNvPr id="3" name="">
            <a:extLst xmlns:a="http://schemas.openxmlformats.org/drawingml/2006/main">
              <a:ext uri="{FF2B5EF4-FFF2-40B4-BE49-F238E27FC236}">
                <a16:creationId xmlns:a16="http://schemas.microsoft.com/office/drawing/2014/main" id="{8E5E1F6F-D34B-4340-B85C-802BDD2F3FA7}"/>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9</a:t>
            </a:r>
          </a:p>
        </p:txBody>
      </p:sp>
      <p:graphicFrame>
        <p:nvGraphicFramePr>
          <p:cNvPr id="9" name="Chart"/>
          <p:cNvGraphicFramePr/>
          <p:nvPr/>
        </p:nvGraphicFramePr>
        <p:xfrm>
          <a:off xmlns:a="http://schemas.openxmlformats.org/drawingml/2006/main" x="609600" y="2076450"/>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78a98b77bc1c4655"/>
          </a:graphicData>
        </a:graphic>
      </p:graphicFrame>
      <p:sp>
        <p:nvSpPr>
          <p:cNvPr id="5" name="">
            <a:extLst xmlns:a="http://schemas.openxmlformats.org/drawingml/2006/main">
              <a:ext uri="{FF2B5EF4-FFF2-40B4-BE49-F238E27FC236}">
                <a16:creationId xmlns:a16="http://schemas.microsoft.com/office/drawing/2014/main" id="{0890051D-5A4C-4CC9-92DC-A05CC9B38AA9}"/>
              </a:ext>
            </a:extLst>
          </p:cNvPr>
          <p:cNvSpPr>
            <a:spLocks xmlns:a="http://schemas.openxmlformats.org/drawingml/2006/main" noGrp="1"/>
          </p:cNvSpPr>
          <p:nvPr/>
        </p:nvSpPr>
        <p:spPr>
          <a:xfrm xmlns:a="http://schemas.openxmlformats.org/drawingml/2006/main">
            <a:off x="609600" y="56197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02C3C"/>
                </a:solidFill>
                <a:latin typeface="Arial"/>
                <a:ea typeface="Arial"/>
                <a:cs typeface="Arial"/>
              </a:defRPr>
            </a:pPr>
            <a:r>
              <a:rPr sz="2025" b="1">
                <a:solidFill>
                  <a:srgbClr val="102C3C"/>
                </a:solidFill>
                <a:latin typeface="Arial"/>
                <a:ea typeface="Arial"/>
                <a:cs typeface="Arial"/>
              </a:rPr>
              <a:t>BGV needs denser packing before network deployment. Setup traffic is extra.</a:t>
            </a:r>
          </a:p>
        </p:txBody>
      </p:sp>
    </p:spTree>
    <p:extLst>
      <p:ext uri="{BB962C8B-B14F-4D97-AF65-F5344CB8AC3E}">
        <p14:creationId xmlns:p14="http://schemas.microsoft.com/office/powerpoint/2010/main" val="1670837461"/>
      </p:ext>
    </p:extLst>
  </p:cSld>
</p:sld>
</file>

<file path=ppt/slides/slide10.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1AC733D-979D-4F6F-9748-AE0E07EB8066}"/>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Authority dropout and meter dropout</a:t>
            </a:r>
          </a:p>
        </p:txBody>
      </p:sp>
      <p:sp>
        <p:nvSpPr>
          <p:cNvPr id="2" name="">
            <a:extLst xmlns:a="http://schemas.openxmlformats.org/drawingml/2006/main">
              <a:ext uri="{FF2B5EF4-FFF2-40B4-BE49-F238E27FC236}">
                <a16:creationId xmlns:a16="http://schemas.microsoft.com/office/drawing/2014/main" id="{FEA3A980-C067-4FEB-89D9-3ACAF4A41AD1}"/>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Three decryption authorities are enough. Missing customer readings still change the result.</a:t>
            </a:r>
          </a:p>
        </p:txBody>
      </p:sp>
      <p:sp>
        <p:nvSpPr>
          <p:cNvPr id="3" name="">
            <a:extLst xmlns:a="http://schemas.openxmlformats.org/drawingml/2006/main">
              <a:ext uri="{FF2B5EF4-FFF2-40B4-BE49-F238E27FC236}">
                <a16:creationId xmlns:a16="http://schemas.microsoft.com/office/drawing/2014/main" id="{8610E318-EED0-42C1-B967-BF9560B03526}"/>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10</a:t>
            </a:r>
          </a:p>
        </p:txBody>
      </p:sp>
      <p:graphicFrame>
        <p:nvGraphicFramePr>
          <p:cNvPr id="11" name="Chart"/>
          <p:cNvGraphicFramePr/>
          <p:nvPr/>
        </p:nvGraphicFramePr>
        <p:xfrm>
          <a:off xmlns:a="http://schemas.openxmlformats.org/drawingml/2006/main" x="609600" y="2076450"/>
          <a:ext xmlns:a="http://schemas.openxmlformats.org/drawingml/2006/main" cx="7620000" cy="3333750"/>
        </p:xfrm>
        <a:graphic xmlns:a="http://schemas.openxmlformats.org/drawingml/2006/main">
          <a:graphicData uri="http://schemas.openxmlformats.org/drawingml/2006/chart">
            <c:chart xmlns:r="http://schemas.openxmlformats.org/officeDocument/2006/relationships" xmlns:c="http://schemas.openxmlformats.org/drawingml/2006/chart" r:id="R85594be11bd74884"/>
          </a:graphicData>
        </a:graphic>
      </p:graphicFrame>
      <p:sp>
        <p:nvSpPr>
          <p:cNvPr id="5" name="">
            <a:extLst xmlns:a="http://schemas.openxmlformats.org/drawingml/2006/main">
              <a:ext uri="{FF2B5EF4-FFF2-40B4-BE49-F238E27FC236}">
                <a16:creationId xmlns:a16="http://schemas.microsoft.com/office/drawing/2014/main" id="{481C9007-9581-42E9-8B59-B24D9B1FD793}"/>
              </a:ext>
            </a:extLst>
          </p:cNvPr>
          <p:cNvSpPr>
            <a:spLocks xmlns:a="http://schemas.openxmlformats.org/drawingml/2006/main" noGrp="1"/>
          </p:cNvSpPr>
          <p:nvPr/>
        </p:nvSpPr>
        <p:spPr>
          <a:xfrm xmlns:a="http://schemas.openxmlformats.org/drawingml/2006/main">
            <a:off x="8705850" y="2409825"/>
            <a:ext cx="2895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75" b="1">
                <a:solidFill>
                  <a:srgbClr val="137D7C"/>
                </a:solidFill>
                <a:latin typeface="Arial"/>
                <a:ea typeface="Arial"/>
                <a:cs typeface="Arial"/>
              </a:defRPr>
            </a:pPr>
            <a:r>
              <a:rPr sz="4275" b="1">
                <a:solidFill>
                  <a:srgbClr val="137D7C"/>
                </a:solidFill>
                <a:latin typeface="Arial"/>
                <a:ea typeface="Arial"/>
                <a:cs typeface="Arial"/>
              </a:rPr>
              <a:t>3 of 5</a:t>
            </a:r>
          </a:p>
        </p:txBody>
      </p:sp>
      <p:sp>
        <p:nvSpPr>
          <p:cNvPr id="6" name="">
            <a:extLst xmlns:a="http://schemas.openxmlformats.org/drawingml/2006/main">
              <a:ext uri="{FF2B5EF4-FFF2-40B4-BE49-F238E27FC236}">
                <a16:creationId xmlns:a16="http://schemas.microsoft.com/office/drawing/2014/main" id="{CA9BAE31-2BD0-4A49-AC74-90D2116F8CCA}"/>
              </a:ext>
            </a:extLst>
          </p:cNvPr>
          <p:cNvSpPr>
            <a:spLocks xmlns:a="http://schemas.openxmlformats.org/drawingml/2006/main" noGrp="1"/>
          </p:cNvSpPr>
          <p:nvPr/>
        </p:nvSpPr>
        <p:spPr>
          <a:xfrm xmlns:a="http://schemas.openxmlformats.org/drawingml/2006/main">
            <a:off x="8705850" y="3419475"/>
            <a:ext cx="2895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All 10 valid</a:t>
            </a:r>
          </a:p>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quorums tested</a:t>
            </a:r>
          </a:p>
          <a:p xmlns:a="http://schemas.openxmlformats.org/drawingml/2006/main">
            <a:pPr>
              <a:defRPr sz="2025" b="0">
                <a:solidFill>
                  <a:srgbClr val="102C3C"/>
                </a:solidFill>
                <a:latin typeface="Arial"/>
                <a:ea typeface="Arial"/>
                <a:cs typeface="Arial"/>
              </a:defRPr>
            </a:pPr>
            <a:r>
              <a:rPr sz="2025" b="0">
                <a:solidFill>
                  <a:srgbClr val="102C3C"/>
                </a:solidFill>
                <a:latin typeface="Arial"/>
                <a:ea typeface="Arial"/>
                <a:cs typeface="Arial"/>
              </a:rPr>
              <a:t>on fresh releases</a:t>
            </a:r>
          </a:p>
        </p:txBody>
      </p:sp>
      <p:sp>
        <p:nvSpPr>
          <p:cNvPr id="7" name="">
            <a:extLst xmlns:a="http://schemas.openxmlformats.org/drawingml/2006/main">
              <a:ext uri="{FF2B5EF4-FFF2-40B4-BE49-F238E27FC236}">
                <a16:creationId xmlns:a16="http://schemas.microsoft.com/office/drawing/2014/main" id="{1D75311B-51F3-4EBA-B115-1C9D25C5A116}"/>
              </a:ext>
            </a:extLst>
          </p:cNvPr>
          <p:cNvSpPr>
            <a:spLocks xmlns:a="http://schemas.openxmlformats.org/drawingml/2006/main" noGrp="1"/>
          </p:cNvSpPr>
          <p:nvPr/>
        </p:nvSpPr>
        <p:spPr>
          <a:xfrm xmlns:a="http://schemas.openxmlformats.org/drawingml/2006/main">
            <a:off x="609600" y="5572125"/>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02C3C"/>
                </a:solidFill>
                <a:latin typeface="Arial"/>
                <a:ea typeface="Arial"/>
                <a:cs typeface="Arial"/>
              </a:defRPr>
            </a:pPr>
            <a:r>
              <a:rPr sz="1950" b="1">
                <a:solidFill>
                  <a:srgbClr val="102C3C"/>
                </a:solidFill>
                <a:latin typeface="Arial"/>
                <a:ea typeface="Arial"/>
                <a:cs typeface="Arial"/>
              </a:rPr>
              <a:t>At 50% meter loss, unadjusted Gaussian δ rises from 0.0100 to 0.0141.</a:t>
            </a:r>
          </a:p>
        </p:txBody>
      </p:sp>
    </p:spTree>
    <p:extLst>
      <p:ext uri="{BB962C8B-B14F-4D97-AF65-F5344CB8AC3E}">
        <p14:creationId xmlns:p14="http://schemas.microsoft.com/office/powerpoint/2010/main" val="448754306"/>
      </p:ext>
    </p:extLst>
  </p:cSld>
</p:sld>
</file>

<file path=ppt/slides/slide1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A402AB3-CA16-4085-8050-EF84CDD77639}"/>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The existing model fitter now uses BGV</a:t>
            </a:r>
          </a:p>
        </p:txBody>
      </p:sp>
      <p:sp>
        <p:nvSpPr>
          <p:cNvPr id="2" name="">
            <a:extLst xmlns:a="http://schemas.openxmlformats.org/drawingml/2006/main">
              <a:ext uri="{FF2B5EF4-FFF2-40B4-BE49-F238E27FC236}">
                <a16:creationId xmlns:a16="http://schemas.microsoft.com/office/drawing/2014/main" id="{1EEA745C-AF18-4AD6-BE96-40960C76F928}"/>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The new backend runs both encrypted releases: class means and clipped covariance entries.</a:t>
            </a:r>
          </a:p>
        </p:txBody>
      </p:sp>
      <p:sp>
        <p:nvSpPr>
          <p:cNvPr id="3" name="">
            <a:extLst xmlns:a="http://schemas.openxmlformats.org/drawingml/2006/main">
              <a:ext uri="{FF2B5EF4-FFF2-40B4-BE49-F238E27FC236}">
                <a16:creationId xmlns:a16="http://schemas.microsoft.com/office/drawing/2014/main" id="{D0ECA88E-2894-454D-851F-CC0EF4E30692}"/>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37F77932-F606-40D5-A45D-146A6DCE1255}"/>
              </a:ext>
            </a:extLst>
          </p:cNvPr>
          <p:cNvSpPr>
            <a:spLocks xmlns:a="http://schemas.openxmlformats.org/drawingml/2006/main" noGrp="1"/>
          </p:cNvSpPr>
          <p:nvPr/>
        </p:nvSpPr>
        <p:spPr>
          <a:xfrm xmlns:a="http://schemas.openxmlformats.org/drawingml/2006/main">
            <a:off x="609600" y="2343150"/>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700" b="1">
                <a:solidFill>
                  <a:srgbClr val="137D7C"/>
                </a:solidFill>
                <a:latin typeface="Arial"/>
                <a:ea typeface="Arial"/>
                <a:cs typeface="Arial"/>
              </a:defRPr>
            </a:pPr>
            <a:r>
              <a:rPr sz="5700" b="1">
                <a:solidFill>
                  <a:srgbClr val="137D7C"/>
                </a:solidFill>
                <a:latin typeface="Arial"/>
                <a:ea typeface="Arial"/>
                <a:cs typeface="Arial"/>
              </a:rPr>
              <a:t>16.04 s</a:t>
            </a:r>
          </a:p>
        </p:txBody>
      </p:sp>
      <p:sp>
        <p:nvSpPr>
          <p:cNvPr id="5" name="">
            <a:extLst xmlns:a="http://schemas.openxmlformats.org/drawingml/2006/main">
              <a:ext uri="{FF2B5EF4-FFF2-40B4-BE49-F238E27FC236}">
                <a16:creationId xmlns:a16="http://schemas.microsoft.com/office/drawing/2014/main" id="{AB92F777-6772-478A-BE52-F7210011E52A}"/>
              </a:ext>
            </a:extLst>
          </p:cNvPr>
          <p:cNvSpPr>
            <a:spLocks xmlns:a="http://schemas.openxmlformats.org/drawingml/2006/main" noGrp="1"/>
          </p:cNvSpPr>
          <p:nvPr/>
        </p:nvSpPr>
        <p:spPr>
          <a:xfrm xmlns:a="http://schemas.openxmlformats.org/drawingml/2006/main">
            <a:off x="609600" y="3543300"/>
            <a:ext cx="4714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102C3C"/>
                </a:solidFill>
                <a:latin typeface="Arial"/>
                <a:ea typeface="Arial"/>
                <a:cs typeface="Arial"/>
              </a:defRPr>
            </a:pPr>
            <a:r>
              <a:rPr sz="2400" b="1">
                <a:solidFill>
                  <a:srgbClr val="102C3C"/>
                </a:solidFill>
                <a:latin typeface="Arial"/>
                <a:ea typeface="Arial"/>
                <a:cs typeface="Arial"/>
              </a:rPr>
              <a:t>Measured full-feeder</a:t>
            </a:r>
          </a:p>
          <a:p xmlns:a="http://schemas.openxmlformats.org/drawingml/2006/main">
            <a:pPr>
              <a:defRPr sz="2400" b="1">
                <a:solidFill>
                  <a:srgbClr val="102C3C"/>
                </a:solidFill>
                <a:latin typeface="Arial"/>
                <a:ea typeface="Arial"/>
                <a:cs typeface="Arial"/>
              </a:defRPr>
            </a:pPr>
            <a:r>
              <a:rPr sz="2400" b="1">
                <a:solidFill>
                  <a:srgbClr val="102C3C"/>
                </a:solidFill>
                <a:latin typeface="Arial"/>
                <a:ea typeface="Arial"/>
                <a:cs typeface="Arial"/>
              </a:rPr>
              <a:t>Gaussian model fit</a:t>
            </a:r>
          </a:p>
        </p:txBody>
      </p:sp>
      <p:sp>
        <p:nvSpPr>
          <p:cNvPr id="6" name="">
            <a:extLst xmlns:a="http://schemas.openxmlformats.org/drawingml/2006/main">
              <a:ext uri="{FF2B5EF4-FFF2-40B4-BE49-F238E27FC236}">
                <a16:creationId xmlns:a16="http://schemas.microsoft.com/office/drawing/2014/main" id="{EBF55DB7-2DA0-461B-BAE8-1AB5B7AE0F0F}"/>
              </a:ext>
            </a:extLst>
          </p:cNvPr>
          <p:cNvSpPr>
            <a:spLocks xmlns:a="http://schemas.openxmlformats.org/drawingml/2006/main" noGrp="1"/>
          </p:cNvSpPr>
          <p:nvPr/>
        </p:nvSpPr>
        <p:spPr>
          <a:xfrm xmlns:a="http://schemas.openxmlformats.org/drawingml/2006/main">
            <a:off x="5905500" y="2362200"/>
            <a:ext cx="5619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91 load rows, 910 simulated meters</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45 days, four time samples</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Three classes, six encrypted rounds</a:t>
            </a:r>
          </a:p>
        </p:txBody>
      </p:sp>
      <p:sp>
        <p:nvSpPr>
          <p:cNvPr id="7" name="">
            <a:extLst xmlns:a="http://schemas.openxmlformats.org/drawingml/2006/main">
              <a:ext uri="{FF2B5EF4-FFF2-40B4-BE49-F238E27FC236}">
                <a16:creationId xmlns:a16="http://schemas.microsoft.com/office/drawing/2014/main" id="{33F07356-DA47-4C66-93FE-23D54CB704B8}"/>
              </a:ext>
            </a:extLst>
          </p:cNvPr>
          <p:cNvSpPr>
            <a:spLocks xmlns:a="http://schemas.openxmlformats.org/drawingml/2006/main" noGrp="1"/>
          </p:cNvSpPr>
          <p:nvPr/>
        </p:nvSpPr>
        <p:spPr>
          <a:xfrm xmlns:a="http://schemas.openxmlformats.org/drawingml/2006/main">
            <a:off x="5905500" y="4305300"/>
            <a:ext cx="5619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Mean difference: 8.45e-6</a:t>
            </a:r>
          </a:p>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Covariance difference: 9.14e-6</a:t>
            </a:r>
          </a:p>
        </p:txBody>
      </p:sp>
      <p:sp>
        <p:nvSpPr>
          <p:cNvPr id="8" name="">
            <a:extLst xmlns:a="http://schemas.openxmlformats.org/drawingml/2006/main">
              <a:ext uri="{FF2B5EF4-FFF2-40B4-BE49-F238E27FC236}">
                <a16:creationId xmlns:a16="http://schemas.microsoft.com/office/drawing/2014/main" id="{3A763C42-24AD-4901-B394-1D48CDD9B698}"/>
              </a:ext>
            </a:extLst>
          </p:cNvPr>
          <p:cNvSpPr>
            <a:spLocks xmlns:a="http://schemas.openxmlformats.org/drawingml/2006/main" noGrp="1"/>
          </p:cNvSpPr>
          <p:nvPr/>
        </p:nvSpPr>
        <p:spPr>
          <a:xfrm xmlns:a="http://schemas.openxmlformats.org/drawingml/2006/main">
            <a:off x="609600" y="55911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Differences compare with the same noise in plaintext. BNP model fitting is still future work.</a:t>
            </a:r>
          </a:p>
        </p:txBody>
      </p:sp>
    </p:spTree>
    <p:extLst>
      <p:ext uri="{BB962C8B-B14F-4D97-AF65-F5344CB8AC3E}">
        <p14:creationId xmlns:p14="http://schemas.microsoft.com/office/powerpoint/2010/main" val="422607808"/>
      </p:ext>
    </p:extLst>
  </p:cSld>
</p:sld>
</file>

<file path=ppt/slides/slide1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2AB561-1F1E-4EB2-8DBD-D9129AEE9D7F}"/>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Privacy guidance and remaining limits</a:t>
            </a:r>
          </a:p>
        </p:txBody>
      </p:sp>
      <p:sp>
        <p:nvSpPr>
          <p:cNvPr id="2" name="">
            <a:extLst xmlns:a="http://schemas.openxmlformats.org/drawingml/2006/main">
              <a:ext uri="{FF2B5EF4-FFF2-40B4-BE49-F238E27FC236}">
                <a16:creationId xmlns:a16="http://schemas.microsoft.com/office/drawing/2014/main" id="{E617C957-7B7F-429A-8351-FFC968B8D0CE}"/>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NIST SP 800-226 guides the evaluation. It does not certify this prototype.</a:t>
            </a:r>
          </a:p>
        </p:txBody>
      </p:sp>
      <p:sp>
        <p:nvSpPr>
          <p:cNvPr id="3" name="">
            <a:extLst xmlns:a="http://schemas.openxmlformats.org/drawingml/2006/main">
              <a:ext uri="{FF2B5EF4-FFF2-40B4-BE49-F238E27FC236}">
                <a16:creationId xmlns:a16="http://schemas.microsoft.com/office/drawing/2014/main" id="{E7872CC0-4621-42FC-924B-5993F6C3EB54}"/>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12</a:t>
            </a:r>
          </a:p>
        </p:txBody>
      </p:sp>
      <p:graphicFrame>
        <p:nvGraphicFramePr>
          <p:cNvPr id="9" name=""/>
          <p:cNvGraphicFramePr/>
          <p:nvPr/>
        </p:nvGraphicFramePr>
        <p:xfrm>
          <a:off xmlns:a="http://schemas.openxmlformats.org/drawingml/2006/main" x="609600" y="2095500"/>
          <a:ext xmlns:a="http://schemas.openxmlformats.org/drawingml/2006/main" cx="10972800" cy="3371850"/>
        </p:xfrm>
        <a:graphic xmlns:a="http://schemas.openxmlformats.org/drawingml/2006/main">
          <a:graphicData uri="http://schemas.openxmlformats.org/drawingml/2006/table">
            <a:tbl>
              <a:tblPr/>
              <a:tblGrid>
                <a:gridCol w="3238500"/>
                <a:gridCol w="7734300"/>
              </a:tblGrid>
              <a:tr h="561975">
                <a:tc>
                  <a:txBody>
                    <a:bodyPr/>
                    <a:lstStyle/>
                    <a:p>
                      <a:r>
                        <a:rPr sz="1725" b="1">
                          <a:solidFill>
                            <a:srgbClr val="FFFFFF"/>
                          </a:solidFill>
                          <a:latin typeface="Arial"/>
                          <a:ea typeface="Arial"/>
                          <a:cs typeface="Arial"/>
                        </a:rPr>
                        <a:t>Requirement</a:t>
                      </a:r>
                    </a:p>
                  </a:txBody>
                  <a:tcPr marL="91440" marR="91440" marT="45720" marB="45720">
                    <a:solidFill>
                      <a:srgbClr val="102C3C"/>
                    </a:solidFill>
                  </a:tcPr>
                </a:tc>
                <a:tc>
                  <a:txBody>
                    <a:bodyPr/>
                    <a:lstStyle/>
                    <a:p>
                      <a:r>
                        <a:rPr sz="1725" b="1">
                          <a:solidFill>
                            <a:srgbClr val="FFFFFF"/>
                          </a:solidFill>
                          <a:latin typeface="Arial"/>
                          <a:ea typeface="Arial"/>
                          <a:cs typeface="Arial"/>
                        </a:rPr>
                        <a:t>Current evidence or limit</a:t>
                      </a:r>
                    </a:p>
                  </a:txBody>
                  <a:tcPr marL="91440" marR="91440" marT="45720" marB="45720">
                    <a:solidFill>
                      <a:srgbClr val="102C3C"/>
                    </a:solidFill>
                  </a:tcPr>
                </a:tc>
              </a:tr>
              <a:tr h="561975">
                <a:tc>
                  <a:txBody>
                    <a:bodyPr/>
                    <a:lstStyle/>
                    <a:p>
                      <a:r>
                        <a:rPr sz="1725" b="0">
                          <a:solidFill>
                            <a:srgbClr val="102C3C"/>
                          </a:solidFill>
                          <a:latin typeface="Arial"/>
                          <a:ea typeface="Arial"/>
                          <a:cs typeface="Arial"/>
                        </a:rPr>
                        <a:t>Privacy unit and budget</a:t>
                      </a:r>
                    </a:p>
                  </a:txBody>
                  <a:tcPr marL="91440" marR="91440" marT="45720" marB="45720">
                    <a:solidFill>
                      <a:srgbClr val="FFFFFF"/>
                    </a:solidFill>
                  </a:tcPr>
                </a:tc>
                <a:tc>
                  <a:txBody>
                    <a:bodyPr/>
                    <a:lstStyle/>
                    <a:p>
                      <a:r>
                        <a:rPr sz="1725" b="0">
                          <a:solidFill>
                            <a:srgbClr val="102C3C"/>
                          </a:solidFill>
                          <a:latin typeface="Arial"/>
                          <a:ea typeface="Arial"/>
                          <a:cs typeface="Arial"/>
                        </a:rPr>
                        <a:t>One reading per meter; ε = 0, δ = 0.01 in the comparison</a:t>
                      </a:r>
                    </a:p>
                  </a:txBody>
                  <a:tcPr marL="91440" marR="91440" marT="45720" marB="45720">
                    <a:solidFill>
                      <a:srgbClr val="FFFFFF"/>
                    </a:solidFill>
                  </a:tcPr>
                </a:tc>
              </a:tr>
              <a:tr h="561975">
                <a:tc>
                  <a:txBody>
                    <a:bodyPr/>
                    <a:lstStyle/>
                    <a:p>
                      <a:r>
                        <a:rPr sz="1725" b="0">
                          <a:solidFill>
                            <a:srgbClr val="102C3C"/>
                          </a:solidFill>
                          <a:latin typeface="Arial"/>
                          <a:ea typeface="Arial"/>
                          <a:cs typeface="Arial"/>
                        </a:rPr>
                        <a:t>Noise and trust</a:t>
                      </a:r>
                    </a:p>
                  </a:txBody>
                  <a:tcPr marL="91440" marR="91440" marT="45720" marB="45720">
                    <a:solidFill>
                      <a:srgbClr val="EDF3F0"/>
                    </a:solidFill>
                  </a:tcPr>
                </a:tc>
                <a:tc>
                  <a:txBody>
                    <a:bodyPr/>
                    <a:lstStyle/>
                    <a:p>
                      <a:r>
                        <a:rPr sz="1725" b="0">
                          <a:solidFill>
                            <a:srgbClr val="102C3C"/>
                          </a:solidFill>
                          <a:latin typeface="Arial"/>
                          <a:ea typeface="Arial"/>
                          <a:cs typeface="Arial"/>
                        </a:rPr>
                        <a:t>Honest Gaussian contributors; trusted BNP noise service</a:t>
                      </a:r>
                    </a:p>
                  </a:txBody>
                  <a:tcPr marL="91440" marR="91440" marT="45720" marB="45720">
                    <a:solidFill>
                      <a:srgbClr val="EDF3F0"/>
                    </a:solidFill>
                  </a:tcPr>
                </a:tc>
              </a:tr>
              <a:tr h="561975">
                <a:tc>
                  <a:txBody>
                    <a:bodyPr/>
                    <a:lstStyle/>
                    <a:p>
                      <a:r>
                        <a:rPr sz="1725" b="0">
                          <a:solidFill>
                            <a:srgbClr val="102C3C"/>
                          </a:solidFill>
                          <a:latin typeface="Arial"/>
                          <a:ea typeface="Arial"/>
                          <a:cs typeface="Arial"/>
                        </a:rPr>
                        <a:t>Repeated releases</a:t>
                      </a:r>
                    </a:p>
                  </a:txBody>
                  <a:tcPr marL="91440" marR="91440" marT="45720" marB="45720">
                    <a:solidFill>
                      <a:srgbClr val="FFFFFF"/>
                    </a:solidFill>
                  </a:tcPr>
                </a:tc>
                <a:tc>
                  <a:txBody>
                    <a:bodyPr/>
                    <a:lstStyle/>
                    <a:p>
                      <a:r>
                        <a:rPr sz="1725" b="0">
                          <a:solidFill>
                            <a:srgbClr val="102C3C"/>
                          </a:solidFill>
                          <a:latin typeface="Arial"/>
                          <a:ea typeface="Arial"/>
                          <a:cs typeface="Arial"/>
                        </a:rPr>
                        <a:t>Offline trials only; a deployment needs composition accounting</a:t>
                      </a:r>
                    </a:p>
                  </a:txBody>
                  <a:tcPr marL="91440" marR="91440" marT="45720" marB="45720">
                    <a:solidFill>
                      <a:srgbClr val="FFFFFF"/>
                    </a:solidFill>
                  </a:tcPr>
                </a:tc>
              </a:tr>
              <a:tr h="561975">
                <a:tc>
                  <a:txBody>
                    <a:bodyPr/>
                    <a:lstStyle/>
                    <a:p>
                      <a:r>
                        <a:rPr sz="1725" b="0">
                          <a:solidFill>
                            <a:srgbClr val="102C3C"/>
                          </a:solidFill>
                          <a:latin typeface="Arial"/>
                          <a:ea typeface="Arial"/>
                          <a:cs typeface="Arial"/>
                        </a:rPr>
                        <a:t>Cryptographic security</a:t>
                      </a:r>
                    </a:p>
                  </a:txBody>
                  <a:tcPr marL="91440" marR="91440" marT="45720" marB="45720">
                    <a:solidFill>
                      <a:srgbClr val="EDF3F0"/>
                    </a:solidFill>
                  </a:tcPr>
                </a:tc>
                <a:tc>
                  <a:txBody>
                    <a:bodyPr/>
                    <a:lstStyle/>
                    <a:p>
                      <a:r>
                        <a:rPr sz="1725" b="0">
                          <a:solidFill>
                            <a:srgbClr val="102C3C"/>
                          </a:solidFill>
                          <a:latin typeface="Arial"/>
                          <a:ea typeface="Arial"/>
                          <a:cs typeface="Arial"/>
                        </a:rPr>
                        <a:t>Real BGV operations; colocated roles and unaudited flooding</a:t>
                      </a:r>
                    </a:p>
                  </a:txBody>
                  <a:tcPr marL="91440" marR="91440" marT="45720" marB="45720">
                    <a:solidFill>
                      <a:srgbClr val="EDF3F0"/>
                    </a:solidFill>
                  </a:tcPr>
                </a:tc>
              </a:tr>
              <a:tr h="561975">
                <a:tc>
                  <a:txBody>
                    <a:bodyPr/>
                    <a:lstStyle/>
                    <a:p>
                      <a:r>
                        <a:rPr sz="1725" b="0">
                          <a:solidFill>
                            <a:srgbClr val="102C3C"/>
                          </a:solidFill>
                          <a:latin typeface="Arial"/>
                          <a:ea typeface="Arial"/>
                          <a:cs typeface="Arial"/>
                        </a:rPr>
                        <a:t>Finite precision</a:t>
                      </a:r>
                    </a:p>
                  </a:txBody>
                  <a:tcPr marL="91440" marR="91440" marT="45720" marB="45720">
                    <a:solidFill>
                      <a:srgbClr val="FFFFFF"/>
                    </a:solidFill>
                  </a:tcPr>
                </a:tc>
                <a:tc>
                  <a:txBody>
                    <a:bodyPr/>
                    <a:lstStyle/>
                    <a:p>
                      <a:r>
                        <a:rPr sz="1725" b="0">
                          <a:solidFill>
                            <a:srgbClr val="102C3C"/>
                          </a:solidFill>
                          <a:latin typeface="Arial"/>
                          <a:ea typeface="Arial"/>
                          <a:cs typeface="Arial"/>
                        </a:rPr>
                        <a:t>Encoding error tested; implemented DP proof still required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DDADB86-77E9-4604-8B6D-B61E1D944985}"/>
              </a:ext>
            </a:extLst>
          </p:cNvPr>
          <p:cNvSpPr>
            <a:spLocks xmlns:a="http://schemas.openxmlformats.org/drawingml/2006/main" noGrp="1"/>
          </p:cNvSpPr>
          <p:nvPr/>
        </p:nvSpPr>
        <p:spPr>
          <a:xfrm xmlns:a="http://schemas.openxmlformats.org/drawingml/2006/main">
            <a:off x="609600" y="5743575"/>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137D7C"/>
                </a:solidFill>
                <a:latin typeface="Arial"/>
                <a:ea typeface="Arial"/>
                <a:cs typeface="Arial"/>
              </a:defRPr>
            </a:pPr>
            <a:r>
              <a:rPr sz="1875" b="1">
                <a:solidFill>
                  <a:srgbClr val="137D7C"/>
                </a:solidFill>
                <a:latin typeface="Arial"/>
                <a:ea typeface="Arial"/>
                <a:cs typeface="Arial"/>
              </a:rPr>
              <a:t>No claim of NIST compliance, certified 128-bit security or full-customer privacy.</a:t>
            </a:r>
          </a:p>
        </p:txBody>
      </p:sp>
    </p:spTree>
    <p:extLst>
      <p:ext uri="{BB962C8B-B14F-4D97-AF65-F5344CB8AC3E}">
        <p14:creationId xmlns:p14="http://schemas.microsoft.com/office/powerpoint/2010/main" val="50546689"/>
      </p:ext>
    </p:extLst>
  </p:cSld>
</p:sld>
</file>

<file path=ppt/slides/slide1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5F7A58E-0BAF-4290-AEB2-88ECFDB21363}"/>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02C3C"/>
                </a:solidFill>
                <a:latin typeface="Arial"/>
                <a:ea typeface="Arial"/>
                <a:cs typeface="Arial"/>
              </a:defRPr>
            </a:pPr>
            <a:r>
              <a:rPr sz="3300" b="1">
                <a:solidFill>
                  <a:srgbClr val="102C3C"/>
                </a:solidFill>
                <a:latin typeface="Arial"/>
                <a:ea typeface="Arial"/>
                <a:cs typeface="Arial"/>
              </a:rPr>
              <a:t>What this contributes to your research</a:t>
            </a:r>
          </a:p>
        </p:txBody>
      </p:sp>
      <p:sp>
        <p:nvSpPr>
          <p:cNvPr id="2" name="">
            <a:extLst xmlns:a="http://schemas.openxmlformats.org/drawingml/2006/main">
              <a:ext uri="{FF2B5EF4-FFF2-40B4-BE49-F238E27FC236}">
                <a16:creationId xmlns:a16="http://schemas.microsoft.com/office/drawing/2014/main" id="{E04930B7-6261-4A75-9999-916BD9828814}"/>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A working threshold-encryption extension with measured costs and explicit privacy assumptions.</a:t>
            </a:r>
          </a:p>
        </p:txBody>
      </p:sp>
      <p:sp>
        <p:nvSpPr>
          <p:cNvPr id="3" name="">
            <a:extLst xmlns:a="http://schemas.openxmlformats.org/drawingml/2006/main">
              <a:ext uri="{FF2B5EF4-FFF2-40B4-BE49-F238E27FC236}">
                <a16:creationId xmlns:a16="http://schemas.microsoft.com/office/drawing/2014/main" id="{BB8C833F-5480-41C5-9BBF-244AA2FD8AEB}"/>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58D4A22F-2113-4B93-BA0C-8C3B6303E91E}"/>
              </a:ext>
            </a:extLst>
          </p:cNvPr>
          <p:cNvSpPr>
            <a:spLocks xmlns:a="http://schemas.openxmlformats.org/drawingml/2006/main" noGrp="1"/>
          </p:cNvSpPr>
          <p:nvPr/>
        </p:nvSpPr>
        <p:spPr>
          <a:xfrm xmlns:a="http://schemas.openxmlformats.org/drawingml/2006/main">
            <a:off x="609600" y="22764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137D7C"/>
                </a:solidFill>
                <a:latin typeface="Arial"/>
                <a:ea typeface="Arial"/>
                <a:cs typeface="Arial"/>
              </a:defRPr>
            </a:pPr>
            <a:r>
              <a:rPr sz="2625" b="1">
                <a:solidFill>
                  <a:srgbClr val="137D7C"/>
                </a:solidFill>
                <a:latin typeface="Arial"/>
                <a:ea typeface="Arial"/>
                <a:cs typeface="Arial"/>
              </a:rPr>
              <a:t>Implemented</a:t>
            </a:r>
          </a:p>
        </p:txBody>
      </p:sp>
      <p:sp>
        <p:nvSpPr>
          <p:cNvPr id="5" name="">
            <a:extLst xmlns:a="http://schemas.openxmlformats.org/drawingml/2006/main">
              <a:ext uri="{FF2B5EF4-FFF2-40B4-BE49-F238E27FC236}">
                <a16:creationId xmlns:a16="http://schemas.microsoft.com/office/drawing/2014/main" id="{169A42B3-64C5-4D42-8AD2-CD76B53C46D0}"/>
              </a:ext>
            </a:extLst>
          </p:cNvPr>
          <p:cNvSpPr>
            <a:spLocks xmlns:a="http://schemas.openxmlformats.org/drawingml/2006/main" noGrp="1"/>
          </p:cNvSpPr>
          <p:nvPr/>
        </p:nvSpPr>
        <p:spPr>
          <a:xfrm xmlns:a="http://schemas.openxmlformats.org/drawingml/2006/main">
            <a:off x="609600" y="3028950"/>
            <a:ext cx="5048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102C3C"/>
                </a:solidFill>
                <a:latin typeface="Arial"/>
                <a:ea typeface="Arial"/>
                <a:cs typeface="Arial"/>
              </a:defRPr>
            </a:pPr>
            <a:r>
              <a:rPr sz="2250" b="0">
                <a:solidFill>
                  <a:srgbClr val="102C3C"/>
                </a:solidFill>
                <a:latin typeface="Arial"/>
                <a:ea typeface="Arial"/>
                <a:cs typeface="Arial"/>
              </a:rPr>
              <a:t>Packed threshold BGV</a:t>
            </a:r>
          </a:p>
          <a:p xmlns:a="http://schemas.openxmlformats.org/drawingml/2006/main">
            <a:pPr>
              <a:defRPr sz="2250" b="0">
                <a:solidFill>
                  <a:srgbClr val="102C3C"/>
                </a:solidFill>
                <a:latin typeface="Arial"/>
                <a:ea typeface="Arial"/>
                <a:cs typeface="Arial"/>
              </a:defRPr>
            </a:pPr>
            <a:r>
              <a:rPr sz="2250" b="0">
                <a:solidFill>
                  <a:srgbClr val="102C3C"/>
                </a:solidFill>
                <a:latin typeface="Arial"/>
                <a:ea typeface="Arial"/>
                <a:cs typeface="Arial"/>
              </a:rPr>
              <a:t>Gaussian private model fitting</a:t>
            </a:r>
          </a:p>
          <a:p xmlns:a="http://schemas.openxmlformats.org/drawingml/2006/main">
            <a:pPr>
              <a:defRPr sz="2250" b="0">
                <a:solidFill>
                  <a:srgbClr val="102C3C"/>
                </a:solidFill>
                <a:latin typeface="Arial"/>
                <a:ea typeface="Arial"/>
                <a:cs typeface="Arial"/>
              </a:defRPr>
            </a:pPr>
            <a:r>
              <a:rPr sz="2250" b="0">
                <a:solidFill>
                  <a:srgbClr val="102C3C"/>
                </a:solidFill>
                <a:latin typeface="Arial"/>
                <a:ea typeface="Arial"/>
                <a:cs typeface="Arial"/>
              </a:rPr>
              <a:t>BNP encrypted direct sums</a:t>
            </a:r>
          </a:p>
          <a:p xmlns:a="http://schemas.openxmlformats.org/drawingml/2006/main">
            <a:pPr>
              <a:defRPr sz="2250" b="0">
                <a:solidFill>
                  <a:srgbClr val="102C3C"/>
                </a:solidFill>
                <a:latin typeface="Arial"/>
                <a:ea typeface="Arial"/>
                <a:cs typeface="Arial"/>
              </a:defRPr>
            </a:pPr>
            <a:r>
              <a:rPr sz="2250" b="0">
                <a:solidFill>
                  <a:srgbClr val="102C3C"/>
                </a:solidFill>
                <a:latin typeface="Arial"/>
                <a:ea typeface="Arial"/>
                <a:cs typeface="Arial"/>
              </a:rPr>
              <a:t>Matched utility and dropout graphs</a:t>
            </a:r>
          </a:p>
        </p:txBody>
      </p:sp>
      <p:sp>
        <p:nvSpPr>
          <p:cNvPr id="6" name="">
            <a:extLst xmlns:a="http://schemas.openxmlformats.org/drawingml/2006/main">
              <a:ext uri="{FF2B5EF4-FFF2-40B4-BE49-F238E27FC236}">
                <a16:creationId xmlns:a16="http://schemas.microsoft.com/office/drawing/2014/main" id="{CEE6640E-F7F3-4362-AE62-5D22E0860FA3}"/>
              </a:ext>
            </a:extLst>
          </p:cNvPr>
          <p:cNvSpPr>
            <a:spLocks xmlns:a="http://schemas.openxmlformats.org/drawingml/2006/main" noGrp="1"/>
          </p:cNvSpPr>
          <p:nvPr/>
        </p:nvSpPr>
        <p:spPr>
          <a:xfrm xmlns:a="http://schemas.openxmlformats.org/drawingml/2006/main">
            <a:off x="6362700" y="227647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102C3C"/>
                </a:solidFill>
                <a:latin typeface="Arial"/>
                <a:ea typeface="Arial"/>
                <a:cs typeface="Arial"/>
              </a:defRPr>
            </a:pPr>
            <a:r>
              <a:rPr sz="2625" b="1">
                <a:solidFill>
                  <a:srgbClr val="102C3C"/>
                </a:solidFill>
                <a:latin typeface="Arial"/>
                <a:ea typeface="Arial"/>
                <a:cs typeface="Arial"/>
              </a:rPr>
              <a:t>Needed for a stronger paper</a:t>
            </a:r>
          </a:p>
        </p:txBody>
      </p:sp>
      <p:sp>
        <p:nvSpPr>
          <p:cNvPr id="7" name="">
            <a:extLst xmlns:a="http://schemas.openxmlformats.org/drawingml/2006/main">
              <a:ext uri="{FF2B5EF4-FFF2-40B4-BE49-F238E27FC236}">
                <a16:creationId xmlns:a16="http://schemas.microsoft.com/office/drawing/2014/main" id="{A01E845B-54FA-4630-8D08-B174EBB8717E}"/>
              </a:ext>
            </a:extLst>
          </p:cNvPr>
          <p:cNvSpPr>
            <a:spLocks xmlns:a="http://schemas.openxmlformats.org/drawingml/2006/main" noGrp="1"/>
          </p:cNvSpPr>
          <p:nvPr/>
        </p:nvSpPr>
        <p:spPr>
          <a:xfrm xmlns:a="http://schemas.openxmlformats.org/drawingml/2006/main">
            <a:off x="6362700" y="3028950"/>
            <a:ext cx="5238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Dealer-free bounded-noise protocol</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A finite-precision privacy proof</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Independent customer profiles</a:t>
            </a:r>
          </a:p>
          <a:p xmlns:a="http://schemas.openxmlformats.org/drawingml/2006/main">
            <a:pPr>
              <a:defRPr sz="2175" b="0">
                <a:solidFill>
                  <a:srgbClr val="102C3C"/>
                </a:solidFill>
                <a:latin typeface="Arial"/>
                <a:ea typeface="Arial"/>
                <a:cs typeface="Arial"/>
              </a:defRPr>
            </a:pPr>
            <a:r>
              <a:rPr sz="2175" b="0">
                <a:solidFill>
                  <a:srgbClr val="102C3C"/>
                </a:solidFill>
                <a:latin typeface="Arial"/>
                <a:ea typeface="Arial"/>
                <a:cs typeface="Arial"/>
              </a:rPr>
              <a:t>Distributed adversarial evaluation</a:t>
            </a:r>
          </a:p>
        </p:txBody>
      </p:sp>
      <p:sp>
        <p:nvSpPr>
          <p:cNvPr id="8" name="">
            <a:extLst xmlns:a="http://schemas.openxmlformats.org/drawingml/2006/main">
              <a:ext uri="{FF2B5EF4-FFF2-40B4-BE49-F238E27FC236}">
                <a16:creationId xmlns:a16="http://schemas.microsoft.com/office/drawing/2014/main" id="{55E55E81-3B65-4D63-A6B1-FA3670BB22C7}"/>
              </a:ext>
            </a:extLst>
          </p:cNvPr>
          <p:cNvSpPr>
            <a:spLocks xmlns:a="http://schemas.openxmlformats.org/drawingml/2006/main" noGrp="1"/>
          </p:cNvSpPr>
          <p:nvPr/>
        </p:nvSpPr>
        <p:spPr>
          <a:xfrm xmlns:a="http://schemas.openxmlformats.org/drawingml/2006/main">
            <a:off x="609600" y="5667375"/>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974"/>
                </a:solidFill>
                <a:latin typeface="Arial"/>
                <a:ea typeface="Arial"/>
                <a:cs typeface="Arial"/>
              </a:defRPr>
            </a:pPr>
            <a:r>
              <a:rPr sz="1950" b="0">
                <a:solidFill>
                  <a:srgbClr val="536974"/>
                </a:solidFill>
                <a:latin typeface="Arial"/>
                <a:ea typeface="Arial"/>
                <a:cs typeface="Arial"/>
              </a:rPr>
              <a:t>Novelty should rest on a new proved method or finding. “First to combine” is unverified.</a:t>
            </a:r>
          </a:p>
        </p:txBody>
      </p:sp>
    </p:spTree>
    <p:extLst>
      <p:ext uri="{BB962C8B-B14F-4D97-AF65-F5344CB8AC3E}">
        <p14:creationId xmlns:p14="http://schemas.microsoft.com/office/powerpoint/2010/main" val="9896428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2026-10-06T02:10:22.6180000Z</dcterms:created>
  <dcterms:modified xsi:type="dcterms:W3CDTF">2026-10-06T02:10:22.6180000Z</dcterms:modified>
</coreProperties>
</file>