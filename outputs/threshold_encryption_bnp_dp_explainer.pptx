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2281a6a9af4e39" /><Relationship Type="http://schemas.openxmlformats.org/officeDocument/2006/relationships/extended-properties" Target="/docProps/app.xml" Id="R2fd3d24a21c04f4c" /><Relationship Type="http://schemas.openxmlformats.org/officeDocument/2006/relationships/officeDocument" Target="/ppt/presentation.xml" Id="R5ae0bc0eb9404777" /></Relationships>
</file>

<file path=ppt/presentation.xml><?xml version="1.0" encoding="utf-8"?>
<p:presentation xmlns:p="http://schemas.openxmlformats.org/presentationml/2006/main">
  <p:sldMasterIdLst>
    <p:sldMasterId xmlns:r="http://schemas.openxmlformats.org/officeDocument/2006/relationships" id="2147483648" r:id="Rc562f441bda94d40"/>
  </p:sldMasterIdLst>
  <p:notesMasterIdLst>
    <p:notesMasterId xmlns:r="http://schemas.openxmlformats.org/officeDocument/2006/relationships" r:id="R31ec44773df04807"/>
  </p:notesMasterIdLst>
  <p:sldIdLst>
    <p:sldId xmlns:r="http://schemas.openxmlformats.org/officeDocument/2006/relationships" id="256" r:id="Rcae61041965b4544"/>
    <p:sldId xmlns:r="http://schemas.openxmlformats.org/officeDocument/2006/relationships" id="257" r:id="R8743ccf8316e4c26"/>
    <p:sldId xmlns:r="http://schemas.openxmlformats.org/officeDocument/2006/relationships" id="258" r:id="R7072add239a44d38"/>
    <p:sldId xmlns:r="http://schemas.openxmlformats.org/officeDocument/2006/relationships" id="259" r:id="R1b71bb57d4174699"/>
    <p:sldId xmlns:r="http://schemas.openxmlformats.org/officeDocument/2006/relationships" id="260" r:id="R590660d1abaf46ee"/>
    <p:sldId xmlns:r="http://schemas.openxmlformats.org/officeDocument/2006/relationships" id="261" r:id="Rf3df448f2faa45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5fe9d8face4d0a" /><Relationship Type="http://schemas.openxmlformats.org/officeDocument/2006/relationships/slideMaster" Target="/ppt/slideMasters/slideMaster1.xml" Id="Rc562f441bda94d40" /><Relationship Type="http://schemas.openxmlformats.org/officeDocument/2006/relationships/notesMaster" Target="/ppt/notesMasters/notesMaster1.xml" Id="R31ec44773df04807" /><Relationship Type="http://schemas.openxmlformats.org/officeDocument/2006/relationships/presProps" Target="/ppt/presProps.xml" Id="Rd414ce02e1684956" /><Relationship Type="http://schemas.openxmlformats.org/officeDocument/2006/relationships/tableStyles" Target="/ppt/tableStyles.xml" Id="Rb980b6a5735344b5" /><Relationship Type="http://schemas.openxmlformats.org/officeDocument/2006/relationships/slide" Target="/ppt/slides/slide1.xml" Id="Rcae61041965b4544" /><Relationship Type="http://schemas.openxmlformats.org/officeDocument/2006/relationships/slide" Target="/ppt/slides/slide2.xml" Id="R8743ccf8316e4c26" /><Relationship Type="http://schemas.openxmlformats.org/officeDocument/2006/relationships/slide" Target="/ppt/slides/slide3.xml" Id="R7072add239a44d38" /><Relationship Type="http://schemas.openxmlformats.org/officeDocument/2006/relationships/slide" Target="/ppt/slides/slide4.xml" Id="R1b71bb57d4174699" /><Relationship Type="http://schemas.openxmlformats.org/officeDocument/2006/relationships/slide" Target="/ppt/slides/slide5.xml" Id="R590660d1abaf46ee" /><Relationship Type="http://schemas.openxmlformats.org/officeDocument/2006/relationships/slide" Target="/ppt/slides/slide6.xml" Id="Rf3df448f2faa45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a5e9309e7841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0afcc716b74f0a" /><Relationship Type="http://schemas.openxmlformats.org/officeDocument/2006/relationships/notesMaster" Target="/ppt/notesMasters/notesMaster1.xml" Id="R6c70ad7c539143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068b1bea014d9c" /><Relationship Type="http://schemas.openxmlformats.org/officeDocument/2006/relationships/notesMaster" Target="/ppt/notesMasters/notesMaster1.xml" Id="R9e1fddea015e44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f6523a18ee4ece" /><Relationship Type="http://schemas.openxmlformats.org/officeDocument/2006/relationships/notesMaster" Target="/ppt/notesMasters/notesMaster1.xml" Id="R046a105b43f445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1c8b8bbc1b4284" /><Relationship Type="http://schemas.openxmlformats.org/officeDocument/2006/relationships/notesMaster" Target="/ppt/notesMasters/notesMaster1.xml" Id="R1b57b1571abb49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6044a47d484595" /><Relationship Type="http://schemas.openxmlformats.org/officeDocument/2006/relationships/notesMaster" Target="/ppt/notesMasters/notesMaster1.xml" Id="R2a3ef8b462f44b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9016d94bca47a2" /><Relationship Type="http://schemas.openxmlformats.org/officeDocument/2006/relationships/notesMaster" Target="/ppt/notesMasters/notesMaster1.xml" Id="R928ae29e806948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paper: Christian Mouchet, Elliott Bertrand and Jean-Pierre Hubaux, An Efficient Threshold Access-Structure for RLWE-Based Multiparty Homomorphic Encryption, Journal of Cryptology, 2023. https://doi.org/10.1007/s00145-023-09452-8</a:t>
            </a:r>
          </a:p>
          <a:p xmlns:a="http://schemas.openxmlformats.org/drawingml/2006/main">
            <a:r>
              <a:t>Threshold BGV integration and joint BNP protocol are proposed, not implemented or benchmarked here. Conceptual grid artwork created using the built-in ImageGen tool. Prompt: restrained editorial residential distribution grid on the right of a deep navy 16:9 canvas, empty left half, cream houses and teal electric connections, no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adapted to the existing two-round fitter in dpvolt/secure_agg.py and SECURE_AGGREGATION.md. Current code uses Gaussian shares and single-key Paillier. A threshold BGV backend and a calibrated distributed BNP sampler remain future work. Local noise shares are not automatically local DP. Authorities need authenticated rosters, transcript checks and release-budget controls to enforce aggregate-only access. With a fixed public network, downstream generation is post-processing for customer-data privacy, not an automatic topology-privacy proof. Sources: https://doi.org/10.1007/s00145-023-09452-8 ; https://arxiv.org/abs/2605.02390 ; local SECURE_AGGREGATION.md.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illustration only: 100 + 1.2 = 101.2 and the illustrative support is [-2,2]. A bound B does not establish DP without query sensitivity, adjacency, distribution and composition accounting. No voltage-error or grid-safety bound follows from this example. Independent uniform shares sum to a non-uniform distribution, so the existing Gaussian share construction cannot simply substitute uniform draws. Adding independent Gaussian noise yields unbounded support. Bounded-support approximate DP example: Dagan and Kur, A bounded-noise mechanism for differential privacy, https://arxiv.org/abs/2012.03817 . This is not asserted to be the repository-specific BNP paper. Encryption protects the noisy statistic during computation and cannot replace privacy calibration.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Mouchet, Bertrand, Hubaux 2023, Section 4.2, https://doi.org/10.1007/s00145-023-09452-8. The authors report 12.0 ms per-party decryption-share generation with N=20, t=7, parameter set III, of which Combine takes 0.4 ms. Calculation: 0.4/12*100=3.333 percent of the reported operation, not total-system overhead or a speedup over Paillier. CPU AMD Ryzen 9 5900X, 3.7 GHz. Proposed 3-of-5 is not measured here. Under scheme assumptions, two authorities cannot decrypt alone; three colluding authorities can. This setting tolerates two unavailable authorities if the remaining three complete the protocol. It does not establish tolerance to meter dropout, malicious shares, or unsafe retries. https://github.com/tuneinsight/lattigo/security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results/secure_agg_fit.json and results/secure_agg_report.md, recorded 2026-09-22. Exact total fit wall time 215.54404539999086 seconds. Encryption 214.25438060052693 seconds. Derived share 99.40166994774981 percent. These are existing Paillier measurements, not new runs or threshold BGV results. Serial execution excludes network transfer; two processes overlapped during part of measurement. Workload at T=96: T+T*(T+1)/2=4752 scalar values per meter, multiplied by 910 simulated meters gives 4,324,320 scalar encryptions. The count is arithmetic, not a measured 96-step runtime. BGV batching requires suitable plaintext modulus and encoding and changes ciphertext sizes. No predicted speedup or direct comparison to the paper’s decryption microbenchmark is claimed. BGV-compatible threshold construction: https://doi.org/10.1007/s00145-023-09452-8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evaluation, not achieved results. Report epsilon/delta under a named adjacency (customer-day or full trajectory), compose both model-fitting rounds and repeated releases, and account for quantization/overflow and any failure probability. B bounds perturbation of the chosen statistic, not automatically voltage error. Evaluate minimum honest contributing meters separately from available decryption authorities. Compare BNP and Gaussian releases at matched guarantees before judging utility. Record voltage magnitude RMSE in pu, ANSI exceedance fraction, temporal correlation, convergence, total wall time, communication bytes, packing rate, and dropout bias. Lattigo current security guidance states multiparty retries may reveal key information and current retry countermeasures are not implemented: https://github.com/tuneinsight/lattigo/security. New backend remains a research prototype until protocol security is established. No first-in-CPS novelty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fce98ef564d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3c27743d804e8f" /><Relationship Type="http://schemas.openxmlformats.org/officeDocument/2006/relationships/slideLayout" Target="/ppt/slideLayouts/slideLayout1.xml" Id="Rf05f5fb2fbb147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5f5fb2fbb147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285240b9fc4dcb" /><Relationship Type="http://schemas.openxmlformats.org/officeDocument/2006/relationships/image" Target="/ppt/media/image.png" Id="R90fc86faa9ff4346" /><Relationship Type="http://schemas.openxmlformats.org/officeDocument/2006/relationships/notesSlide" Target="/ppt/notesSlides/notesSlide1.xml" Id="R0b746e20ead548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a688f5b2ff4456" /><Relationship Type="http://schemas.openxmlformats.org/officeDocument/2006/relationships/notesSlide" Target="/ppt/notesSlides/notesSlide2.xml" Id="R676ee675026f48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54dfc71a7b4a3c" /><Relationship Type="http://schemas.openxmlformats.org/officeDocument/2006/relationships/notesSlide" Target="/ppt/notesSlides/notesSlide3.xml" Id="R5a2501caf96a4b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7beaa38fa14db0" /><Relationship Type="http://schemas.openxmlformats.org/officeDocument/2006/relationships/notesSlide" Target="/ppt/notesSlides/notesSlide4.xml" Id="Rcf25e7b242a440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c2d0080f224c0f" /><Relationship Type="http://schemas.openxmlformats.org/officeDocument/2006/relationships/notesSlide" Target="/ppt/notesSlides/notesSlide5.xml" Id="R30e11ed487cd49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7af8d4b1c040a3" /><Relationship Type="http://schemas.openxmlformats.org/officeDocument/2006/relationships/notesSlide" Target="/ppt/notesSlides/notesSlide6.xml" Id="Rdf8c6d083af64a4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0fc86faa9ff43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F3DBB-6543-46FB-A651-79211D666A4F}"/>
              </a:ext>
            </a:extLst>
          </p:cNvPr>
          <p:cNvSpPr>
            <a:spLocks xmlns:a="http://schemas.openxmlformats.org/drawingml/2006/main" noGrp="1"/>
          </p:cNvSpPr>
          <p:nvPr/>
        </p:nvSpPr>
        <p:spPr>
          <a:xfrm xmlns:a="http://schemas.openxmlformats.org/drawingml/2006/main">
            <a:off x="609600" y="1143000"/>
            <a:ext cx="6096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Encryption + privacy</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for synthetic grids</a:t>
            </a:r>
          </a:p>
        </p:txBody>
      </p:sp>
      <p:sp>
        <p:nvSpPr>
          <p:cNvPr id="3" name="">
            <a:extLst xmlns:a="http://schemas.openxmlformats.org/drawingml/2006/main">
              <a:ext uri="{FF2B5EF4-FFF2-40B4-BE49-F238E27FC236}">
                <a16:creationId xmlns:a16="http://schemas.microsoft.com/office/drawing/2014/main" id="{A64CE0D6-C6B2-4A4A-9C65-7C9063F57791}"/>
              </a:ext>
            </a:extLst>
          </p:cNvPr>
          <p:cNvSpPr>
            <a:spLocks xmlns:a="http://schemas.openxmlformats.org/drawingml/2006/main" noGrp="1"/>
          </p:cNvSpPr>
          <p:nvPr/>
        </p:nvSpPr>
        <p:spPr>
          <a:xfrm xmlns:a="http://schemas.openxmlformats.org/drawingml/2006/main">
            <a:off x="609600" y="31623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B9E1D9"/>
                </a:solidFill>
                <a:latin typeface="Arial"/>
                <a:ea typeface="Arial"/>
                <a:cs typeface="Arial"/>
              </a:defRPr>
            </a:pPr>
            <a:r>
              <a:rPr sz="2325" b="0">
                <a:solidFill>
                  <a:srgbClr val="B9E1D9"/>
                </a:solidFill>
                <a:latin typeface="Arial"/>
                <a:ea typeface="Arial"/>
                <a:cs typeface="Arial"/>
              </a:rPr>
              <a:t>How threshold encryption works</a:t>
            </a:r>
          </a:p>
          <a:p xmlns:a="http://schemas.openxmlformats.org/drawingml/2006/main">
            <a:pPr>
              <a:defRPr sz="2325" b="0">
                <a:solidFill>
                  <a:srgbClr val="B9E1D9"/>
                </a:solidFill>
                <a:latin typeface="Arial"/>
                <a:ea typeface="Arial"/>
                <a:cs typeface="Arial"/>
              </a:defRPr>
            </a:pPr>
            <a:r>
              <a:rPr sz="2325" b="0">
                <a:solidFill>
                  <a:srgbClr val="B9E1D9"/>
                </a:solidFill>
                <a:latin typeface="Arial"/>
                <a:ea typeface="Arial"/>
                <a:cs typeface="Arial"/>
              </a:rPr>
              <a:t>with BNP and differential privacy</a:t>
            </a:r>
          </a:p>
        </p:txBody>
      </p:sp>
      <p:sp>
        <p:nvSpPr>
          <p:cNvPr id="4" name="">
            <a:extLst xmlns:a="http://schemas.openxmlformats.org/drawingml/2006/main">
              <a:ext uri="{FF2B5EF4-FFF2-40B4-BE49-F238E27FC236}">
                <a16:creationId xmlns:a16="http://schemas.microsoft.com/office/drawing/2014/main" id="{34B87818-0545-4D8B-9B86-3D7B055032FB}"/>
              </a:ext>
            </a:extLst>
          </p:cNvPr>
          <p:cNvSpPr>
            <a:spLocks xmlns:a="http://schemas.openxmlformats.org/drawingml/2006/main" noGrp="1"/>
          </p:cNvSpPr>
          <p:nvPr/>
        </p:nvSpPr>
        <p:spPr>
          <a:xfrm xmlns:a="http://schemas.openxmlformats.org/drawingml/2006/main">
            <a:off x="609600" y="52387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Proposed research architecture</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Evidence and next measurements</a:t>
            </a:r>
          </a:p>
        </p:txBody>
      </p:sp>
    </p:spTree>
    <p:extLst>
      <p:ext uri="{BB962C8B-B14F-4D97-AF65-F5344CB8AC3E}">
        <p14:creationId xmlns:p14="http://schemas.microsoft.com/office/powerpoint/2010/main" val="1610811745"/>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AC0162-B7D1-4DA4-B4FF-C2CF3EDA0EA9}"/>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How the protections work together</a:t>
            </a:r>
          </a:p>
        </p:txBody>
      </p:sp>
      <p:sp>
        <p:nvSpPr>
          <p:cNvPr id="2" name="">
            <a:extLst xmlns:a="http://schemas.openxmlformats.org/drawingml/2006/main">
              <a:ext uri="{FF2B5EF4-FFF2-40B4-BE49-F238E27FC236}">
                <a16:creationId xmlns:a16="http://schemas.microsoft.com/office/drawing/2014/main" id="{DD8921A2-8132-4D37-B346-7D195DB360EA}"/>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Encryption protects computation. Calibrated noise protects the released statistics.</a:t>
            </a:r>
          </a:p>
        </p:txBody>
      </p:sp>
      <p:sp>
        <p:nvSpPr>
          <p:cNvPr id="3" name="">
            <a:extLst xmlns:a="http://schemas.openxmlformats.org/drawingml/2006/main">
              <a:ext uri="{FF2B5EF4-FFF2-40B4-BE49-F238E27FC236}">
                <a16:creationId xmlns:a16="http://schemas.microsoft.com/office/drawing/2014/main" id="{7121F221-31A9-4EE0-8D26-B221F37DC4D6}"/>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1D076157-F0C8-4234-ABF1-4034D3743AF7}"/>
              </a:ext>
            </a:extLst>
          </p:cNvPr>
          <p:cNvSpPr>
            <a:spLocks xmlns:a="http://schemas.openxmlformats.org/drawingml/2006/main" noGrp="1"/>
          </p:cNvSpPr>
          <p:nvPr/>
        </p:nvSpPr>
        <p:spPr>
          <a:xfrm xmlns:a="http://schemas.openxmlformats.org/drawingml/2006/main">
            <a:off x="647700" y="20955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37D7C"/>
                </a:solidFill>
                <a:latin typeface="Arial"/>
                <a:ea typeface="Arial"/>
                <a:cs typeface="Arial"/>
              </a:defRPr>
            </a:pPr>
            <a:r>
              <a:rPr sz="2700" b="1">
                <a:solidFill>
                  <a:srgbClr val="137D7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855CE7D7-6170-48F6-BC7C-82E20A66EEC3}"/>
              </a:ext>
            </a:extLst>
          </p:cNvPr>
          <p:cNvSpPr>
            <a:spLocks xmlns:a="http://schemas.openxmlformats.org/drawingml/2006/main" noGrp="1"/>
          </p:cNvSpPr>
          <p:nvPr/>
        </p:nvSpPr>
        <p:spPr>
          <a:xfrm xmlns:a="http://schemas.openxmlformats.org/drawingml/2006/main">
            <a:off x="1381125" y="20955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Meters compute statistics</a:t>
            </a:r>
          </a:p>
        </p:txBody>
      </p:sp>
      <p:sp>
        <p:nvSpPr>
          <p:cNvPr id="6" name="">
            <a:extLst xmlns:a="http://schemas.openxmlformats.org/drawingml/2006/main">
              <a:ext uri="{FF2B5EF4-FFF2-40B4-BE49-F238E27FC236}">
                <a16:creationId xmlns:a16="http://schemas.microsoft.com/office/drawing/2014/main" id="{85FB6377-93B7-4CDF-BDEE-60533F68A4D9}"/>
              </a:ext>
            </a:extLst>
          </p:cNvPr>
          <p:cNvSpPr>
            <a:spLocks xmlns:a="http://schemas.openxmlformats.org/drawingml/2006/main" noGrp="1"/>
          </p:cNvSpPr>
          <p:nvPr/>
        </p:nvSpPr>
        <p:spPr>
          <a:xfrm xmlns:a="http://schemas.openxmlformats.org/drawingml/2006/main">
            <a:off x="1381125" y="24479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Each meter keeps its raw records locally.</a:t>
            </a:r>
          </a:p>
        </p:txBody>
      </p:sp>
      <p:sp>
        <p:nvSpPr>
          <p:cNvPr id="7" name="">
            <a:extLst xmlns:a="http://schemas.openxmlformats.org/drawingml/2006/main">
              <a:ext uri="{FF2B5EF4-FFF2-40B4-BE49-F238E27FC236}">
                <a16:creationId xmlns:a16="http://schemas.microsoft.com/office/drawing/2014/main" id="{52B1920B-019C-450A-9CD6-4CA2CAE0E3E0}"/>
              </a:ext>
            </a:extLst>
          </p:cNvPr>
          <p:cNvSpPr>
            <a:spLocks xmlns:a="http://schemas.openxmlformats.org/drawingml/2006/main" noGrp="1"/>
          </p:cNvSpPr>
          <p:nvPr/>
        </p:nvSpPr>
        <p:spPr>
          <a:xfrm xmlns:a="http://schemas.openxmlformats.org/drawingml/2006/main">
            <a:off x="647700" y="280987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37D7C"/>
                </a:solidFill>
                <a:latin typeface="Arial"/>
                <a:ea typeface="Arial"/>
                <a:cs typeface="Arial"/>
              </a:defRPr>
            </a:pPr>
            <a:r>
              <a:rPr sz="2700" b="1">
                <a:solidFill>
                  <a:srgbClr val="137D7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24C9FBD7-07D9-42D2-BE82-56B5A0583E7D}"/>
              </a:ext>
            </a:extLst>
          </p:cNvPr>
          <p:cNvSpPr>
            <a:spLocks xmlns:a="http://schemas.openxmlformats.org/drawingml/2006/main" noGrp="1"/>
          </p:cNvSpPr>
          <p:nvPr/>
        </p:nvSpPr>
        <p:spPr>
          <a:xfrm xmlns:a="http://schemas.openxmlformats.org/drawingml/2006/main">
            <a:off x="1381125" y="280987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Noise enters before decryption</a:t>
            </a:r>
          </a:p>
        </p:txBody>
      </p:sp>
      <p:sp>
        <p:nvSpPr>
          <p:cNvPr id="9" name="">
            <a:extLst xmlns:a="http://schemas.openxmlformats.org/drawingml/2006/main">
              <a:ext uri="{FF2B5EF4-FFF2-40B4-BE49-F238E27FC236}">
                <a16:creationId xmlns:a16="http://schemas.microsoft.com/office/drawing/2014/main" id="{4486F55F-1E1B-47CC-87E2-D6A34D58C640}"/>
              </a:ext>
            </a:extLst>
          </p:cNvPr>
          <p:cNvSpPr>
            <a:spLocks xmlns:a="http://schemas.openxmlformats.org/drawingml/2006/main" noGrp="1"/>
          </p:cNvSpPr>
          <p:nvPr/>
        </p:nvSpPr>
        <p:spPr>
          <a:xfrm xmlns:a="http://schemas.openxmlformats.org/drawingml/2006/main">
            <a:off x="1381125" y="316230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A calibrated protocol protects the aggregate.</a:t>
            </a:r>
          </a:p>
        </p:txBody>
      </p:sp>
      <p:sp>
        <p:nvSpPr>
          <p:cNvPr id="10" name="">
            <a:extLst xmlns:a="http://schemas.openxmlformats.org/drawingml/2006/main">
              <a:ext uri="{FF2B5EF4-FFF2-40B4-BE49-F238E27FC236}">
                <a16:creationId xmlns:a16="http://schemas.microsoft.com/office/drawing/2014/main" id="{2C6DA616-11E5-473C-ABC1-C398421B6D63}"/>
              </a:ext>
            </a:extLst>
          </p:cNvPr>
          <p:cNvSpPr>
            <a:spLocks xmlns:a="http://schemas.openxmlformats.org/drawingml/2006/main" noGrp="1"/>
          </p:cNvSpPr>
          <p:nvPr/>
        </p:nvSpPr>
        <p:spPr>
          <a:xfrm xmlns:a="http://schemas.openxmlformats.org/drawingml/2006/main">
            <a:off x="647700" y="352425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37D7C"/>
                </a:solidFill>
                <a:latin typeface="Arial"/>
                <a:ea typeface="Arial"/>
                <a:cs typeface="Arial"/>
              </a:defRPr>
            </a:pPr>
            <a:r>
              <a:rPr sz="2700" b="1">
                <a:solidFill>
                  <a:srgbClr val="137D7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4E14B151-7814-42E0-8BB0-8528914DEE50}"/>
              </a:ext>
            </a:extLst>
          </p:cNvPr>
          <p:cNvSpPr>
            <a:spLocks xmlns:a="http://schemas.openxmlformats.org/drawingml/2006/main" noGrp="1"/>
          </p:cNvSpPr>
          <p:nvPr/>
        </p:nvSpPr>
        <p:spPr>
          <a:xfrm xmlns:a="http://schemas.openxmlformats.org/drawingml/2006/main">
            <a:off x="1381125" y="352425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The server adds encrypted values</a:t>
            </a:r>
          </a:p>
        </p:txBody>
      </p:sp>
      <p:sp>
        <p:nvSpPr>
          <p:cNvPr id="12" name="">
            <a:extLst xmlns:a="http://schemas.openxmlformats.org/drawingml/2006/main">
              <a:ext uri="{FF2B5EF4-FFF2-40B4-BE49-F238E27FC236}">
                <a16:creationId xmlns:a16="http://schemas.microsoft.com/office/drawing/2014/main" id="{91F1D587-5F82-4D2E-B172-AD72C23C7AE2}"/>
              </a:ext>
            </a:extLst>
          </p:cNvPr>
          <p:cNvSpPr>
            <a:spLocks xmlns:a="http://schemas.openxmlformats.org/drawingml/2006/main" noGrp="1"/>
          </p:cNvSpPr>
          <p:nvPr/>
        </p:nvSpPr>
        <p:spPr>
          <a:xfrm xmlns:a="http://schemas.openxmlformats.org/drawingml/2006/main">
            <a:off x="1381125" y="387667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It cannot read the individual contributions.</a:t>
            </a:r>
          </a:p>
        </p:txBody>
      </p:sp>
      <p:sp>
        <p:nvSpPr>
          <p:cNvPr id="13" name="">
            <a:extLst xmlns:a="http://schemas.openxmlformats.org/drawingml/2006/main">
              <a:ext uri="{FF2B5EF4-FFF2-40B4-BE49-F238E27FC236}">
                <a16:creationId xmlns:a16="http://schemas.microsoft.com/office/drawing/2014/main" id="{F62FB3DF-A79C-4D8E-8C8C-B2D486A2F69A}"/>
              </a:ext>
            </a:extLst>
          </p:cNvPr>
          <p:cNvSpPr>
            <a:spLocks xmlns:a="http://schemas.openxmlformats.org/drawingml/2006/main" noGrp="1"/>
          </p:cNvSpPr>
          <p:nvPr/>
        </p:nvSpPr>
        <p:spPr>
          <a:xfrm xmlns:a="http://schemas.openxmlformats.org/drawingml/2006/main">
            <a:off x="647700" y="4238625"/>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37D7C"/>
                </a:solidFill>
                <a:latin typeface="Arial"/>
                <a:ea typeface="Arial"/>
                <a:cs typeface="Arial"/>
              </a:defRPr>
            </a:pPr>
            <a:r>
              <a:rPr sz="2700" b="1">
                <a:solidFill>
                  <a:srgbClr val="137D7C"/>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D7195D30-0BE3-4489-BCEC-1D3742CF668C}"/>
              </a:ext>
            </a:extLst>
          </p:cNvPr>
          <p:cNvSpPr>
            <a:spLocks xmlns:a="http://schemas.openxmlformats.org/drawingml/2006/main" noGrp="1"/>
          </p:cNvSpPr>
          <p:nvPr/>
        </p:nvSpPr>
        <p:spPr>
          <a:xfrm xmlns:a="http://schemas.openxmlformats.org/drawingml/2006/main">
            <a:off x="1381125" y="4238625"/>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Authorities authorize a release</a:t>
            </a:r>
          </a:p>
        </p:txBody>
      </p:sp>
      <p:sp>
        <p:nvSpPr>
          <p:cNvPr id="15" name="">
            <a:extLst xmlns:a="http://schemas.openxmlformats.org/drawingml/2006/main">
              <a:ext uri="{FF2B5EF4-FFF2-40B4-BE49-F238E27FC236}">
                <a16:creationId xmlns:a16="http://schemas.microsoft.com/office/drawing/2014/main" id="{184F5371-0554-4B77-B992-5B6FE17BCC9B}"/>
              </a:ext>
            </a:extLst>
          </p:cNvPr>
          <p:cNvSpPr>
            <a:spLocks xmlns:a="http://schemas.openxmlformats.org/drawingml/2006/main" noGrp="1"/>
          </p:cNvSpPr>
          <p:nvPr/>
        </p:nvSpPr>
        <p:spPr>
          <a:xfrm xmlns:a="http://schemas.openxmlformats.org/drawingml/2006/main">
            <a:off x="1381125" y="45910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A quorum combines partial decryptions.</a:t>
            </a:r>
          </a:p>
        </p:txBody>
      </p:sp>
      <p:sp>
        <p:nvSpPr>
          <p:cNvPr id="16" name="">
            <a:extLst xmlns:a="http://schemas.openxmlformats.org/drawingml/2006/main">
              <a:ext uri="{FF2B5EF4-FFF2-40B4-BE49-F238E27FC236}">
                <a16:creationId xmlns:a16="http://schemas.microsoft.com/office/drawing/2014/main" id="{3D880B4F-5EFE-483B-99E3-17D59FECFE36}"/>
              </a:ext>
            </a:extLst>
          </p:cNvPr>
          <p:cNvSpPr>
            <a:spLocks xmlns:a="http://schemas.openxmlformats.org/drawingml/2006/main" noGrp="1"/>
          </p:cNvSpPr>
          <p:nvPr/>
        </p:nvSpPr>
        <p:spPr>
          <a:xfrm xmlns:a="http://schemas.openxmlformats.org/drawingml/2006/main">
            <a:off x="647700" y="4953000"/>
            <a:ext cx="52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137D7C"/>
                </a:solidFill>
                <a:latin typeface="Arial"/>
                <a:ea typeface="Arial"/>
                <a:cs typeface="Arial"/>
              </a:defRPr>
            </a:pPr>
            <a:r>
              <a:rPr sz="2700" b="1">
                <a:solidFill>
                  <a:srgbClr val="137D7C"/>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C1213023-EA0B-407E-A9B4-B1B79A9020F0}"/>
              </a:ext>
            </a:extLst>
          </p:cNvPr>
          <p:cNvSpPr>
            <a:spLocks xmlns:a="http://schemas.openxmlformats.org/drawingml/2006/main" noGrp="1"/>
          </p:cNvSpPr>
          <p:nvPr/>
        </p:nvSpPr>
        <p:spPr>
          <a:xfrm xmlns:a="http://schemas.openxmlformats.org/drawingml/2006/main">
            <a:off x="1381125" y="4953000"/>
            <a:ext cx="962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The model generates voltages</a:t>
            </a:r>
          </a:p>
        </p:txBody>
      </p:sp>
      <p:sp>
        <p:nvSpPr>
          <p:cNvPr id="18" name="">
            <a:extLst xmlns:a="http://schemas.openxmlformats.org/drawingml/2006/main">
              <a:ext uri="{FF2B5EF4-FFF2-40B4-BE49-F238E27FC236}">
                <a16:creationId xmlns:a16="http://schemas.microsoft.com/office/drawing/2014/main" id="{6BB6E66C-9972-4E48-B2EC-DDD0CFDD4298}"/>
              </a:ext>
            </a:extLst>
          </p:cNvPr>
          <p:cNvSpPr>
            <a:spLocks xmlns:a="http://schemas.openxmlformats.org/drawingml/2006/main" noGrp="1"/>
          </p:cNvSpPr>
          <p:nvPr/>
        </p:nvSpPr>
        <p:spPr>
          <a:xfrm xmlns:a="http://schemas.openxmlformats.org/drawingml/2006/main">
            <a:off x="1381125" y="5305425"/>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Synthetic loads pass through AC power flow.</a:t>
            </a:r>
          </a:p>
        </p:txBody>
      </p:sp>
      <p:sp>
        <p:nvSpPr>
          <p:cNvPr id="19" name="">
            <a:extLst xmlns:a="http://schemas.openxmlformats.org/drawingml/2006/main">
              <a:ext uri="{FF2B5EF4-FFF2-40B4-BE49-F238E27FC236}">
                <a16:creationId xmlns:a16="http://schemas.microsoft.com/office/drawing/2014/main" id="{7119F9EB-63B7-46FE-8540-352A9893938C}"/>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37D7C"/>
                </a:solidFill>
                <a:latin typeface="Arial"/>
                <a:ea typeface="Arial"/>
                <a:cs typeface="Arial"/>
              </a:defRPr>
            </a:pPr>
            <a:r>
              <a:rPr sz="1800" b="1">
                <a:solidFill>
                  <a:srgbClr val="137D7C"/>
                </a:solidFill>
                <a:latin typeface="Arial"/>
                <a:ea typeface="Arial"/>
                <a:cs typeface="Arial"/>
              </a:rPr>
              <a:t>The fitter repeats this process for the mean and then the covariance.</a:t>
            </a:r>
          </a:p>
        </p:txBody>
      </p:sp>
    </p:spTree>
    <p:extLst>
      <p:ext uri="{BB962C8B-B14F-4D97-AF65-F5344CB8AC3E}">
        <p14:creationId xmlns:p14="http://schemas.microsoft.com/office/powerpoint/2010/main" val="161753136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20405D1-8578-444B-AD5C-3C29ACEFAA54}"/>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A simple example of bounded noise</a:t>
            </a:r>
          </a:p>
        </p:txBody>
      </p:sp>
      <p:sp>
        <p:nvSpPr>
          <p:cNvPr id="2" name="">
            <a:extLst xmlns:a="http://schemas.openxmlformats.org/drawingml/2006/main">
              <a:ext uri="{FF2B5EF4-FFF2-40B4-BE49-F238E27FC236}">
                <a16:creationId xmlns:a16="http://schemas.microsoft.com/office/drawing/2014/main" id="{865A69E5-E584-4597-BB56-656E482A303B}"/>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Illustrative aggregate statistic, in arbitrary units. These values are not a privacy calibration.</a:t>
            </a:r>
          </a:p>
        </p:txBody>
      </p:sp>
      <p:sp>
        <p:nvSpPr>
          <p:cNvPr id="3" name="">
            <a:extLst xmlns:a="http://schemas.openxmlformats.org/drawingml/2006/main">
              <a:ext uri="{FF2B5EF4-FFF2-40B4-BE49-F238E27FC236}">
                <a16:creationId xmlns:a16="http://schemas.microsoft.com/office/drawing/2014/main" id="{27B13DF5-DFFB-4281-8FD0-3B3A13FB2687}"/>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7C90BEE9-E0A7-4C13-B1CB-B361B498427A}"/>
              </a:ext>
            </a:extLst>
          </p:cNvPr>
          <p:cNvSpPr>
            <a:spLocks xmlns:a="http://schemas.openxmlformats.org/drawingml/2006/main" noGrp="1"/>
          </p:cNvSpPr>
          <p:nvPr/>
        </p:nvSpPr>
        <p:spPr>
          <a:xfrm xmlns:a="http://schemas.openxmlformats.org/drawingml/2006/main">
            <a:off x="6667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102C3C"/>
                </a:solidFill>
                <a:latin typeface="Arial"/>
                <a:ea typeface="Arial"/>
                <a:cs typeface="Arial"/>
              </a:defRPr>
            </a:pPr>
            <a:r>
              <a:rPr sz="6000" b="1">
                <a:solidFill>
                  <a:srgbClr val="102C3C"/>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89907E83-32AE-4557-98C4-F2EE2DA91EBD}"/>
              </a:ext>
            </a:extLst>
          </p:cNvPr>
          <p:cNvSpPr>
            <a:spLocks xmlns:a="http://schemas.openxmlformats.org/drawingml/2006/main" noGrp="1"/>
          </p:cNvSpPr>
          <p:nvPr/>
        </p:nvSpPr>
        <p:spPr>
          <a:xfrm xmlns:a="http://schemas.openxmlformats.org/drawingml/2006/main">
            <a:off x="666750" y="3476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Exact aggregate</a:t>
            </a:r>
          </a:p>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kept hidden</a:t>
            </a:r>
          </a:p>
        </p:txBody>
      </p:sp>
      <p:sp>
        <p:nvSpPr>
          <p:cNvPr id="6" name="">
            <a:extLst xmlns:a="http://schemas.openxmlformats.org/drawingml/2006/main">
              <a:ext uri="{FF2B5EF4-FFF2-40B4-BE49-F238E27FC236}">
                <a16:creationId xmlns:a16="http://schemas.microsoft.com/office/drawing/2014/main" id="{E0B82B91-229F-4C0C-A736-42F3310122D5}"/>
              </a:ext>
            </a:extLst>
          </p:cNvPr>
          <p:cNvSpPr>
            <a:spLocks xmlns:a="http://schemas.openxmlformats.org/drawingml/2006/main" noGrp="1"/>
          </p:cNvSpPr>
          <p:nvPr/>
        </p:nvSpPr>
        <p:spPr>
          <a:xfrm xmlns:a="http://schemas.openxmlformats.org/drawingml/2006/main">
            <a:off x="4514850" y="2314575"/>
            <a:ext cx="304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137D7C"/>
                </a:solidFill>
                <a:latin typeface="Arial"/>
                <a:ea typeface="Arial"/>
                <a:cs typeface="Arial"/>
              </a:defRPr>
            </a:pPr>
            <a:r>
              <a:rPr sz="6000" b="1">
                <a:solidFill>
                  <a:srgbClr val="137D7C"/>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08C1BA96-E66B-49A3-9631-6A1BF6838663}"/>
              </a:ext>
            </a:extLst>
          </p:cNvPr>
          <p:cNvSpPr>
            <a:spLocks xmlns:a="http://schemas.openxmlformats.org/drawingml/2006/main" noGrp="1"/>
          </p:cNvSpPr>
          <p:nvPr/>
        </p:nvSpPr>
        <p:spPr>
          <a:xfrm xmlns:a="http://schemas.openxmlformats.org/drawingml/2006/main">
            <a:off x="4514850" y="3476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Hidden noise draw</a:t>
            </a:r>
          </a:p>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inside [−2, +2]</a:t>
            </a:r>
          </a:p>
        </p:txBody>
      </p:sp>
      <p:sp>
        <p:nvSpPr>
          <p:cNvPr id="8" name="">
            <a:extLst xmlns:a="http://schemas.openxmlformats.org/drawingml/2006/main">
              <a:ext uri="{FF2B5EF4-FFF2-40B4-BE49-F238E27FC236}">
                <a16:creationId xmlns:a16="http://schemas.microsoft.com/office/drawing/2014/main" id="{3FC5FBB7-7DC8-4DE2-AE76-F51C1417DBA8}"/>
              </a:ext>
            </a:extLst>
          </p:cNvPr>
          <p:cNvSpPr>
            <a:spLocks xmlns:a="http://schemas.openxmlformats.org/drawingml/2006/main" noGrp="1"/>
          </p:cNvSpPr>
          <p:nvPr/>
        </p:nvSpPr>
        <p:spPr>
          <a:xfrm xmlns:a="http://schemas.openxmlformats.org/drawingml/2006/main">
            <a:off x="8334375" y="23145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000" b="1">
                <a:solidFill>
                  <a:srgbClr val="102C3C"/>
                </a:solidFill>
                <a:latin typeface="Arial"/>
                <a:ea typeface="Arial"/>
                <a:cs typeface="Arial"/>
              </a:defRPr>
            </a:pPr>
            <a:r>
              <a:rPr sz="6000" b="1">
                <a:solidFill>
                  <a:srgbClr val="102C3C"/>
                </a:solidFill>
                <a:latin typeface="Arial"/>
                <a:ea typeface="Arial"/>
                <a:cs typeface="Arial"/>
              </a:rPr>
              <a:t>101.2</a:t>
            </a:r>
          </a:p>
        </p:txBody>
      </p:sp>
      <p:sp>
        <p:nvSpPr>
          <p:cNvPr id="9" name="">
            <a:extLst xmlns:a="http://schemas.openxmlformats.org/drawingml/2006/main">
              <a:ext uri="{FF2B5EF4-FFF2-40B4-BE49-F238E27FC236}">
                <a16:creationId xmlns:a16="http://schemas.microsoft.com/office/drawing/2014/main" id="{8642DCCC-E89D-4401-984B-150F931A7508}"/>
              </a:ext>
            </a:extLst>
          </p:cNvPr>
          <p:cNvSpPr>
            <a:spLocks xmlns:a="http://schemas.openxmlformats.org/drawingml/2006/main" noGrp="1"/>
          </p:cNvSpPr>
          <p:nvPr/>
        </p:nvSpPr>
        <p:spPr>
          <a:xfrm xmlns:a="http://schemas.openxmlformats.org/drawingml/2006/main">
            <a:off x="8334375" y="3476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Authorized</a:t>
            </a:r>
          </a:p>
          <a:p xmlns:a="http://schemas.openxmlformats.org/drawingml/2006/main">
            <a:pPr>
              <a:defRPr sz="2250" b="0">
                <a:solidFill>
                  <a:srgbClr val="536974"/>
                </a:solidFill>
                <a:latin typeface="Arial"/>
                <a:ea typeface="Arial"/>
                <a:cs typeface="Arial"/>
              </a:defRPr>
            </a:pPr>
            <a:r>
              <a:rPr sz="2250" b="0">
                <a:solidFill>
                  <a:srgbClr val="536974"/>
                </a:solidFill>
                <a:latin typeface="Arial"/>
                <a:ea typeface="Arial"/>
                <a:cs typeface="Arial"/>
              </a:rPr>
              <a:t>released statistic</a:t>
            </a:r>
          </a:p>
        </p:txBody>
      </p:sp>
      <p:sp>
        <p:nvSpPr>
          <p:cNvPr id="10" name="">
            <a:extLst xmlns:a="http://schemas.openxmlformats.org/drawingml/2006/main">
              <a:ext uri="{FF2B5EF4-FFF2-40B4-BE49-F238E27FC236}">
                <a16:creationId xmlns:a16="http://schemas.microsoft.com/office/drawing/2014/main" id="{3141ED70-F770-4256-B015-FB267184FF81}"/>
              </a:ext>
            </a:extLst>
          </p:cNvPr>
          <p:cNvSpPr>
            <a:spLocks xmlns:a="http://schemas.openxmlformats.org/drawingml/2006/main" noGrp="1"/>
          </p:cNvSpPr>
          <p:nvPr/>
        </p:nvSpPr>
        <p:spPr>
          <a:xfrm xmlns:a="http://schemas.openxmlformats.org/drawingml/2006/main">
            <a:off x="609600" y="4762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02C3C"/>
                </a:solidFill>
                <a:latin typeface="Arial"/>
                <a:ea typeface="Arial"/>
                <a:cs typeface="Arial"/>
              </a:defRPr>
            </a:pPr>
            <a:r>
              <a:rPr sz="2175" b="1">
                <a:solidFill>
                  <a:srgbClr val="102C3C"/>
                </a:solidFill>
                <a:latin typeface="Arial"/>
                <a:ea typeface="Arial"/>
                <a:cs typeface="Arial"/>
              </a:rPr>
              <a:t>BNP bounds the perturbation. DP quantifies the privacy guarantee.</a:t>
            </a:r>
          </a:p>
        </p:txBody>
      </p:sp>
      <p:sp>
        <p:nvSpPr>
          <p:cNvPr id="11" name="">
            <a:extLst xmlns:a="http://schemas.openxmlformats.org/drawingml/2006/main">
              <a:ext uri="{FF2B5EF4-FFF2-40B4-BE49-F238E27FC236}">
                <a16:creationId xmlns:a16="http://schemas.microsoft.com/office/drawing/2014/main" id="{5E0B8464-02EF-4717-A094-5039CBC355F5}"/>
              </a:ext>
            </a:extLst>
          </p:cNvPr>
          <p:cNvSpPr>
            <a:spLocks xmlns:a="http://schemas.openxmlformats.org/drawingml/2006/main" noGrp="1"/>
          </p:cNvSpPr>
          <p:nvPr/>
        </p:nvSpPr>
        <p:spPr>
          <a:xfrm xmlns:a="http://schemas.openxmlformats.org/drawingml/2006/main">
            <a:off x="609600" y="56007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36974"/>
                </a:solidFill>
                <a:latin typeface="Arial"/>
                <a:ea typeface="Arial"/>
                <a:cs typeface="Arial"/>
              </a:defRPr>
            </a:pPr>
            <a:r>
              <a:rPr sz="1875" b="0">
                <a:solidFill>
                  <a:srgbClr val="536974"/>
                </a:solidFill>
                <a:latin typeface="Arial"/>
                <a:ea typeface="Arial"/>
                <a:cs typeface="Arial"/>
              </a:rPr>
              <a:t>A suitable bounded mechanism can satisfy DP itself. Gaussian noise added on top removes the hard bound on total noise.</a:t>
            </a:r>
          </a:p>
        </p:txBody>
      </p:sp>
    </p:spTree>
    <p:extLst>
      <p:ext uri="{BB962C8B-B14F-4D97-AF65-F5344CB8AC3E}">
        <p14:creationId xmlns:p14="http://schemas.microsoft.com/office/powerpoint/2010/main" val="1382875555"/>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CCC0AD-6371-4636-89DF-966EEC5958E1}"/>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Shared authority with small measured overhead</a:t>
            </a:r>
          </a:p>
        </p:txBody>
      </p:sp>
      <p:sp>
        <p:nvSpPr>
          <p:cNvPr id="2" name="">
            <a:extLst xmlns:a="http://schemas.openxmlformats.org/drawingml/2006/main">
              <a:ext uri="{FF2B5EF4-FFF2-40B4-BE49-F238E27FC236}">
                <a16:creationId xmlns:a16="http://schemas.microsoft.com/office/drawing/2014/main" id="{D040C378-6EC3-4D3C-B709-AEE01C5153F5}"/>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Proposed configuration and published benchmark use different numbers of authorities.</a:t>
            </a:r>
          </a:p>
        </p:txBody>
      </p:sp>
      <p:sp>
        <p:nvSpPr>
          <p:cNvPr id="3" name="">
            <a:extLst xmlns:a="http://schemas.openxmlformats.org/drawingml/2006/main">
              <a:ext uri="{FF2B5EF4-FFF2-40B4-BE49-F238E27FC236}">
                <a16:creationId xmlns:a16="http://schemas.microsoft.com/office/drawing/2014/main" id="{11B67783-8784-4EEF-B93A-FB730E35ECAA}"/>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4</a:t>
            </a:r>
          </a:p>
        </p:txBody>
      </p:sp>
      <p:graphicFrame>
        <p:nvGraphicFramePr>
          <p:cNvPr id="10" name=""/>
          <p:cNvGraphicFramePr/>
          <p:nvPr/>
        </p:nvGraphicFramePr>
        <p:xfrm>
          <a:off xmlns:a="http://schemas.openxmlformats.org/drawingml/2006/main" x="609600" y="2095500"/>
          <a:ext xmlns:a="http://schemas.openxmlformats.org/drawingml/2006/main" cx="10972800" cy="3048000"/>
        </p:xfrm>
        <a:graphic xmlns:a="http://schemas.openxmlformats.org/drawingml/2006/main">
          <a:graphicData uri="http://schemas.openxmlformats.org/drawingml/2006/table">
            <a:tbl>
              <a:tblPr/>
              <a:tblGrid>
                <a:gridCol w="2190750"/>
                <a:gridCol w="5715000"/>
                <a:gridCol w="3067050"/>
              </a:tblGrid>
              <a:tr h="762000">
                <a:tc>
                  <a:txBody>
                    <a:bodyPr/>
                    <a:lstStyle/>
                    <a:p>
                      <a:r>
                        <a:rPr sz="1875" b="1">
                          <a:solidFill>
                            <a:srgbClr val="FFFFFF"/>
                          </a:solidFill>
                          <a:latin typeface="Arial"/>
                          <a:ea typeface="Arial"/>
                          <a:cs typeface="Arial"/>
                        </a:rPr>
                        <a:t>Number</a:t>
                      </a:r>
                    </a:p>
                  </a:txBody>
                  <a:tcPr marL="91440" marR="91440" marT="45720" marB="45720">
                    <a:solidFill>
                      <a:srgbClr val="102C3C"/>
                    </a:solidFill>
                  </a:tcPr>
                </a:tc>
                <a:tc>
                  <a:txBody>
                    <a:bodyPr/>
                    <a:lstStyle/>
                    <a:p>
                      <a:r>
                        <a:rPr sz="1875" b="1">
                          <a:solidFill>
                            <a:srgbClr val="FFFFFF"/>
                          </a:solidFill>
                          <a:latin typeface="Arial"/>
                          <a:ea typeface="Arial"/>
                          <a:cs typeface="Arial"/>
                        </a:rPr>
                        <a:t>Meaning</a:t>
                      </a:r>
                    </a:p>
                  </a:txBody>
                  <a:tcPr marL="91440" marR="91440" marT="45720" marB="45720">
                    <a:solidFill>
                      <a:srgbClr val="102C3C"/>
                    </a:solidFill>
                  </a:tcPr>
                </a:tc>
                <a:tc>
                  <a:txBody>
                    <a:bodyPr/>
                    <a:lstStyle/>
                    <a:p>
                      <a:r>
                        <a:rPr sz="1875" b="1">
                          <a:solidFill>
                            <a:srgbClr val="FFFFFF"/>
                          </a:solidFill>
                          <a:latin typeface="Arial"/>
                          <a:ea typeface="Arial"/>
                          <a:cs typeface="Arial"/>
                        </a:rPr>
                        <a:t>Evidence</a:t>
                      </a:r>
                    </a:p>
                  </a:txBody>
                  <a:tcPr marL="91440" marR="91440" marT="45720" marB="45720">
                    <a:solidFill>
                      <a:srgbClr val="102C3C"/>
                    </a:solidFill>
                  </a:tcPr>
                </a:tc>
              </a:tr>
              <a:tr h="762000">
                <a:tc>
                  <a:txBody>
                    <a:bodyPr/>
                    <a:lstStyle/>
                    <a:p>
                      <a:r>
                        <a:rPr sz="1875" b="0">
                          <a:solidFill>
                            <a:srgbClr val="102C3C"/>
                          </a:solidFill>
                          <a:latin typeface="Arial"/>
                          <a:ea typeface="Arial"/>
                          <a:cs typeface="Arial"/>
                        </a:rPr>
                        <a:t>3 of 5</a:t>
                      </a:r>
                    </a:p>
                  </a:txBody>
                  <a:tcPr marL="91440" marR="91440" marT="45720" marB="45720">
                    <a:solidFill>
                      <a:srgbClr val="FFFFFF"/>
                    </a:solidFill>
                  </a:tcPr>
                </a:tc>
                <a:tc>
                  <a:txBody>
                    <a:bodyPr/>
                    <a:lstStyle/>
                    <a:p>
                      <a:r>
                        <a:rPr sz="1875" b="0">
                          <a:solidFill>
                            <a:srgbClr val="102C3C"/>
                          </a:solidFill>
                          <a:latin typeface="Arial"/>
                          <a:ea typeface="Arial"/>
                          <a:cs typeface="Arial"/>
                        </a:rPr>
                        <a:t>Three cooperate to decrypt.</a:t>
                      </a:r>
                    </a:p>
                    <a:p>
                      <a:r>
                        <a:rPr sz="1875" b="0">
                          <a:solidFill>
                            <a:srgbClr val="102C3C"/>
                          </a:solidFill>
                          <a:latin typeface="Arial"/>
                          <a:ea typeface="Arial"/>
                          <a:cs typeface="Arial"/>
                        </a:rPr>
                        <a:t>Two may be offline.</a:t>
                      </a:r>
                    </a:p>
                  </a:txBody>
                  <a:tcPr marL="91440" marR="91440" marT="45720" marB="45720">
                    <a:solidFill>
                      <a:srgbClr val="FFFFFF"/>
                    </a:solidFill>
                  </a:tcPr>
                </a:tc>
                <a:tc>
                  <a:txBody>
                    <a:bodyPr/>
                    <a:lstStyle/>
                    <a:p>
                      <a:r>
                        <a:rPr sz="1875" b="0">
                          <a:solidFill>
                            <a:srgbClr val="102C3C"/>
                          </a:solidFill>
                          <a:latin typeface="Arial"/>
                          <a:ea typeface="Arial"/>
                          <a:cs typeface="Arial"/>
                        </a:rPr>
                        <a:t>Proposed setting</a:t>
                      </a:r>
                    </a:p>
                  </a:txBody>
                  <a:tcPr marL="91440" marR="91440" marT="45720" marB="45720">
                    <a:solidFill>
                      <a:srgbClr val="FFFFFF"/>
                    </a:solidFill>
                  </a:tcPr>
                </a:tc>
              </a:tr>
              <a:tr h="762000">
                <a:tc>
                  <a:txBody>
                    <a:bodyPr/>
                    <a:lstStyle/>
                    <a:p>
                      <a:r>
                        <a:rPr sz="1875" b="0">
                          <a:solidFill>
                            <a:srgbClr val="102C3C"/>
                          </a:solidFill>
                          <a:latin typeface="Arial"/>
                          <a:ea typeface="Arial"/>
                          <a:cs typeface="Arial"/>
                        </a:rPr>
                        <a:t>12.0 ms</a:t>
                      </a:r>
                    </a:p>
                  </a:txBody>
                  <a:tcPr marL="91440" marR="91440" marT="45720" marB="45720">
                    <a:solidFill>
                      <a:srgbClr val="EDF3F0"/>
                    </a:solidFill>
                  </a:tcPr>
                </a:tc>
                <a:tc>
                  <a:txBody>
                    <a:bodyPr/>
                    <a:lstStyle/>
                    <a:p>
                      <a:r>
                        <a:rPr sz="1875" b="0">
                          <a:solidFill>
                            <a:srgbClr val="102C3C"/>
                          </a:solidFill>
                          <a:latin typeface="Arial"/>
                          <a:ea typeface="Arial"/>
                          <a:cs typeface="Arial"/>
                        </a:rPr>
                        <a:t>One authority creates its</a:t>
                      </a:r>
                    </a:p>
                    <a:p>
                      <a:r>
                        <a:rPr sz="1875" b="0">
                          <a:solidFill>
                            <a:srgbClr val="102C3C"/>
                          </a:solidFill>
                          <a:latin typeface="Arial"/>
                          <a:ea typeface="Arial"/>
                          <a:cs typeface="Arial"/>
                        </a:rPr>
                        <a:t>decryption share.</a:t>
                      </a:r>
                    </a:p>
                  </a:txBody>
                  <a:tcPr marL="91440" marR="91440" marT="45720" marB="45720">
                    <a:solidFill>
                      <a:srgbClr val="EDF3F0"/>
                    </a:solidFill>
                  </a:tcPr>
                </a:tc>
                <a:tc>
                  <a:txBody>
                    <a:bodyPr/>
                    <a:lstStyle/>
                    <a:p>
                      <a:r>
                        <a:rPr sz="1875" b="0">
                          <a:solidFill>
                            <a:srgbClr val="102C3C"/>
                          </a:solidFill>
                          <a:latin typeface="Arial"/>
                          <a:ea typeface="Arial"/>
                          <a:cs typeface="Arial"/>
                        </a:rPr>
                        <a:t>Paper benchmark</a:t>
                      </a:r>
                    </a:p>
                  </a:txBody>
                  <a:tcPr marL="91440" marR="91440" marT="45720" marB="45720">
                    <a:solidFill>
                      <a:srgbClr val="EDF3F0"/>
                    </a:solidFill>
                  </a:tcPr>
                </a:tc>
              </a:tr>
              <a:tr h="762000">
                <a:tc>
                  <a:txBody>
                    <a:bodyPr/>
                    <a:lstStyle/>
                    <a:p>
                      <a:r>
                        <a:rPr sz="1875" b="0">
                          <a:solidFill>
                            <a:srgbClr val="102C3C"/>
                          </a:solidFill>
                          <a:latin typeface="Arial"/>
                          <a:ea typeface="Arial"/>
                          <a:cs typeface="Arial"/>
                        </a:rPr>
                        <a:t>0.4 ms</a:t>
                      </a:r>
                    </a:p>
                  </a:txBody>
                  <a:tcPr marL="91440" marR="91440" marT="45720" marB="45720">
                    <a:solidFill>
                      <a:srgbClr val="FFFFFF"/>
                    </a:solidFill>
                  </a:tcPr>
                </a:tc>
                <a:tc>
                  <a:txBody>
                    <a:bodyPr/>
                    <a:lstStyle/>
                    <a:p>
                      <a:r>
                        <a:rPr sz="1875" b="0">
                          <a:solidFill>
                            <a:srgbClr val="102C3C"/>
                          </a:solidFill>
                          <a:latin typeface="Arial"/>
                          <a:ea typeface="Arial"/>
                          <a:cs typeface="Arial"/>
                        </a:rPr>
                        <a:t>Threshold preparation within</a:t>
                      </a:r>
                    </a:p>
                    <a:p>
                      <a:r>
                        <a:rPr sz="1875" b="0">
                          <a:solidFill>
                            <a:srgbClr val="102C3C"/>
                          </a:solidFill>
                          <a:latin typeface="Arial"/>
                          <a:ea typeface="Arial"/>
                          <a:cs typeface="Arial"/>
                        </a:rPr>
                        <a:t>those 12 ms, about 3.3%.</a:t>
                      </a:r>
                    </a:p>
                  </a:txBody>
                  <a:tcPr marL="91440" marR="91440" marT="45720" marB="45720">
                    <a:solidFill>
                      <a:srgbClr val="FFFFFF"/>
                    </a:solidFill>
                  </a:tcPr>
                </a:tc>
                <a:tc>
                  <a:txBody>
                    <a:bodyPr/>
                    <a:lstStyle/>
                    <a:p>
                      <a:r>
                        <a:rPr sz="1875" b="0">
                          <a:solidFill>
                            <a:srgbClr val="102C3C"/>
                          </a:solidFill>
                          <a:latin typeface="Arial"/>
                          <a:ea typeface="Arial"/>
                          <a:cs typeface="Arial"/>
                        </a:rPr>
                        <a:t>Paper benchmark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F57FCF3-7C12-447B-9C7E-6D105C090CC7}"/>
              </a:ext>
            </a:extLst>
          </p:cNvPr>
          <p:cNvSpPr>
            <a:spLocks xmlns:a="http://schemas.openxmlformats.org/drawingml/2006/main" noGrp="1"/>
          </p:cNvSpPr>
          <p:nvPr/>
        </p:nvSpPr>
        <p:spPr>
          <a:xfrm xmlns:a="http://schemas.openxmlformats.org/drawingml/2006/main">
            <a:off x="609600" y="53911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Benchmark: 7 of 20 authorities, parameter set III, Ryzen 9 5900X.</a:t>
            </a:r>
          </a:p>
        </p:txBody>
      </p:sp>
      <p:sp>
        <p:nvSpPr>
          <p:cNvPr id="6" name="">
            <a:extLst xmlns:a="http://schemas.openxmlformats.org/drawingml/2006/main">
              <a:ext uri="{FF2B5EF4-FFF2-40B4-BE49-F238E27FC236}">
                <a16:creationId xmlns:a16="http://schemas.microsoft.com/office/drawing/2014/main" id="{868FBB8D-52EC-477B-BCD6-E55A58C25618}"/>
              </a:ext>
            </a:extLst>
          </p:cNvPr>
          <p:cNvSpPr>
            <a:spLocks xmlns:a="http://schemas.openxmlformats.org/drawingml/2006/main" noGrp="1"/>
          </p:cNvSpPr>
          <p:nvPr/>
        </p:nvSpPr>
        <p:spPr>
          <a:xfrm xmlns:a="http://schemas.openxmlformats.org/drawingml/2006/main">
            <a:off x="609600" y="5905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37D7C"/>
                </a:solidFill>
                <a:latin typeface="Arial"/>
                <a:ea typeface="Arial"/>
                <a:cs typeface="Arial"/>
              </a:defRPr>
            </a:pPr>
            <a:r>
              <a:rPr sz="1875" b="1">
                <a:solidFill>
                  <a:srgbClr val="137D7C"/>
                </a:solidFill>
                <a:latin typeface="Arial"/>
                <a:ea typeface="Arial"/>
                <a:cs typeface="Arial"/>
              </a:rPr>
              <a:t>This measures local computation, not total grid or network latency.</a:t>
            </a:r>
          </a:p>
        </p:txBody>
      </p:sp>
    </p:spTree>
    <p:extLst>
      <p:ext uri="{BB962C8B-B14F-4D97-AF65-F5344CB8AC3E}">
        <p14:creationId xmlns:p14="http://schemas.microsoft.com/office/powerpoint/2010/main" val="83587181"/>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E16D8D-0520-4C03-BB9B-24A4F9D0A14F}"/>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Batching targets the current bottleneck</a:t>
            </a:r>
          </a:p>
        </p:txBody>
      </p:sp>
      <p:sp>
        <p:nvSpPr>
          <p:cNvPr id="2" name="">
            <a:extLst xmlns:a="http://schemas.openxmlformats.org/drawingml/2006/main">
              <a:ext uri="{FF2B5EF4-FFF2-40B4-BE49-F238E27FC236}">
                <a16:creationId xmlns:a16="http://schemas.microsoft.com/office/drawing/2014/main" id="{F9512BB0-4397-4545-81D1-52F8B5374C49}"/>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Recorded Paillier baseline: 91 load rows, 10 simulated meters per row, 4 time samples.</a:t>
            </a:r>
          </a:p>
        </p:txBody>
      </p:sp>
      <p:sp>
        <p:nvSpPr>
          <p:cNvPr id="3" name="">
            <a:extLst xmlns:a="http://schemas.openxmlformats.org/drawingml/2006/main">
              <a:ext uri="{FF2B5EF4-FFF2-40B4-BE49-F238E27FC236}">
                <a16:creationId xmlns:a16="http://schemas.microsoft.com/office/drawing/2014/main" id="{AEDE540B-3522-4A40-A700-F6CC62D7FE69}"/>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68DC8CEC-76A4-4CAF-86C1-71836BA4C78D}"/>
              </a:ext>
            </a:extLst>
          </p:cNvPr>
          <p:cNvSpPr>
            <a:spLocks xmlns:a="http://schemas.openxmlformats.org/drawingml/2006/main" noGrp="1"/>
          </p:cNvSpPr>
          <p:nvPr/>
        </p:nvSpPr>
        <p:spPr>
          <a:xfrm xmlns:a="http://schemas.openxmlformats.org/drawingml/2006/main">
            <a:off x="609600" y="2276475"/>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050" b="1">
                <a:solidFill>
                  <a:srgbClr val="137D7C"/>
                </a:solidFill>
                <a:latin typeface="Arial"/>
                <a:ea typeface="Arial"/>
                <a:cs typeface="Arial"/>
              </a:defRPr>
            </a:pPr>
            <a:r>
              <a:rPr sz="7050" b="1">
                <a:solidFill>
                  <a:srgbClr val="137D7C"/>
                </a:solidFill>
                <a:latin typeface="Arial"/>
                <a:ea typeface="Arial"/>
                <a:cs typeface="Arial"/>
              </a:rPr>
              <a:t>99.4%</a:t>
            </a:r>
          </a:p>
        </p:txBody>
      </p:sp>
      <p:sp>
        <p:nvSpPr>
          <p:cNvPr id="5" name="">
            <a:extLst xmlns:a="http://schemas.openxmlformats.org/drawingml/2006/main">
              <a:ext uri="{FF2B5EF4-FFF2-40B4-BE49-F238E27FC236}">
                <a16:creationId xmlns:a16="http://schemas.microsoft.com/office/drawing/2014/main" id="{E0E02653-A8B0-4209-8914-2B87C73F63B3}"/>
              </a:ext>
            </a:extLst>
          </p:cNvPr>
          <p:cNvSpPr>
            <a:spLocks xmlns:a="http://schemas.openxmlformats.org/drawingml/2006/main" noGrp="1"/>
          </p:cNvSpPr>
          <p:nvPr/>
        </p:nvSpPr>
        <p:spPr>
          <a:xfrm xmlns:a="http://schemas.openxmlformats.org/drawingml/2006/main">
            <a:off x="609600" y="357187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of fitting time spent</a:t>
            </a:r>
          </a:p>
          <a:p xmlns:a="http://schemas.openxmlformats.org/drawingml/2006/main">
            <a:pPr>
              <a:defRPr sz="2400" b="1">
                <a:solidFill>
                  <a:srgbClr val="102C3C"/>
                </a:solidFill>
                <a:latin typeface="Arial"/>
                <a:ea typeface="Arial"/>
                <a:cs typeface="Arial"/>
              </a:defRPr>
            </a:pPr>
            <a:r>
              <a:rPr sz="2400" b="1">
                <a:solidFill>
                  <a:srgbClr val="102C3C"/>
                </a:solidFill>
                <a:latin typeface="Arial"/>
                <a:ea typeface="Arial"/>
                <a:cs typeface="Arial"/>
              </a:rPr>
              <a:t>on encryption</a:t>
            </a:r>
          </a:p>
        </p:txBody>
      </p:sp>
      <p:sp>
        <p:nvSpPr>
          <p:cNvPr id="6" name="">
            <a:extLst xmlns:a="http://schemas.openxmlformats.org/drawingml/2006/main">
              <a:ext uri="{FF2B5EF4-FFF2-40B4-BE49-F238E27FC236}">
                <a16:creationId xmlns:a16="http://schemas.microsoft.com/office/drawing/2014/main" id="{9085FA0E-BE06-40F3-AA4D-4299CEB620CC}"/>
              </a:ext>
            </a:extLst>
          </p:cNvPr>
          <p:cNvSpPr>
            <a:spLocks xmlns:a="http://schemas.openxmlformats.org/drawingml/2006/main" noGrp="1"/>
          </p:cNvSpPr>
          <p:nvPr/>
        </p:nvSpPr>
        <p:spPr>
          <a:xfrm xmlns:a="http://schemas.openxmlformats.org/drawingml/2006/main">
            <a:off x="5905500" y="2352675"/>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75" b="1">
                <a:solidFill>
                  <a:srgbClr val="102C3C"/>
                </a:solidFill>
                <a:latin typeface="Arial"/>
                <a:ea typeface="Arial"/>
                <a:cs typeface="Arial"/>
              </a:defRPr>
            </a:pPr>
            <a:r>
              <a:rPr sz="3075" b="1">
                <a:solidFill>
                  <a:srgbClr val="102C3C"/>
                </a:solidFill>
                <a:latin typeface="Arial"/>
                <a:ea typeface="Arial"/>
                <a:cs typeface="Arial"/>
              </a:rPr>
              <a:t>214.25 s encryption</a:t>
            </a:r>
          </a:p>
        </p:txBody>
      </p:sp>
      <p:sp>
        <p:nvSpPr>
          <p:cNvPr id="7" name="">
            <a:extLst xmlns:a="http://schemas.openxmlformats.org/drawingml/2006/main">
              <a:ext uri="{FF2B5EF4-FFF2-40B4-BE49-F238E27FC236}">
                <a16:creationId xmlns:a16="http://schemas.microsoft.com/office/drawing/2014/main" id="{4F08BD81-9294-489B-B5F2-D05D46D18D28}"/>
              </a:ext>
            </a:extLst>
          </p:cNvPr>
          <p:cNvSpPr>
            <a:spLocks xmlns:a="http://schemas.openxmlformats.org/drawingml/2006/main" noGrp="1"/>
          </p:cNvSpPr>
          <p:nvPr/>
        </p:nvSpPr>
        <p:spPr>
          <a:xfrm xmlns:a="http://schemas.openxmlformats.org/drawingml/2006/main">
            <a:off x="5905500" y="3162300"/>
            <a:ext cx="561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75" b="1">
                <a:solidFill>
                  <a:srgbClr val="102C3C"/>
                </a:solidFill>
                <a:latin typeface="Arial"/>
                <a:ea typeface="Arial"/>
                <a:cs typeface="Arial"/>
              </a:defRPr>
            </a:pPr>
            <a:r>
              <a:rPr sz="3075" b="1">
                <a:solidFill>
                  <a:srgbClr val="102C3C"/>
                </a:solidFill>
                <a:latin typeface="Arial"/>
                <a:ea typeface="Arial"/>
                <a:cs typeface="Arial"/>
              </a:rPr>
              <a:t>215.54 s total fit</a:t>
            </a:r>
          </a:p>
        </p:txBody>
      </p:sp>
      <p:sp>
        <p:nvSpPr>
          <p:cNvPr id="8" name="">
            <a:extLst xmlns:a="http://schemas.openxmlformats.org/drawingml/2006/main">
              <a:ext uri="{FF2B5EF4-FFF2-40B4-BE49-F238E27FC236}">
                <a16:creationId xmlns:a16="http://schemas.microsoft.com/office/drawing/2014/main" id="{AC427ECA-A186-4A62-9D0F-B9A6D542C06E}"/>
              </a:ext>
            </a:extLst>
          </p:cNvPr>
          <p:cNvSpPr>
            <a:spLocks xmlns:a="http://schemas.openxmlformats.org/drawingml/2006/main" noGrp="1"/>
          </p:cNvSpPr>
          <p:nvPr/>
        </p:nvSpPr>
        <p:spPr>
          <a:xfrm xmlns:a="http://schemas.openxmlformats.org/drawingml/2006/main">
            <a:off x="5905500" y="4143375"/>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37D7C"/>
                </a:solidFill>
                <a:latin typeface="Arial"/>
                <a:ea typeface="Arial"/>
                <a:cs typeface="Arial"/>
              </a:defRPr>
            </a:pPr>
            <a:r>
              <a:rPr sz="2400" b="1">
                <a:solidFill>
                  <a:srgbClr val="137D7C"/>
                </a:solidFill>
                <a:latin typeface="Arial"/>
                <a:ea typeface="Arial"/>
                <a:cs typeface="Arial"/>
              </a:rPr>
              <a:t>4,752 values per meter</a:t>
            </a:r>
          </a:p>
          <a:p xmlns:a="http://schemas.openxmlformats.org/drawingml/2006/main">
            <a:pPr>
              <a:defRPr sz="2400" b="1">
                <a:solidFill>
                  <a:srgbClr val="137D7C"/>
                </a:solidFill>
                <a:latin typeface="Arial"/>
                <a:ea typeface="Arial"/>
                <a:cs typeface="Arial"/>
              </a:defRPr>
            </a:pPr>
            <a:r>
              <a:rPr sz="2400" b="1">
                <a:solidFill>
                  <a:srgbClr val="137D7C"/>
                </a:solidFill>
                <a:latin typeface="Arial"/>
                <a:ea typeface="Arial"/>
                <a:cs typeface="Arial"/>
              </a:rPr>
              <a:t>for a 96-sample fit</a:t>
            </a:r>
          </a:p>
        </p:txBody>
      </p:sp>
      <p:sp>
        <p:nvSpPr>
          <p:cNvPr id="9" name="">
            <a:extLst xmlns:a="http://schemas.openxmlformats.org/drawingml/2006/main">
              <a:ext uri="{FF2B5EF4-FFF2-40B4-BE49-F238E27FC236}">
                <a16:creationId xmlns:a16="http://schemas.microsoft.com/office/drawing/2014/main" id="{2C8DED1A-0E2D-4961-9FFC-79BA27715BA8}"/>
              </a:ext>
            </a:extLst>
          </p:cNvPr>
          <p:cNvSpPr>
            <a:spLocks xmlns:a="http://schemas.openxmlformats.org/drawingml/2006/main" noGrp="1"/>
          </p:cNvSpPr>
          <p:nvPr/>
        </p:nvSpPr>
        <p:spPr>
          <a:xfrm xmlns:a="http://schemas.openxmlformats.org/drawingml/2006/main">
            <a:off x="609600" y="5524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02C3C"/>
                </a:solidFill>
                <a:latin typeface="Arial"/>
                <a:ea typeface="Arial"/>
                <a:cs typeface="Arial"/>
              </a:defRPr>
            </a:pPr>
            <a:r>
              <a:rPr sz="2025" b="1">
                <a:solidFill>
                  <a:srgbClr val="102C3C"/>
                </a:solidFill>
                <a:latin typeface="Arial"/>
                <a:ea typeface="Arial"/>
                <a:cs typeface="Arial"/>
              </a:rPr>
              <a:t>Packed BGV could encrypt many values together. The speedup remains unmeasured.</a:t>
            </a:r>
          </a:p>
        </p:txBody>
      </p:sp>
    </p:spTree>
    <p:extLst>
      <p:ext uri="{BB962C8B-B14F-4D97-AF65-F5344CB8AC3E}">
        <p14:creationId xmlns:p14="http://schemas.microsoft.com/office/powerpoint/2010/main" val="201091180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BD973A-B5DB-4BD1-88E9-EB3B81541A80}"/>
              </a:ext>
            </a:extLst>
          </p:cNvPr>
          <p:cNvSpPr>
            <a:spLocks xmlns:a="http://schemas.openxmlformats.org/drawingml/2006/main" noGrp="1"/>
          </p:cNvSpPr>
          <p:nvPr/>
        </p:nvSpPr>
        <p:spPr>
          <a:xfrm xmlns:a="http://schemas.openxmlformats.org/drawingml/2006/main">
            <a:off x="609600" y="4286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02C3C"/>
                </a:solidFill>
                <a:latin typeface="Arial"/>
                <a:ea typeface="Arial"/>
                <a:cs typeface="Arial"/>
              </a:defRPr>
            </a:pPr>
            <a:r>
              <a:rPr sz="3450" b="1">
                <a:solidFill>
                  <a:srgbClr val="102C3C"/>
                </a:solidFill>
                <a:latin typeface="Arial"/>
                <a:ea typeface="Arial"/>
                <a:cs typeface="Arial"/>
              </a:rPr>
              <a:t>The measurements that will decide success</a:t>
            </a:r>
          </a:p>
        </p:txBody>
      </p:sp>
      <p:sp>
        <p:nvSpPr>
          <p:cNvPr id="2" name="">
            <a:extLst xmlns:a="http://schemas.openxmlformats.org/drawingml/2006/main">
              <a:ext uri="{FF2B5EF4-FFF2-40B4-BE49-F238E27FC236}">
                <a16:creationId xmlns:a16="http://schemas.microsoft.com/office/drawing/2014/main" id="{1F5C0F5B-6629-4DC3-A8DA-4ACA8FF57D83}"/>
              </a:ext>
            </a:extLst>
          </p:cNvPr>
          <p:cNvSpPr>
            <a:spLocks xmlns:a="http://schemas.openxmlformats.org/drawingml/2006/main" noGrp="1"/>
          </p:cNvSpPr>
          <p:nvPr/>
        </p:nvSpPr>
        <p:spPr>
          <a:xfrm xmlns:a="http://schemas.openxmlformats.org/drawingml/2006/main">
            <a:off x="609600" y="1285875"/>
            <a:ext cx="1090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36974"/>
                </a:solidFill>
                <a:latin typeface="Arial"/>
                <a:ea typeface="Arial"/>
                <a:cs typeface="Arial"/>
              </a:defRPr>
            </a:pPr>
            <a:r>
              <a:rPr sz="1950" b="0">
                <a:solidFill>
                  <a:srgbClr val="536974"/>
                </a:solidFill>
                <a:latin typeface="Arial"/>
                <a:ea typeface="Arial"/>
                <a:cs typeface="Arial"/>
              </a:rPr>
              <a:t>The best settings must balance privacy, availability and voltage quality.</a:t>
            </a:r>
          </a:p>
        </p:txBody>
      </p:sp>
      <p:sp>
        <p:nvSpPr>
          <p:cNvPr id="3" name="">
            <a:extLst xmlns:a="http://schemas.openxmlformats.org/drawingml/2006/main">
              <a:ext uri="{FF2B5EF4-FFF2-40B4-BE49-F238E27FC236}">
                <a16:creationId xmlns:a16="http://schemas.microsoft.com/office/drawing/2014/main" id="{475F2AA1-C4A1-4E56-8F94-7861F44EB80B}"/>
              </a:ext>
            </a:extLst>
          </p:cNvPr>
          <p:cNvSpPr>
            <a:spLocks xmlns:a="http://schemas.openxmlformats.org/drawingml/2006/main" noGrp="1"/>
          </p:cNvSpPr>
          <p:nvPr/>
        </p:nvSpPr>
        <p:spPr>
          <a:xfrm xmlns:a="http://schemas.openxmlformats.org/drawingml/2006/main">
            <a:off x="11049000" y="63436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974"/>
                </a:solidFill>
                <a:latin typeface="Arial"/>
                <a:ea typeface="Arial"/>
                <a:cs typeface="Arial"/>
              </a:defRPr>
            </a:pPr>
            <a:r>
              <a:rPr sz="1500" b="0">
                <a:solidFill>
                  <a:srgbClr val="536974"/>
                </a:solidFill>
                <a:latin typeface="Arial"/>
                <a:ea typeface="Arial"/>
                <a:cs typeface="Arial"/>
              </a:rPr>
              <a:t>6</a:t>
            </a:r>
          </a:p>
        </p:txBody>
      </p:sp>
      <p:graphicFrame>
        <p:nvGraphicFramePr>
          <p:cNvPr id="10" name=""/>
          <p:cNvGraphicFramePr/>
          <p:nvPr/>
        </p:nvGraphicFramePr>
        <p:xfrm>
          <a:off xmlns:a="http://schemas.openxmlformats.org/drawingml/2006/main" x="609600" y="2095500"/>
          <a:ext xmlns:a="http://schemas.openxmlformats.org/drawingml/2006/main" cx="10972800" cy="3143250"/>
        </p:xfrm>
        <a:graphic xmlns:a="http://schemas.openxmlformats.org/drawingml/2006/main">
          <a:graphicData uri="http://schemas.openxmlformats.org/drawingml/2006/table">
            <a:tbl>
              <a:tblPr/>
              <a:tblGrid>
                <a:gridCol w="3429000"/>
                <a:gridCol w="7543800"/>
              </a:tblGrid>
              <a:tr h="785813">
                <a:tc>
                  <a:txBody>
                    <a:bodyPr/>
                    <a:lstStyle/>
                    <a:p>
                      <a:r>
                        <a:rPr sz="1875" b="1">
                          <a:solidFill>
                            <a:srgbClr val="FFFFFF"/>
                          </a:solidFill>
                          <a:latin typeface="Arial"/>
                          <a:ea typeface="Arial"/>
                          <a:cs typeface="Arial"/>
                        </a:rPr>
                        <a:t>Measure</a:t>
                      </a:r>
                    </a:p>
                  </a:txBody>
                  <a:tcPr marL="91440" marR="91440" marT="45720" marB="45720">
                    <a:solidFill>
                      <a:srgbClr val="102C3C"/>
                    </a:solidFill>
                  </a:tcPr>
                </a:tc>
                <a:tc>
                  <a:txBody>
                    <a:bodyPr/>
                    <a:lstStyle/>
                    <a:p>
                      <a:r>
                        <a:rPr sz="1875" b="1">
                          <a:solidFill>
                            <a:srgbClr val="FFFFFF"/>
                          </a:solidFill>
                          <a:latin typeface="Arial"/>
                          <a:ea typeface="Arial"/>
                          <a:cs typeface="Arial"/>
                        </a:rPr>
                        <a:t>What a good result means</a:t>
                      </a:r>
                    </a:p>
                  </a:txBody>
                  <a:tcPr marL="91440" marR="91440" marT="45720" marB="45720">
                    <a:solidFill>
                      <a:srgbClr val="102C3C"/>
                    </a:solidFill>
                  </a:tcPr>
                </a:tc>
              </a:tr>
              <a:tr h="785813">
                <a:tc>
                  <a:txBody>
                    <a:bodyPr/>
                    <a:lstStyle/>
                    <a:p>
                      <a:r>
                        <a:rPr sz="1875" b="0">
                          <a:solidFill>
                            <a:srgbClr val="102C3C"/>
                          </a:solidFill>
                          <a:latin typeface="Arial"/>
                          <a:ea typeface="Arial"/>
                          <a:cs typeface="Arial"/>
                        </a:rPr>
                        <a:t>Privacy: ε, δ and bound B</a:t>
                      </a:r>
                    </a:p>
                  </a:txBody>
                  <a:tcPr marL="91440" marR="91440" marT="45720" marB="45720">
                    <a:solidFill>
                      <a:srgbClr val="FFFFFF"/>
                    </a:solidFill>
                  </a:tcPr>
                </a:tc>
                <a:tc>
                  <a:txBody>
                    <a:bodyPr/>
                    <a:lstStyle/>
                    <a:p>
                      <a:r>
                        <a:rPr sz="1875" b="0">
                          <a:solidFill>
                            <a:srgbClr val="102C3C"/>
                          </a:solidFill>
                          <a:latin typeface="Arial"/>
                          <a:ea typeface="Arial"/>
                          <a:cs typeface="Arial"/>
                        </a:rPr>
                        <a:t>A proved budget and bounded perturbation</a:t>
                      </a:r>
                    </a:p>
                    <a:p>
                      <a:r>
                        <a:rPr sz="1875" b="0">
                          <a:solidFill>
                            <a:srgbClr val="102C3C"/>
                          </a:solidFill>
                          <a:latin typeface="Arial"/>
                          <a:ea typeface="Arial"/>
                          <a:cs typeface="Arial"/>
                        </a:rPr>
                        <a:t>under the stated honest-survivor count.</a:t>
                      </a:r>
                    </a:p>
                  </a:txBody>
                  <a:tcPr marL="91440" marR="91440" marT="45720" marB="45720">
                    <a:solidFill>
                      <a:srgbClr val="FFFFFF"/>
                    </a:solidFill>
                  </a:tcPr>
                </a:tc>
              </a:tr>
              <a:tr h="785813">
                <a:tc>
                  <a:txBody>
                    <a:bodyPr/>
                    <a:lstStyle/>
                    <a:p>
                      <a:r>
                        <a:rPr sz="1875" b="0">
                          <a:solidFill>
                            <a:srgbClr val="102C3C"/>
                          </a:solidFill>
                          <a:latin typeface="Arial"/>
                          <a:ea typeface="Arial"/>
                          <a:cs typeface="Arial"/>
                        </a:rPr>
                        <a:t>Voltage quality</a:t>
                      </a:r>
                    </a:p>
                  </a:txBody>
                  <a:tcPr marL="91440" marR="91440" marT="45720" marB="45720">
                    <a:solidFill>
                      <a:srgbClr val="EDF3F0"/>
                    </a:solidFill>
                  </a:tcPr>
                </a:tc>
                <a:tc>
                  <a:txBody>
                    <a:bodyPr/>
                    <a:lstStyle/>
                    <a:p>
                      <a:r>
                        <a:rPr sz="1875" b="0">
                          <a:solidFill>
                            <a:srgbClr val="102C3C"/>
                          </a:solidFill>
                          <a:latin typeface="Arial"/>
                          <a:ea typeface="Arial"/>
                          <a:cs typeface="Arial"/>
                        </a:rPr>
                        <a:t>Small voltage error and few limit violations</a:t>
                      </a:r>
                    </a:p>
                    <a:p>
                      <a:r>
                        <a:rPr sz="1875" b="0">
                          <a:solidFill>
                            <a:srgbClr val="102C3C"/>
                          </a:solidFill>
                          <a:latin typeface="Arial"/>
                          <a:ea typeface="Arial"/>
                          <a:cs typeface="Arial"/>
                        </a:rPr>
                        <a:t>at matched privacy budgets.</a:t>
                      </a:r>
                    </a:p>
                  </a:txBody>
                  <a:tcPr marL="91440" marR="91440" marT="45720" marB="45720">
                    <a:solidFill>
                      <a:srgbClr val="EDF3F0"/>
                    </a:solidFill>
                  </a:tcPr>
                </a:tc>
              </a:tr>
              <a:tr h="785813">
                <a:tc>
                  <a:txBody>
                    <a:bodyPr/>
                    <a:lstStyle/>
                    <a:p>
                      <a:r>
                        <a:rPr sz="1875" b="0">
                          <a:solidFill>
                            <a:srgbClr val="102C3C"/>
                          </a:solidFill>
                          <a:latin typeface="Arial"/>
                          <a:ea typeface="Arial"/>
                          <a:cs typeface="Arial"/>
                        </a:rPr>
                        <a:t>Cost and dropout</a:t>
                      </a:r>
                    </a:p>
                  </a:txBody>
                  <a:tcPr marL="91440" marR="91440" marT="45720" marB="45720">
                    <a:solidFill>
                      <a:srgbClr val="FFFFFF"/>
                    </a:solidFill>
                  </a:tcPr>
                </a:tc>
                <a:tc>
                  <a:txBody>
                    <a:bodyPr/>
                    <a:lstStyle/>
                    <a:p>
                      <a:r>
                        <a:rPr sz="1875" b="0">
                          <a:solidFill>
                            <a:srgbClr val="102C3C"/>
                          </a:solidFill>
                          <a:latin typeface="Arial"/>
                          <a:ea typeface="Arial"/>
                          <a:cs typeface="Arial"/>
                        </a:rPr>
                        <a:t>Lower total time and communication.</a:t>
                      </a:r>
                    </a:p>
                    <a:p>
                      <a:r>
                        <a:rPr sz="1875" b="0">
                          <a:solidFill>
                            <a:srgbClr val="102C3C"/>
                          </a:solidFill>
                          <a:latin typeface="Arial"/>
                          <a:ea typeface="Arial"/>
                          <a:cs typeface="Arial"/>
                        </a:rPr>
                        <a:t>Valid releases when enough parties remain.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610BA87-B251-46A6-8CD5-A6BB0C29E2C6}"/>
              </a:ext>
            </a:extLst>
          </p:cNvPr>
          <p:cNvSpPr>
            <a:spLocks xmlns:a="http://schemas.openxmlformats.org/drawingml/2006/main" noGrp="1"/>
          </p:cNvSpPr>
          <p:nvPr/>
        </p:nvSpPr>
        <p:spPr>
          <a:xfrm xmlns:a="http://schemas.openxmlformats.org/drawingml/2006/main">
            <a:off x="609600" y="5505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37D7C"/>
                </a:solidFill>
                <a:latin typeface="Arial"/>
                <a:ea typeface="Arial"/>
                <a:cs typeface="Arial"/>
              </a:defRPr>
            </a:pPr>
            <a:r>
              <a:rPr sz="2025" b="1">
                <a:solidFill>
                  <a:srgbClr val="137D7C"/>
                </a:solidFill>
                <a:latin typeface="Arial"/>
                <a:ea typeface="Arial"/>
                <a:cs typeface="Arial"/>
              </a:rPr>
              <a:t>Next comparison: current Paillier versus packed threshold BGV.</a:t>
            </a:r>
          </a:p>
        </p:txBody>
      </p:sp>
      <p:sp>
        <p:nvSpPr>
          <p:cNvPr id="6" name="">
            <a:extLst xmlns:a="http://schemas.openxmlformats.org/drawingml/2006/main">
              <a:ext uri="{FF2B5EF4-FFF2-40B4-BE49-F238E27FC236}">
                <a16:creationId xmlns:a16="http://schemas.microsoft.com/office/drawing/2014/main" id="{53B2FA1C-98FA-4F54-B161-9156985A7945}"/>
              </a:ext>
            </a:extLst>
          </p:cNvPr>
          <p:cNvSpPr>
            <a:spLocks xmlns:a="http://schemas.openxmlformats.org/drawingml/2006/main" noGrp="1"/>
          </p:cNvSpPr>
          <p:nvPr/>
        </p:nvSpPr>
        <p:spPr>
          <a:xfrm xmlns:a="http://schemas.openxmlformats.org/drawingml/2006/main">
            <a:off x="609600" y="601027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974"/>
                </a:solidFill>
                <a:latin typeface="Arial"/>
                <a:ea typeface="Arial"/>
                <a:cs typeface="Arial"/>
              </a:defRPr>
            </a:pPr>
            <a:r>
              <a:rPr sz="1800" b="0">
                <a:solidFill>
                  <a:srgbClr val="536974"/>
                </a:solidFill>
                <a:latin typeface="Arial"/>
                <a:ea typeface="Arial"/>
                <a:cs typeface="Arial"/>
              </a:rPr>
              <a:t>BNP sampling, collusion protection and safe recovery still need validation.</a:t>
            </a:r>
          </a:p>
        </p:txBody>
      </p:sp>
    </p:spTree>
    <p:extLst>
      <p:ext uri="{BB962C8B-B14F-4D97-AF65-F5344CB8AC3E}">
        <p14:creationId xmlns:p14="http://schemas.microsoft.com/office/powerpoint/2010/main" val="1007009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2026-10-01T16:06:16.7820000Z</dcterms:created>
  <dcterms:modified xsi:type="dcterms:W3CDTF">2026-10-01T16:06:16.7820000Z</dcterms:modified>
</coreProperties>
</file>