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b58428f79423f" /><Relationship Type="http://schemas.openxmlformats.org/officeDocument/2006/relationships/extended-properties" Target="/docProps/app.xml" Id="R3e8b8c822c9d422d" /><Relationship Type="http://schemas.openxmlformats.org/officeDocument/2006/relationships/officeDocument" Target="/ppt/presentation.xml" Id="R312186ca580d43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375a50fff647f7"/>
  </p:sldMasterIdLst>
  <p:notesMasterIdLst>
    <p:notesMasterId xmlns:r="http://schemas.openxmlformats.org/officeDocument/2006/relationships" r:id="R7bb368d3f9f24f79"/>
  </p:notesMasterIdLst>
  <p:sldIdLst>
    <p:sldId xmlns:r="http://schemas.openxmlformats.org/officeDocument/2006/relationships" id="256" r:id="R4639b00d16634cae"/>
    <p:sldId xmlns:r="http://schemas.openxmlformats.org/officeDocument/2006/relationships" id="257" r:id="Rd5ea1fc475cf4208"/>
    <p:sldId xmlns:r="http://schemas.openxmlformats.org/officeDocument/2006/relationships" id="258" r:id="R75e84f02d6a14a6c"/>
    <p:sldId xmlns:r="http://schemas.openxmlformats.org/officeDocument/2006/relationships" id="259" r:id="Ra651df865ae342a8"/>
    <p:sldId xmlns:r="http://schemas.openxmlformats.org/officeDocument/2006/relationships" id="260" r:id="Rb868e687040149f5"/>
    <p:sldId xmlns:r="http://schemas.openxmlformats.org/officeDocument/2006/relationships" id="261" r:id="Rd7f2ab7f2a1c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6b16394b254433" /><Relationship Type="http://schemas.openxmlformats.org/officeDocument/2006/relationships/slideMaster" Target="/ppt/slideMasters/slideMaster1.xml" Id="R73375a50fff647f7" /><Relationship Type="http://schemas.openxmlformats.org/officeDocument/2006/relationships/notesMaster" Target="/ppt/notesMasters/notesMaster1.xml" Id="R7bb368d3f9f24f79" /><Relationship Type="http://schemas.openxmlformats.org/officeDocument/2006/relationships/presProps" Target="/ppt/presProps.xml" Id="Reffec7dab6b5451b" /><Relationship Type="http://schemas.openxmlformats.org/officeDocument/2006/relationships/tableStyles" Target="/ppt/tableStyles.xml" Id="R0b435c0e1dec4d35" /><Relationship Type="http://schemas.openxmlformats.org/officeDocument/2006/relationships/slide" Target="/ppt/slides/slide1.xml" Id="R4639b00d16634cae" /><Relationship Type="http://schemas.openxmlformats.org/officeDocument/2006/relationships/slide" Target="/ppt/slides/slide2.xml" Id="Rd5ea1fc475cf4208" /><Relationship Type="http://schemas.openxmlformats.org/officeDocument/2006/relationships/slide" Target="/ppt/slides/slide3.xml" Id="R75e84f02d6a14a6c" /><Relationship Type="http://schemas.openxmlformats.org/officeDocument/2006/relationships/slide" Target="/ppt/slides/slide4.xml" Id="Ra651df865ae342a8" /><Relationship Type="http://schemas.openxmlformats.org/officeDocument/2006/relationships/slide" Target="/ppt/slides/slide5.xml" Id="Rb868e687040149f5" /><Relationship Type="http://schemas.openxmlformats.org/officeDocument/2006/relationships/slide" Target="/ppt/slides/slide6.xml" Id="Rd7f2ab7f2a1c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8e2f464304a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2ed169f5845b3" /><Relationship Type="http://schemas.openxmlformats.org/officeDocument/2006/relationships/notesMaster" Target="/ppt/notesMasters/notesMaster1.xml" Id="R619c6d139e9d45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3931c9b3294965" /><Relationship Type="http://schemas.openxmlformats.org/officeDocument/2006/relationships/notesMaster" Target="/ppt/notesMasters/notesMaster1.xml" Id="R84443e8c349a42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1700e056ba4360" /><Relationship Type="http://schemas.openxmlformats.org/officeDocument/2006/relationships/notesMaster" Target="/ppt/notesMasters/notesMaster1.xml" Id="Rbbd6710ee504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cf5bcc0f284be9" /><Relationship Type="http://schemas.openxmlformats.org/officeDocument/2006/relationships/notesMaster" Target="/ppt/notesMasters/notesMaster1.xml" Id="R82bdf9f973854f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a6d92738794092" /><Relationship Type="http://schemas.openxmlformats.org/officeDocument/2006/relationships/notesMaster" Target="/ppt/notesMasters/notesMaster1.xml" Id="R0d19edb9313a44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ec9a8c1c6041b8" /><Relationship Type="http://schemas.openxmlformats.org/officeDocument/2006/relationships/notesMaster" Target="/ppt/notesMasters/notesMaster1.xml" Id="R9f0fe100b4d2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reference: C:/Users/15397/Downloads/bnp_correctness_and_comparison (1).pptx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Mechanism definition and guarantee follow the existing privacy implementation and the reference deck.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changes are the actual Ckt5 v4 protocol choices. The BNP distribution, analytic Gaussian calibration, and eigenvalue floor were unchanged.</a:t>
            </a:r>
          </a:p>
          <a:p xmlns:a="http://schemas.openxmlformats.org/drawingml/2006/main">
            <a:r>
              <a:t>Evidence source: C:\Users\15397\Desktop\dp_voltage_replication\results\bnp_circuit_regime_20260917_v4\metrics.json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embedded from C:\Users\15397\Desktop\dp_voltage_replication\figures\bnp_ckt5_gaussian_comparison.png. The figure reads only C:\Users\15397\Desktop\dp_voltage_replication\results\bnp_circuit_regime_20260917_v4\metrics.json; no experiment was rerun.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Table values are means across the two saved seeds in C:\Users\15397\Desktop\dp_voltage_replication\results\bnp_circuit_regime_20260917_v4\metrics.json. Gaussian rows use ε=1, δ=0.02; BNP rows use ε=0, δ=0.02. This is not a matched-ε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based on the saved Ckt5 v4 measurements in C:\Users\15397\Desktop\dp_voltage_replication\results\bnp_circuit_regime_20260917_v4\metrics.json. The original IEEE 123-bus measurements remain historical and were not modified.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fad6ab6cf141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d37d5a98c47e8" /><Relationship Type="http://schemas.openxmlformats.org/officeDocument/2006/relationships/slideLayout" Target="/ppt/slideLayouts/slideLayout1.xml" Id="R3ff34d100f2e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f34d100f2e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860d2bb2c4fbe" /><Relationship Type="http://schemas.openxmlformats.org/officeDocument/2006/relationships/notesSlide" Target="/ppt/notesSlides/notesSlide1.xml" Id="Ra138b586b3294c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3d3c782f24dc9" /><Relationship Type="http://schemas.openxmlformats.org/officeDocument/2006/relationships/notesSlide" Target="/ppt/notesSlides/notesSlide2.xml" Id="R9b755048cc1b47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0c3b6e3842c0" /><Relationship Type="http://schemas.openxmlformats.org/officeDocument/2006/relationships/notesSlide" Target="/ppt/notesSlides/notesSlide3.xml" Id="R3dcdee9f149c4e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18c5c15a44594" /><Relationship Type="http://schemas.openxmlformats.org/officeDocument/2006/relationships/image" Target="/ppt/media/image.png" Id="R5abc457e793243c7" /><Relationship Type="http://schemas.openxmlformats.org/officeDocument/2006/relationships/notesSlide" Target="/ppt/notesSlides/notesSlide4.xml" Id="Ra032609415fc48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f9aa636df471e" /><Relationship Type="http://schemas.openxmlformats.org/officeDocument/2006/relationships/notesSlide" Target="/ppt/notesSlides/notesSlide5.xml" Id="Rb66ff29578414d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185431b504188" /><Relationship Type="http://schemas.openxmlformats.org/officeDocument/2006/relationships/notesSlide" Target="/ppt/notesSlides/notesSlide6.xml" Id="R30e19394f4a945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BD9FE-4753-44BC-975C-E6D8C7BD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7A126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7A126"/>
                </a:solidFill>
                <a:latin typeface="Calibri"/>
                <a:ea typeface="Calibri"/>
                <a:cs typeface="Calibri"/>
              </a:rPr>
              <a:t>BNP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9E1BD-EDB6-41B1-B462-7EAB4815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904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Bounded noise becomes usable</a:t>
            </a:r>
          </a:p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when the released statistic fits the bound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3A61E-C462-40F8-918B-CE13261E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1">
                <a:solidFill>
                  <a:srgbClr val="C4D1DC"/>
                </a:solidFill>
                <a:latin typeface="Calibri"/>
                <a:ea typeface="Calibri"/>
                <a:cs typeface="Calibri"/>
              </a:defRPr>
            </a:pPr>
            <a:r>
              <a:rPr sz="1425" b="0" i="1">
                <a:solidFill>
                  <a:srgbClr val="C4D1DC"/>
                </a:solidFill>
                <a:latin typeface="Calibri"/>
                <a:ea typeface="Calibri"/>
                <a:cs typeface="Calibri"/>
              </a:rPr>
              <a:t>EPRI Ckt5 evidence, with a direct comparison to analytic Gaussian noise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87274-E3F4-48E6-8CD7-33B08CB4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019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126"/>
          </a:solidFill>
          <a:ln xmlns:a="http://schemas.openxmlformats.org/drawingml/2006/main" w="0">
            <a:solidFill>
              <a:srgbClr val="E7A12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B815F-7E4C-4B9D-A443-AE4E2EB7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FB1C0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9FB1C0"/>
                </a:solidFill>
                <a:latin typeface="Calibri"/>
                <a:ea typeface="Calibri"/>
                <a:cs typeface="Calibri"/>
              </a:rPr>
              <a:t>Saved v4 metrics  ·  δ = 0.02  ·  two saved seeds</a:t>
            </a:r>
          </a:p>
        </p:txBody>
      </p:sp>
    </p:spTree>
    <p:extLst>
      <p:ext uri="{BB962C8B-B14F-4D97-AF65-F5344CB8AC3E}">
        <p14:creationId xmlns:p14="http://schemas.microsoft.com/office/powerpoint/2010/main" val="2057986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EFC4A-9096-4351-82B0-4B7B812F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MECHANISM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285EEC-D4C1-445C-A07F-0DEFBCF8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BNP offers a hard error bound, then charges for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D4669-8760-4EC7-A4C6-D262FDE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108966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9525">
            <a:solidFill>
              <a:srgbClr val="173B6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2AF62-C45B-4309-859D-853FF7C9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noise ~ Uniform[-B, B]      δ = S / 2B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33B08-6212-4C23-9E81-D26D7278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D4E0E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D4E0E8"/>
                </a:solidFill>
                <a:latin typeface="Calibri"/>
                <a:ea typeface="Calibri"/>
                <a:cs typeface="Calibri"/>
              </a:rPr>
              <a:t>S is the sensitivity of the released statistic. B is the maximum perturbation.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6B84A-CDA0-4ADB-A51C-1A60973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5257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A98CA-7808-4993-8D8B-2D0D745D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What BNP guarantees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D841-588C-4DA2-9E99-9C328537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Every released value stays within B of its true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guarantee comes from the support of the distribution.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bound holds at every draw, rather than with high probability.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A1310-1286-41B7-B52F-CFD4C8E4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2578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0C32-2CFB-48F8-B189-32C5A49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Why the 15-minute covariance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4AC1E-67D2-4364-A39B-EBD5513D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4381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A 96-step covariance release has high sensitivity.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At δ = 0.02, uniform noise was large relative to the small covariance entries that carry temporal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mechanism stayed correct, but the release target was too rich for the bound.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5AE57-09E1-412E-AC16-EEF5D14B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4946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0B876-57D8-4011-9233-F9B735DC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THE DESIGN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273338-64EC-444F-8AA1-C14618D4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The mechanism stayed fixed. The release design changed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BE880-E5F5-4C7F-851F-9F7460DE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Viability came from matching the statistic's sensitivity to the hard bound.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9EAC7-1669-4297-8AB4-E0CE414C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DE19C-3FD0-404D-A342-6AF575A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C729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1C7293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7F39B-928F-4CAE-9BA6-6E38AB0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Feeder and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EAB54-5E20-4D6E-A53D-D917476B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Use the EPRI Ckt5 load model with load-object-day records so the release represents a bounded load statistic.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FDB85-AEF5-4625-BABB-0A813C2F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5A7CB-8FA9-4C5E-AD9B-311EA3A6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11E8F-9504-4146-92FB-DDED114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Temporal dimension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D8B34-EF53-4623-B23D-95E7C7BA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Move from 15-minute vectors (T=96) to hourly vectors (T=24). Fewer coordinates reduce sensitivity.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B878D-7776-4698-A04C-7DFA31A9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14D4F-B5B7-481B-AE63-C4C32439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9BE51-7BB9-4D73-940A-DCCEF054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Clip norm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D3DBB-7CB8-4DE4-8373-FC5AAD7C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Use C=3 for the hourly regime instead of C=6. The smaller clip norm lowers the calibrated bound.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495A4-BCFC-4D1A-8321-6D788483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95500"/>
            <a:ext cx="2362200" cy="28575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5D9605-0400-4ADC-A0A6-EBB8BC13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E7A126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E7A126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C5F87-5E76-4EFD-926A-3C26F1EB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1885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Predeclared screen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5CBEF-939B-4230-BDE7-3A952679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885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Require noise/signal ≤ 1 and covariance lag-1 change ≤ 0.05. This makes usefulness measurable.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225D5-DC9A-404B-8B4B-D0A005EC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591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5E7"/>
          </a:solidFill>
          <a:ln xmlns:a="http://schemas.openxmlformats.org/drawingml/2006/main" w="9525">
            <a:solidFill>
              <a:srgbClr val="F0D49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D638C-1864-4E1E-A91F-23C6CDA8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B04C27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04C27"/>
                </a:solidFill>
                <a:latin typeface="Calibri"/>
                <a:ea typeface="Calibri"/>
                <a:cs typeface="Calibri"/>
              </a:rPr>
              <a:t>Measured effect: BNP parameter noise / signal falls from 0.840 at T=96,C=6 to 0.074 at T=24,C=3.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46C54-8FBF-41DD-B3FC-C338DBA5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9413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C48B3-123D-432E-B7FD-9E95CB6D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MEASURED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92320-F9EE-479F-BD2B-5AF91C65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Hourly BNP keeps the temporal signal within the acceptance screen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c457e793243c7"/>
          <a:stretch xmlns:a="http://schemas.openxmlformats.org/drawingml/2006/main"/>
        </p:blipFill>
        <p:spPr>
          <a:xfrm xmlns:a="http://schemas.openxmlformats.org/drawingml/2006/main">
            <a:off x="2404975" y="1447800"/>
            <a:ext cx="7382051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19ECF-6EF7-4E85-912F-F310D917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78254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CBDBE-B42D-4F67-ACD3-5791AE86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READING THE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91067-3C73-4066-8764-39BE7070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Hourly Ckt5 is the viable BNP regime under the stated screen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534CC-1F97-4693-8A47-B23FFDA5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Means across two saved seeds. Covariance lag-1 is measured after the existing eigenvalue floor.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943100"/>
          <a:ext xmlns:a="http://schemas.openxmlformats.org/drawingml/2006/main" cx="73342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1571625"/>
                <a:gridCol w="1428750"/>
                <a:gridCol w="1571625"/>
                <a:gridCol w="13335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Regime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BNP noise / signal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BNP covariance lag-1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Truth covariance lag-1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Screen</a:t>
                      </a:r>
                    </a:p>
                  </a:txBody>
                  <a:tcPr marL="91440" marR="91440" marT="45720" marB="45720" anchor="ctr">
                    <a:solidFill>
                      <a:srgbClr val="173B6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15-min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T=96,C=6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0.840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0.617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B04C27"/>
                          </a:solidFill>
                          <a:latin typeface="Calibri"/>
                          <a:ea typeface="Calibri"/>
                          <a:cs typeface="Calibri"/>
                        </a:rPr>
                        <a:t>FAIL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Hourly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T=24,C=3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0.074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0.867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Gaussian 15-min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0.068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0.872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Gaussian hourly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0.006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0.898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3240"/>
                          </a:solidFill>
                          <a:latin typeface="Calibri"/>
                          <a:ea typeface="Calibri"/>
                          <a:cs typeface="Calibri"/>
                        </a:rPr>
                        <a:t>0.901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F7D5D"/>
                          </a:solidFill>
                          <a:latin typeface="Calibri"/>
                          <a:ea typeface="Calibri"/>
                          <a:cs typeface="Calibri"/>
                        </a:rPr>
                        <a:t>PASS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21E25-CBD9-4CCA-9122-D471F65E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31242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1E9F2-7BA1-4EFD-9BD4-5F92A19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288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650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What changed in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15200-1CF8-4E9E-9941-412BD82A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05100"/>
            <a:ext cx="242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Hourly BNP: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0.074 noise / signal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0.867 covariance lag-1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-0.034 lag-1 change</a:t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voltage lag-1 stays near 0.60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This meets the predefined screen for the bounded hourly release.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D5356-6024-4541-8706-675F909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10896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FE27A-2C77-4795-8AA4-B4E42130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B60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173B60"/>
                </a:solidFill>
                <a:latin typeface="Calibri"/>
                <a:ea typeface="Calibri"/>
                <a:cs typeface="Calibri"/>
              </a:rPr>
              <a:t>Gaussian remains the lower-noise option in this comparison. BNP's distinct benefit is the hard error bound, when the release is scoped tightly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255A1-DC96-4BA3-8A4D-7D89C771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68352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665C2-3298-444E-858F-8F61E763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SCOPE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1C879-F4F1-4030-BFEE-006A0B25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173B60"/>
                </a:solidFill>
                <a:latin typeface="Cambria"/>
                <a:ea typeface="Cambria"/>
                <a:cs typeface="Cambria"/>
              </a:rPr>
              <a:t>The claim is viability for one bounded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C3FE5-75A1-4BED-9532-B13949AA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5257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E9F2EE"/>
          </a:solidFill>
          <a:ln xmlns:a="http://schemas.openxmlformats.org/drawingml/2006/main" w="9525">
            <a:solidFill>
              <a:srgbClr val="C7DFD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5D563-14D7-441C-BC12-60422947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2F7D5D"/>
                </a:solidFill>
                <a:latin typeface="Cambria"/>
                <a:ea typeface="Cambria"/>
                <a:cs typeface="Cambria"/>
              </a:rPr>
              <a:t>Supported by the measurements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26CD5-C02F-42D3-8096-93892FE4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4324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Ckt5 hourly load-shape covariance, T=24 and C=3, passes the screen for both saved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BNP still gives an exact bounded-noise guarantee at δ=0.02.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Voltage W1 and voltage lag-1 remain close to the nonprivate release.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A9C87-B9DC-428B-8122-2C656906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95450"/>
            <a:ext cx="525780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EFE49-7196-468F-94BF-E580FA42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B04C27"/>
                </a:solidFill>
                <a:latin typeface="Cambria"/>
                <a:ea typeface="Cambria"/>
                <a:cs typeface="Cambria"/>
              </a:rPr>
              <a:t>Still 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F703D-6379-406C-A46E-503685A6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95550"/>
            <a:ext cx="43243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BNP is not superior to Gaussian on parameter noise.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The 15-minute Ckt5 covariance row fails the temporal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33240"/>
                </a:solidFill>
                <a:latin typeface="Calibri"/>
                <a:ea typeface="Calibri"/>
                <a:cs typeface="Calibri"/>
              </a:rPr>
              <a:t>• Full IEEE 123-bus covariance and voltage-trajectory releases remain harder targets.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B3CC1-EAD6-408E-8DCB-41757A0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B60"/>
          </a:solidFill>
          <a:ln xmlns:a="http://schemas.openxmlformats.org/drawingml/2006/main" w="9525">
            <a:solidFill>
              <a:srgbClr val="173B6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1B455-5783-44DA-AE0B-980804E9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10200"/>
            <a:ext cx="10248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817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BNP is a good choice when the application values a hard error tolerance and can release a lower-sensitivity statistic.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72FD8-70A1-4B85-B70B-CB01708C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defRPr>
            </a:pPr>
            <a:r>
              <a:rPr sz="825" b="0" i="0">
                <a:solidFill>
                  <a:srgbClr val="687B8B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30742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2026-09-17T14:14:21.8740000Z</dcterms:created>
  <dcterms:modified xsi:type="dcterms:W3CDTF">2026-09-17T14:14:21.8740000Z</dcterms:modified>
</coreProperties>
</file>