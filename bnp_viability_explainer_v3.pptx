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aafe080c6d47e9" /><Relationship Type="http://schemas.openxmlformats.org/officeDocument/2006/relationships/extended-properties" Target="/docProps/app.xml" Id="R986efbf1b566448a" /><Relationship Type="http://schemas.openxmlformats.org/officeDocument/2006/relationships/officeDocument" Target="/ppt/presentation.xml" Id="R5583cbfa12f74d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59187aa39d4cda"/>
  </p:sldMasterIdLst>
  <p:notesMasterIdLst>
    <p:notesMasterId xmlns:r="http://schemas.openxmlformats.org/officeDocument/2006/relationships" r:id="R2ef032ab0337481a"/>
  </p:notesMasterIdLst>
  <p:sldIdLst>
    <p:sldId xmlns:r="http://schemas.openxmlformats.org/officeDocument/2006/relationships" id="256" r:id="Rd5b81cd4e8ae4aab"/>
    <p:sldId xmlns:r="http://schemas.openxmlformats.org/officeDocument/2006/relationships" id="257" r:id="R49199801fa25477e"/>
    <p:sldId xmlns:r="http://schemas.openxmlformats.org/officeDocument/2006/relationships" id="258" r:id="R3d9193a09ff24e06"/>
    <p:sldId xmlns:r="http://schemas.openxmlformats.org/officeDocument/2006/relationships" id="259" r:id="R00e926634e804808"/>
    <p:sldId xmlns:r="http://schemas.openxmlformats.org/officeDocument/2006/relationships" id="260" r:id="R81c50571106a45b3"/>
    <p:sldId xmlns:r="http://schemas.openxmlformats.org/officeDocument/2006/relationships" id="261" r:id="R839f5749092e43aa"/>
    <p:sldId xmlns:r="http://schemas.openxmlformats.org/officeDocument/2006/relationships" id="262" r:id="R8ecd090d1f5f49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78f5d33cd4eb4" /><Relationship Type="http://schemas.openxmlformats.org/officeDocument/2006/relationships/slideMaster" Target="/ppt/slideMasters/slideMaster1.xml" Id="Rcf59187aa39d4cda" /><Relationship Type="http://schemas.openxmlformats.org/officeDocument/2006/relationships/notesMaster" Target="/ppt/notesMasters/notesMaster1.xml" Id="R2ef032ab0337481a" /><Relationship Type="http://schemas.openxmlformats.org/officeDocument/2006/relationships/presProps" Target="/ppt/presProps.xml" Id="R3c23e6f39c6d42b2" /><Relationship Type="http://schemas.openxmlformats.org/officeDocument/2006/relationships/tableStyles" Target="/ppt/tableStyles.xml" Id="R8f45e883688c457c" /><Relationship Type="http://schemas.openxmlformats.org/officeDocument/2006/relationships/slide" Target="/ppt/slides/slide1.xml" Id="Rd5b81cd4e8ae4aab" /><Relationship Type="http://schemas.openxmlformats.org/officeDocument/2006/relationships/slide" Target="/ppt/slides/slide2.xml" Id="R49199801fa25477e" /><Relationship Type="http://schemas.openxmlformats.org/officeDocument/2006/relationships/slide" Target="/ppt/slides/slide3.xml" Id="R3d9193a09ff24e06" /><Relationship Type="http://schemas.openxmlformats.org/officeDocument/2006/relationships/slide" Target="/ppt/slides/slide4.xml" Id="R00e926634e804808" /><Relationship Type="http://schemas.openxmlformats.org/officeDocument/2006/relationships/slide" Target="/ppt/slides/slide5.xml" Id="R81c50571106a45b3" /><Relationship Type="http://schemas.openxmlformats.org/officeDocument/2006/relationships/slide" Target="/ppt/slides/slide6.xml" Id="R839f5749092e43aa" /><Relationship Type="http://schemas.openxmlformats.org/officeDocument/2006/relationships/slide" Target="/ppt/slides/slide7.xml" Id="R8ecd090d1f5f49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f3db5ead5b4f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fd61f94874ad8" /><Relationship Type="http://schemas.openxmlformats.org/officeDocument/2006/relationships/notesMaster" Target="/ppt/notesMasters/notesMaster1.xml" Id="Rc59ea938d9b54d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e5f69c57164807" /><Relationship Type="http://schemas.openxmlformats.org/officeDocument/2006/relationships/notesMaster" Target="/ppt/notesMasters/notesMaster1.xml" Id="Rc223fdf8e66b49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a4e47f4f284a9e" /><Relationship Type="http://schemas.openxmlformats.org/officeDocument/2006/relationships/notesMaster" Target="/ppt/notesMasters/notesMaster1.xml" Id="Rb8a5107abbfc4e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006cf7acbc4742" /><Relationship Type="http://schemas.openxmlformats.org/officeDocument/2006/relationships/notesMaster" Target="/ppt/notesMasters/notesMaster1.xml" Id="R2c55bfed4b864f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dfaf9b1da148ce" /><Relationship Type="http://schemas.openxmlformats.org/officeDocument/2006/relationships/notesMaster" Target="/ppt/notesMasters/notesMaster1.xml" Id="R6826dd0b3e004d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2e6c26c14545e7" /><Relationship Type="http://schemas.openxmlformats.org/officeDocument/2006/relationships/notesMaster" Target="/ppt/notesMasters/notesMaster1.xml" Id="R3228deca4f8a4e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bff0f5ac834fda" /><Relationship Type="http://schemas.openxmlformats.org/officeDocument/2006/relationships/notesMaster" Target="/ppt/notesMasters/notesMaster1.xml" Id="R8bae5080daf342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reference: C:/Users/15397/Downloads/bnp_correctness_and_comparison (1).pptx</a:t>
            </a:r>
          </a:p>
          <a:p xmlns:a="http://schemas.openxmlformats.org/drawingml/2006/main">
            <a:r>
              <a:t>Evidence source: C:\Users\15397\Desktop\dp_voltage_replication\results\bnp_circuit_regime_20260917_v4\metrics.json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Mechanism definition and guarantee follow the existing privacy implementation and the reference deck.</a:t>
            </a:r>
          </a:p>
          <a:p xmlns:a="http://schemas.openxmlformats.org/drawingml/2006/main">
            <a:r>
              <a:t>Evidence source: C:\Users\15397\Desktop\dp_voltage_replication\results\bnp_circuit_regime_20260917_v4\metrics.json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changes are the actual Ckt5 v4 protocol choices. The BNP distribution, analytic Gaussian calibration, and eigenvalue floor were unchanged.</a:t>
            </a:r>
          </a:p>
          <a:p xmlns:a="http://schemas.openxmlformats.org/drawingml/2006/main">
            <a:r>
              <a:t>Evidence source: C:\Users\15397\Desktop\dp_voltage_replication\results\bnp_circuit_regime_20260917_v4\metrics.json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embedded from C:\Users\15397\Desktop\dp_voltage_replication\figures\bnp_ckt5_gaussian_comparison.png. The figure reads only C:\Users\15397\Desktop\dp_voltage_replication\results\bnp_circuit_regime_20260917_v4\metrics.json; no experiment was rerun.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embedded from C:\Users\15397\Desktop\dp_voltage_replication\figures\bnp_ckt5_input_output_baseline.png. It reads only C:\Users\15397\Desktop\dp_voltage_replication\results\bnp_circuit_regime_20260917_v4\metrics.json; no experiment was rerun. Input metrics are covariance noise/signal and covariance lag-1. Output metrics are voltage W1 and voltage lag-1.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values are means across the two saved seeds in C:\Users\15397\Desktop\dp_voltage_replication\results\bnp_circuit_regime_20260917_v4\metrics.json. Gaussian rows use ε=1, δ=0.02; BNP rows use ε=0, δ=0.02. This is not a matched-ε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statement based on the saved Ckt5 v4 measurements in C:\Users\15397\Desktop\dp_voltage_replication\results\bnp_circuit_regime_20260917_v4\metrics.json. The original IEEE 123-bus measurements remain historical and were not modified.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631d71dbf41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625a0d60e542ca" /><Relationship Type="http://schemas.openxmlformats.org/officeDocument/2006/relationships/slideLayout" Target="/ppt/slideLayouts/slideLayout1.xml" Id="R246c4fbee35a45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6c4fbee35a45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bfc6cbc9345a9" /><Relationship Type="http://schemas.openxmlformats.org/officeDocument/2006/relationships/notesSlide" Target="/ppt/notesSlides/notesSlide1.xml" Id="R19fe48eb5e7049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c396173674fa4" /><Relationship Type="http://schemas.openxmlformats.org/officeDocument/2006/relationships/notesSlide" Target="/ppt/notesSlides/notesSlide2.xml" Id="Rc3aa73277acb46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cd6d70cc54a58" /><Relationship Type="http://schemas.openxmlformats.org/officeDocument/2006/relationships/notesSlide" Target="/ppt/notesSlides/notesSlide3.xml" Id="Ref5bcba3702a4d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b255d1cc4441e" /><Relationship Type="http://schemas.openxmlformats.org/officeDocument/2006/relationships/image" Target="/ppt/media/image.png" Id="R2ed53abc4ebe4475" /><Relationship Type="http://schemas.openxmlformats.org/officeDocument/2006/relationships/notesSlide" Target="/ppt/notesSlides/notesSlide4.xml" Id="R75cbfe86188c47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671607ef941a7" /><Relationship Type="http://schemas.openxmlformats.org/officeDocument/2006/relationships/image" Target="/ppt/media/image2.png" Id="R57be482565564c32" /><Relationship Type="http://schemas.openxmlformats.org/officeDocument/2006/relationships/notesSlide" Target="/ppt/notesSlides/notesSlide5.xml" Id="Rb8d4e39ae58d4d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ceb16d87e4f05" /><Relationship Type="http://schemas.openxmlformats.org/officeDocument/2006/relationships/notesSlide" Target="/ppt/notesSlides/notesSlide6.xml" Id="Ra0fec488c75340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50f0b48e84654" /><Relationship Type="http://schemas.openxmlformats.org/officeDocument/2006/relationships/notesSlide" Target="/ppt/notesSlides/notesSlide7.xml" Id="Rb4a34a6a038a4f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3AE3A-8A4F-4852-9E19-C3DB64FE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7A126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7A126"/>
                </a:solidFill>
                <a:latin typeface="Calibri"/>
                <a:ea typeface="Calibri"/>
                <a:cs typeface="Calibri"/>
              </a:rPr>
              <a:t>BNP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5C26C-CF34-4E43-8D3C-BB78DFDE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9048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Bounded noise becomes usable</a:t>
            </a:r>
          </a:p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when the released statistic fits the bound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D5A76-1D8E-4D3C-B718-B6B36BE6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C4D1DC"/>
                </a:solidFill>
                <a:latin typeface="Calibri"/>
                <a:ea typeface="Calibri"/>
                <a:cs typeface="Calibri"/>
              </a:defRPr>
            </a:pPr>
            <a:r>
              <a:rPr sz="1425" b="0" i="1">
                <a:solidFill>
                  <a:srgbClr val="C4D1DC"/>
                </a:solidFill>
                <a:latin typeface="Calibri"/>
                <a:ea typeface="Calibri"/>
                <a:cs typeface="Calibri"/>
              </a:rPr>
              <a:t>EPRI Ckt5 evidence, with a direct comparison to analytic Gaussian noise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ADC0E-0448-4721-8B72-995997D1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6"/>
          </a:solidFill>
          <a:ln xmlns:a="http://schemas.openxmlformats.org/drawingml/2006/main" w="0">
            <a:solidFill>
              <a:srgbClr val="E7A12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0C73E-ACD7-4F63-A613-EF86BADB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FB1C0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9FB1C0"/>
                </a:solidFill>
                <a:latin typeface="Calibri"/>
                <a:ea typeface="Calibri"/>
                <a:cs typeface="Calibri"/>
              </a:rPr>
              <a:t>Saved v4 metrics  ·  δ = 0.02  ·  two saved seeds</a:t>
            </a:r>
          </a:p>
        </p:txBody>
      </p:sp>
    </p:spTree>
    <p:extLst>
      <p:ext uri="{BB962C8B-B14F-4D97-AF65-F5344CB8AC3E}">
        <p14:creationId xmlns:p14="http://schemas.microsoft.com/office/powerpoint/2010/main" val="1766581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31CE9-35A9-4DBA-9504-6A96D710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MECHANISM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F9DAF-7DAC-4A5A-97DB-84C5B73F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BNP offers a hard error bound, then charges for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ACABC-DBAF-4356-8213-50CF59C2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3B60"/>
          </a:solidFill>
          <a:ln xmlns:a="http://schemas.openxmlformats.org/drawingml/2006/main" w="9525">
            <a:solidFill>
              <a:srgbClr val="173B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5C5B4-6255-4A46-85BC-AD8C5C15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noise ~ Uniform[-B, B]      δ = S / 2B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35962-A696-4839-BB16-91D1F9AB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D4E0E8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D4E0E8"/>
                </a:solidFill>
                <a:latin typeface="Calibri"/>
                <a:ea typeface="Calibri"/>
                <a:cs typeface="Calibri"/>
              </a:rPr>
              <a:t>S is the sensitivity of the released statistic. B is the maximum perturbation.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38C7B-924F-4A7A-88A9-D0684EA8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52578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C7DF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45940-194D-474E-B8EF-577B1B1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7D5D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2F7D5D"/>
                </a:solidFill>
                <a:latin typeface="Cambria"/>
                <a:ea typeface="Cambria"/>
                <a:cs typeface="Cambria"/>
              </a:rPr>
              <a:t>What BNP guarantees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B4BA6-EEDB-4EF9-A7A2-721956AE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Every released value stays within B of its true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The guarantee comes from the support of the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The bound holds at every draw, rather than with high probability.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3DA08-E233-4B31-A19C-CF95B064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52578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F1A35-4E6E-45E3-B7BD-938EDD9D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04C27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B04C27"/>
                </a:solidFill>
                <a:latin typeface="Cambria"/>
                <a:ea typeface="Cambria"/>
                <a:cs typeface="Cambria"/>
              </a:rPr>
              <a:t>Why the 15-minute covariance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AA0B9-D88E-4674-B8AD-90519F40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29050"/>
            <a:ext cx="4381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A 96-step covariance release has high sensitivity.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At δ = 0.02, uniform noise was large relative to the small covariance entries that carry temporal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The mechanism stayed correct, but the release target was too rich for the bound.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A1622-5745-4E56-9B32-409C10EA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8610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82DEF-C5D8-4926-9AAF-DA7D50E2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DESIGN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598C7-055F-4E49-B781-45CBD049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The mechanism stayed fixed. The release design 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BF47D-2219-4753-807C-74351CBF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Viability came from matching the statistic's sensitivity to the hard bound.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AFE48-F6CC-4293-8409-93B46739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362200" cy="2857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5CAA7-024D-4A9F-A6F8-FCE71FC1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DD2E6-273B-490A-8077-E7D8326A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Feeder and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1DBFE-74C2-4DF5-A698-C1F54213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885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Use the EPRI Ckt5 load model with load-object-day records so the release represents a bounded load statistic.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B9905-38B7-42B3-9DEE-4BE9B07F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62200" cy="2857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DE9DB-2266-403C-BBA0-B7D8D37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F7D5D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F7D5D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CCF50-8195-4712-8511-7F556353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Temporal 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68BE6-CFBC-4C59-8445-724F4399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1885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Move from 15-minute vectors (T=96) to hourly vectors (T=24). Fewer coordinates reduce sensitivity.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FBB8B-B849-4CB7-80D8-176093B0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362200" cy="2857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D3398-008E-41EC-A6DF-D28F85B5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B04C27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B04C27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8D8CB-4A68-43BB-9B0F-C4BE08EE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Clip norm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DED3A-F080-4702-A2AC-AAD77258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1885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Use C=3 for the hourly regime instead of C=6. The smaller clip norm lowers the calibrated bound.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0DA81-69C1-4ACF-836F-92D4071C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362200" cy="2857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8BF13-4CF4-4D6C-A0C5-BD3ED7A6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24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E7A126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E7A126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B4D3E-6DF0-4F59-9049-61E5EBA3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Predeclared screen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288C2-F804-4158-B04C-B3888EDE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43300"/>
            <a:ext cx="1885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Require noise/signal ≤ 1 and covariance lag-1 change ≤ 0.05. This makes usefulness measurable.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0CD70-C9E9-46AA-B949-A55351B3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591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5E7"/>
          </a:solidFill>
          <a:ln xmlns:a="http://schemas.openxmlformats.org/drawingml/2006/main" w="9525">
            <a:solidFill>
              <a:srgbClr val="F0D49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82DC9-30C2-4F9D-845F-8350C8BF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04C27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04C27"/>
                </a:solidFill>
                <a:latin typeface="Calibri"/>
                <a:ea typeface="Calibri"/>
                <a:cs typeface="Calibri"/>
              </a:rPr>
              <a:t>Measured effect: BNP parameter noise / signal falls from 0.840 at T=96,C=6 to 0.074 at T=24,C=3.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BF5AB-7B13-4838-BD48-9AF10F73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9023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82277-C2B3-485A-9BD9-C6EE9557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MEASURED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7A35A-3821-4147-91F8-15056B2C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75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Hourly BNP keeps the temporal signal within the acceptance screen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53abc4ebe4475"/>
          <a:stretch xmlns:a="http://schemas.openxmlformats.org/drawingml/2006/main"/>
        </p:blipFill>
        <p:spPr>
          <a:xfrm xmlns:a="http://schemas.openxmlformats.org/drawingml/2006/main">
            <a:off x="2404975" y="1447800"/>
            <a:ext cx="7382051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38FDC-247F-4B14-A4E0-DBE9D2F3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7305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17D47-3A4D-40FF-89E9-B403AE4F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INPUT AND OUTPUT FIDELITY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36932-F611-4200-9ECD-6C5835AA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307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Temporal structure is measured at both sides of the power-flow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57157-7740-40AF-A06A-C38F6970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The gray bars are the original release. Colored bars show the same input-stage perturbations after power flow.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e482565564c32"/>
          <a:stretch xmlns:a="http://schemas.openxmlformats.org/drawingml/2006/main"/>
        </p:blipFill>
        <p:spPr>
          <a:xfrm xmlns:a="http://schemas.openxmlformats.org/drawingml/2006/main">
            <a:off x="1719245" y="1657350"/>
            <a:ext cx="8753510" cy="5219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02F71-7BDA-4075-A3C4-236F4D64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6742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B9990-2D70-4903-8D25-86B0DB6D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READING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8B755-5C14-4270-BF42-2EA1E3B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Hourly Ckt5 is the viable BNP regime under the stated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EB526-876A-40D9-AE5D-E49D1F4A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Means across two saved seeds. Covariance lag-1 is measured after the existing eigenvalue floor.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" y="1943100"/>
          <a:ext xmlns:a="http://schemas.openxmlformats.org/drawingml/2006/main" cx="73342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571625"/>
                <a:gridCol w="1428750"/>
                <a:gridCol w="1571625"/>
                <a:gridCol w="13335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Regime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BNP noise / signal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BNP covariance lag-1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Truth covariance lag-1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Screen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15-min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T=96,C=6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0.840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0.617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0.901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04C27"/>
                          </a:solidFill>
                          <a:latin typeface="Calibri"/>
                          <a:ea typeface="Calibri"/>
                          <a:cs typeface="Calibri"/>
                        </a:rPr>
                        <a:t>FAIL</a:t>
                      </a:r>
                    </a:p>
                  </a:txBody>
                  <a:tcPr marL="91440" marR="91440" marT="45720" marB="45720" anchor="ctr"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Hourly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T=24,C=3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0.074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0.867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0.901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F7D5D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Gaussian 15-min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0.068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0.872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0.901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F7D5D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Gaussian hourly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0.006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0.898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0.901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F7D5D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A2BC5-0F3E-40D4-ADEE-9B96A954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3124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C7DF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4FB10-EF76-4FD6-9C37-9FC27E38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288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5D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2F7D5D"/>
                </a:solidFill>
                <a:latin typeface="Cambria"/>
                <a:ea typeface="Cambria"/>
                <a:cs typeface="Cambria"/>
              </a:rPr>
              <a:t>What changed in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23025-4702-4824-B5C3-A95691F5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05100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Hourly BNP: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0.074 noise / signal</a:t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0.867 covariance lag-1</a:t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-0.034 lag-1 change</a:t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voltage lag-1 stays near 0.60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This meets the predefined screen for the bounded hourly release.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95F6E-E0F2-4116-ABEB-F83D4218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896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803DB-BB2B-4A7C-83F3-6DCE36D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B60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73B60"/>
                </a:solidFill>
                <a:latin typeface="Calibri"/>
                <a:ea typeface="Calibri"/>
                <a:cs typeface="Calibri"/>
              </a:rPr>
              <a:t>Gaussian remains the lower-noise option in this comparison. BNP's distinct benefit is the hard error bound, when the release is scoped tightly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ECD75-42C0-4A18-89E9-99238AE1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3925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FF0EF-AA26-4210-B744-99FDB841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SCOPE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8F69C-1EC4-4E31-8BCD-1BA6684D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The claim is viability for one bounded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7814E-5C58-44CA-A078-FCE2F097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257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C7DFD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D1347-1558-45B7-9681-7D08F6E5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7D5D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2F7D5D"/>
                </a:solidFill>
                <a:latin typeface="Cambria"/>
                <a:ea typeface="Cambria"/>
                <a:cs typeface="Cambria"/>
              </a:rPr>
              <a:t>Supported by the measurements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EFB71-8B1C-473E-A6F8-44A5FF7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43243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Ckt5 hourly load-shape covariance, T=24 and C=3, passes the screen for both saved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BNP still gives an exact bounded-noise guarantee at δ=0.02.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Voltage W1 and voltage lag-1 remain close to the nonprivate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2F85C-5886-462D-AF99-1B1CD053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257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773C8-0258-49EB-95E9-39732CD5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04C27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B04C27"/>
                </a:solidFill>
                <a:latin typeface="Cambria"/>
                <a:ea typeface="Cambria"/>
                <a:cs typeface="Cambria"/>
              </a:rPr>
              <a:t>Still 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69252-EDC9-4820-BB43-911AC2FA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43243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BNP is not superior to Gaussian on parameter noise.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The 15-minute Ckt5 covariance row fails the temporal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Full IEEE 123-bus covariance and voltage-trajectory releases remain harder targets.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8735-6AE6-42CE-9C72-82DFE670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B60"/>
          </a:solidFill>
          <a:ln xmlns:a="http://schemas.openxmlformats.org/drawingml/2006/main" w="9525">
            <a:solidFill>
              <a:srgbClr val="173B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B5827-CF24-4A5D-8A61-539A4CE4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817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BNP is a good choice when the application values a hard error tolerance and can release a lower-sensitivity statistic.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89BFC-E986-4EFF-9DEA-0F4F2FB4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0718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2026-09-17T14:32:08.4280000Z</dcterms:created>
  <dcterms:modified xsi:type="dcterms:W3CDTF">2026-09-17T14:32:08.4280000Z</dcterms:modified>
</coreProperties>
</file>