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71342d94d494669" /><Relationship Type="http://schemas.openxmlformats.org/officeDocument/2006/relationships/extended-properties" Target="/docProps/app.xml" Id="Rac97d108d15543ab" /><Relationship Type="http://schemas.openxmlformats.org/officeDocument/2006/relationships/officeDocument" Target="/ppt/presentation.xml" Id="R72c40767bb434765" /></Relationships>
</file>

<file path=ppt/presentation.xml><?xml version="1.0" encoding="utf-8"?>
<p:presentation xmlns:p="http://schemas.openxmlformats.org/presentationml/2006/main">
  <p:sldMasterIdLst>
    <p:sldMasterId xmlns:r="http://schemas.openxmlformats.org/officeDocument/2006/relationships" id="2147483648" r:id="Red927a1c000d443e"/>
  </p:sldMasterIdLst>
  <p:notesMasterIdLst>
    <p:notesMasterId xmlns:r="http://schemas.openxmlformats.org/officeDocument/2006/relationships" r:id="R94ffb3341b9c4643"/>
  </p:notesMasterIdLst>
  <p:sldIdLst>
    <p:sldId xmlns:r="http://schemas.openxmlformats.org/officeDocument/2006/relationships" id="256" r:id="Raf1f6520556f4d96"/>
    <p:sldId xmlns:r="http://schemas.openxmlformats.org/officeDocument/2006/relationships" id="257" r:id="Ra2cda48e15474ae5"/>
    <p:sldId xmlns:r="http://schemas.openxmlformats.org/officeDocument/2006/relationships" id="258" r:id="R16a33af8ca204379"/>
    <p:sldId xmlns:r="http://schemas.openxmlformats.org/officeDocument/2006/relationships" id="259" r:id="R488b7c5490c8487e"/>
    <p:sldId xmlns:r="http://schemas.openxmlformats.org/officeDocument/2006/relationships" id="260" r:id="Rb99b067341994c17"/>
    <p:sldId xmlns:r="http://schemas.openxmlformats.org/officeDocument/2006/relationships" id="261" r:id="R7ebc2efc35cf4d9b"/>
    <p:sldId xmlns:r="http://schemas.openxmlformats.org/officeDocument/2006/relationships" id="262" r:id="Rd1d6aea1b8ca44df"/>
    <p:sldId xmlns:r="http://schemas.openxmlformats.org/officeDocument/2006/relationships" id="263" r:id="Rc84cfe209b0040d2"/>
    <p:sldId xmlns:r="http://schemas.openxmlformats.org/officeDocument/2006/relationships" id="264" r:id="R3a186e59976247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a8eb9c11a3454b" /><Relationship Type="http://schemas.openxmlformats.org/officeDocument/2006/relationships/slideMaster" Target="/ppt/slideMasters/slideMaster1.xml" Id="Red927a1c000d443e" /><Relationship Type="http://schemas.openxmlformats.org/officeDocument/2006/relationships/notesMaster" Target="/ppt/notesMasters/notesMaster1.xml" Id="R94ffb3341b9c4643" /><Relationship Type="http://schemas.openxmlformats.org/officeDocument/2006/relationships/presProps" Target="/ppt/presProps.xml" Id="R142c0d24da2b4577" /><Relationship Type="http://schemas.openxmlformats.org/officeDocument/2006/relationships/tableStyles" Target="/ppt/tableStyles.xml" Id="R6160287df4994b22" /><Relationship Type="http://schemas.openxmlformats.org/officeDocument/2006/relationships/slide" Target="/ppt/slides/slide1.xml" Id="Raf1f6520556f4d96" /><Relationship Type="http://schemas.openxmlformats.org/officeDocument/2006/relationships/slide" Target="/ppt/slides/slide2.xml" Id="Ra2cda48e15474ae5" /><Relationship Type="http://schemas.openxmlformats.org/officeDocument/2006/relationships/slide" Target="/ppt/slides/slide3.xml" Id="R16a33af8ca204379" /><Relationship Type="http://schemas.openxmlformats.org/officeDocument/2006/relationships/slide" Target="/ppt/slides/slide4.xml" Id="R488b7c5490c8487e" /><Relationship Type="http://schemas.openxmlformats.org/officeDocument/2006/relationships/slide" Target="/ppt/slides/slide5.xml" Id="Rb99b067341994c17" /><Relationship Type="http://schemas.openxmlformats.org/officeDocument/2006/relationships/slide" Target="/ppt/slides/slide6.xml" Id="R7ebc2efc35cf4d9b" /><Relationship Type="http://schemas.openxmlformats.org/officeDocument/2006/relationships/slide" Target="/ppt/slides/slide7.xml" Id="Rd1d6aea1b8ca44df" /><Relationship Type="http://schemas.openxmlformats.org/officeDocument/2006/relationships/slide" Target="/ppt/slides/slide8.xml" Id="Rc84cfe209b0040d2" /><Relationship Type="http://schemas.openxmlformats.org/officeDocument/2006/relationships/slide" Target="/ppt/slides/slide9.xml" Id="R3a186e59976247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66c0625a6144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0ccea7ce0e4cc9" /><Relationship Type="http://schemas.openxmlformats.org/officeDocument/2006/relationships/notesMaster" Target="/ppt/notesMasters/notesMaster1.xml" Id="R92b2b68337164e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cdb89bed01435d" /><Relationship Type="http://schemas.openxmlformats.org/officeDocument/2006/relationships/notesMaster" Target="/ppt/notesMasters/notesMaster1.xml" Id="Recd5c5a83fa845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0a7f34a7914028" /><Relationship Type="http://schemas.openxmlformats.org/officeDocument/2006/relationships/notesMaster" Target="/ppt/notesMasters/notesMaster1.xml" Id="Rbc19865ad8674b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ad50027499493e" /><Relationship Type="http://schemas.openxmlformats.org/officeDocument/2006/relationships/notesMaster" Target="/ppt/notesMasters/notesMaster1.xml" Id="Rbb4d9b6e214c4e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800a04e3ba4e2f" /><Relationship Type="http://schemas.openxmlformats.org/officeDocument/2006/relationships/notesMaster" Target="/ppt/notesMasters/notesMaster1.xml" Id="R7a697b9adb9e44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561723c5f74d1c" /><Relationship Type="http://schemas.openxmlformats.org/officeDocument/2006/relationships/notesMaster" Target="/ppt/notesMasters/notesMaster1.xml" Id="Rb40b8f14ea8840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cd5335e9884615" /><Relationship Type="http://schemas.openxmlformats.org/officeDocument/2006/relationships/notesMaster" Target="/ppt/notesMasters/notesMaster1.xml" Id="R0cd82692c7da4b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142b08c96e4e08" /><Relationship Type="http://schemas.openxmlformats.org/officeDocument/2006/relationships/notesMaster" Target="/ppt/notesMasters/notesMaster1.xml" Id="R6a52a2824d1941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a307ac58ff422e" /><Relationship Type="http://schemas.openxmlformats.org/officeDocument/2006/relationships/notesMaster" Target="/ppt/notesMasters/notesMaster1.xml" Id="Red4134a041ee42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Nine-slide explanation of a new direct bus-sum benchmark including an equal-budget test. Results do not replace prior model-fit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Source: https://python-paillier.readthedocs.io/en/latest/phe.html and dpvolt/secure_agg.py. Paillier ciphertext multiplication implements plaintext addition modulo n, with fixed-point encoding for floats. Randomized 2048-bit encryption. Independent Gaussian noise shares have SD sigma/sqrt(10). Ten honest contributions yield variance sigma squared. Plain Paillier does not enforce aggregate-only decryption. Fixed rosters, authenticated messages and a separate decryptor are deployment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Public 20 kW input cap, sensitivity 20 kW. Input clipping affects 1.538% of meter readings. Its separate bus-load RMSE is 11.530493126642915 kW. Multiple time samples retain this event-level guarantee because a neighboring dataset changes only one coordinate. Customer-trajectory adjacency needs new calibration or composition. The trusted BNP/Gaussian collector receives plaintext; these modes are not local DP.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Equal prior labels for two neighboring datasets whose sums differ by the sensitivity, 20 kW. For Gaussian, the likelihood-ratio classifier thresholds at half the shift. For uniform BNP, classify disjoint support exactly and guess randomly in the overlap. Theory: Gaussian Phi(S/(2 sigma)), BNP 0.5+delta/2, exact plaintext sum 1. Paired Gaussian/hybrid use the same attack samples because their ideal output distribution matches. Encryption 100% is analytical, not a cryptanalytic attack. Each empirical noisy accuracy has approximate binomial 95% uncertainty of +/-0.22 percentage points. Source for Gaussian calibration: https://proceedings.mlr.press/v80/balle18a.html.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Error is relative to the same publicly clipped input sums. Mean trial RMSE, not a privacy score. Zero-height encryption bar rounds away fixed-point error. BNP noise half-width B=S/(2 delta); uniform RMSE B/sqrt(3). Gaussian analytic calibration uses epsilon=1 and delta=.01. Encryption and hybrid use actual cryptography on every load row in the first trial. Subsequent hybrid trials use equivalent plaintext aggregation of identical local shares. Full trial-level 95% confidence intervals are in 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Voltage magnitudes follow OpenDSS AC power flow with reactive loads determined by original public power factors. Every experiment resets the feeder. Reference voltages use the bounded input sums. Reported metric is mean across trial-specific RMSEs over six time samples and retained nodes. Public output clipping is post-processing and is essential context for this utility chart. It creates saturation and removes the large raw-noise tails. This direct-sum experiment does not inherit the model-fitting paper topology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Source: matched_budget.json and trials_matched.csv. Additional 30 independent Gaussian noise trials on the original inputs. At epsilon=0, Gaussian delta is its total variation: 2 Phi(S/(2 sigma))-1. Inversion gives sigma=S/[2 Phi^-1((1+delta)/2)]. Thus theoretical RMSE is 797.8637 kW for Gaussian versus 577.3503 kW for BNP. Both have theoretical equal-prior neighboring-sum attack success 50.5%. The initial Gaussian epsilon=1 results purchase utility by relaxing epsilon. Clipped voltage-error confidence intervals overlap, so this slide does not claim a meaningful voltage-utility advantage for BNP.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a:t>
            </a:r>
          </a:p>
          <a:p xmlns:a="http://schemas.openxmlformats.org/drawingml/2006/main">
            <a:r>
              <a:t>  "Encryption": {</a:t>
            </a:r>
          </a:p>
          <a:p xmlns:a="http://schemas.openxmlformats.org/drawingml/2006/main">
            <a:r>
              <a:t>    "wall_s": 83.58690710004885,</a:t>
            </a:r>
          </a:p>
          <a:p xmlns:a="http://schemas.openxmlformats.org/drawingml/2006/main">
            <a:r>
              <a:t>    "max_plaintext_difference_kw": 3.0718899646231534e-9,</a:t>
            </a:r>
          </a:p>
          <a:p xmlns:a="http://schemas.openxmlformats.org/drawingml/2006/main">
            <a:r>
              <a:t>    "timing": {</a:t>
            </a:r>
          </a:p>
          <a:p xmlns:a="http://schemas.openxmlformats.org/drawingml/2006/main">
            <a:r>
              <a:t>      "encryption_s": 80.99284460092895,</a:t>
            </a:r>
          </a:p>
          <a:p xmlns:a="http://schemas.openxmlformats.org/drawingml/2006/main">
            <a:r>
              <a:t>      "addition_s": 0.12669370020739734,</a:t>
            </a:r>
          </a:p>
          <a:p xmlns:a="http://schemas.openxmlformats.org/drawingml/2006/main">
            <a:r>
              <a:t>      "decryption_s": 2.3276806991780177,</a:t>
            </a:r>
          </a:p>
          <a:p xmlns:a="http://schemas.openxmlformats.org/drawingml/2006/main">
            <a:r>
              <a:t>      "encrypted_values": 5460,</a:t>
            </a:r>
          </a:p>
          <a:p xmlns:a="http://schemas.openxmlformats.org/drawingml/2006/main">
            <a:r>
              <a:t>      "decrypted_values": 546</a:t>
            </a:r>
          </a:p>
          <a:p xmlns:a="http://schemas.openxmlformats.org/drawingml/2006/main">
            <a:r>
              <a:t>    },</a:t>
            </a:r>
          </a:p>
          <a:p xmlns:a="http://schemas.openxmlformats.org/drawingml/2006/main">
            <a:r>
              <a:t>    "coverage": "Every feeder load row and time sample, first trial only"</a:t>
            </a:r>
          </a:p>
          <a:p xmlns:a="http://schemas.openxmlformats.org/drawingml/2006/main">
            <a:r>
              <a:t>  },</a:t>
            </a:r>
          </a:p>
          <a:p xmlns:a="http://schemas.openxmlformats.org/drawingml/2006/main">
            <a:r>
              <a:t>  "Encryption + Gaussian": {</a:t>
            </a:r>
          </a:p>
          <a:p xmlns:a="http://schemas.openxmlformats.org/drawingml/2006/main">
            <a:r>
              <a:t>    "wall_s": 83.9024360999465,</a:t>
            </a:r>
          </a:p>
          <a:p xmlns:a="http://schemas.openxmlformats.org/drawingml/2006/main">
            <a:r>
              <a:t>    "max_plaintext_difference_kw": 2.913055213715765e-9,</a:t>
            </a:r>
          </a:p>
          <a:p xmlns:a="http://schemas.openxmlformats.org/drawingml/2006/main">
            <a:r>
              <a:t>    "timing": {</a:t>
            </a:r>
          </a:p>
          <a:p xmlns:a="http://schemas.openxmlformats.org/drawingml/2006/main">
            <a:r>
              <a:t>      "encryption_s": 81.28512180154212,</a:t>
            </a:r>
          </a:p>
          <a:p xmlns:a="http://schemas.openxmlformats.org/drawingml/2006/main">
            <a:r>
              <a:t>      "addition_s": 0.12402910110540688,</a:t>
            </a:r>
          </a:p>
          <a:p xmlns:a="http://schemas.openxmlformats.org/drawingml/2006/main">
            <a:r>
              <a:t>      "decryption_s": 2.3541160991881043,</a:t>
            </a:r>
          </a:p>
          <a:p xmlns:a="http://schemas.openxmlformats.org/drawingml/2006/main">
            <a:r>
              <a:t>      "encrypted_values": 5460,</a:t>
            </a:r>
          </a:p>
          <a:p xmlns:a="http://schemas.openxmlformats.org/drawingml/2006/main">
            <a:r>
              <a:t>      "decrypted_values": 546</a:t>
            </a:r>
          </a:p>
          <a:p xmlns:a="http://schemas.openxmlformats.org/drawingml/2006/main">
            <a:r>
              <a:t>    },</a:t>
            </a:r>
          </a:p>
          <a:p xmlns:a="http://schemas.openxmlformats.org/drawingml/2006/main">
            <a:r>
              <a:t>    "coverage": "Every feeder load row and time sample, first trial only"</a:t>
            </a:r>
          </a:p>
          <a:p xmlns:a="http://schemas.openxmlformats.org/drawingml/2006/main">
            <a:r>
              <a:t>  }</a:t>
            </a:r>
          </a:p>
          <a:p xmlns:a="http://schemas.openxmlformats.org/drawingml/2006/main">
            <a:r>
              <a:t>}</a:t>
            </a:r>
          </a:p>
          <a:p xmlns:a="http://schemas.openxmlformats.org/drawingml/2006/main">
            <a:r>
              <a:t>Single observation for each method. Do not infer a statistical speed difference between encryption and hybrid. Times include local summing/harness overhead and exclude power flow, key generation, networking and production role separation. No claim of production throughput.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measurements: results/privacy_comparison_20260924/metrics.json and trials.csv. Reproduce with run_privacy_comparison.py. Synthetic IEEE 123 data, event-level bounded replacement adjacency, ideal continuous-noise accounting. This is direct bus-sum release, separate from the existing model-fitting pipeline. All results use the same public input clipping. No topology or whole-customer trajectory privacy claim.</a:t>
            </a:r>
          </a:p>
          <a:p xmlns:a="http://schemas.openxmlformats.org/drawingml/2006/main">
            <a:r>
              <a:t/>
            </a:r>
          </a:p>
          <a:p xmlns:a="http://schemas.openxmlformats.org/drawingml/2006/main">
            <a:r>
              <a:t>Conclusions apply to this operating point and this direct bus-sum query. They are not a universal ranking of bounded-noise and Gaussian mechanisms. The two mechanisms have different epsilon guarantees. Research simulations use NumPy RNG and finite-precision arithmetic rather than a certified deployment-grade DP sampler. Paillier is real, while the trust boundary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3fe8e9294740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de45bf524549d5" /><Relationship Type="http://schemas.openxmlformats.org/officeDocument/2006/relationships/slideLayout" Target="/ppt/slideLayouts/slideLayout1.xml" Id="R2194fd911d2e45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94fd911d2e45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2d3d28cbea4cf0" /><Relationship Type="http://schemas.openxmlformats.org/officeDocument/2006/relationships/notesSlide" Target="/ppt/notesSlides/notesSlide1.xml" Id="R29f3109623c545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bf4eb9355d4ab0" /><Relationship Type="http://schemas.openxmlformats.org/officeDocument/2006/relationships/notesSlide" Target="/ppt/notesSlides/notesSlide2.xml" Id="R7df178d31d5140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7939b786b1426d" /><Relationship Type="http://schemas.openxmlformats.org/officeDocument/2006/relationships/notesSlide" Target="/ppt/notesSlides/notesSlide3.xml" Id="Rb9aa36ac90ac47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689a5425d4441b" /><Relationship Type="http://schemas.openxmlformats.org/officeDocument/2006/relationships/chart" Target="/ppt/slides/charts/chart1.xml" Id="R29a107603d32491f" /><Relationship Type="http://schemas.openxmlformats.org/officeDocument/2006/relationships/notesSlide" Target="/ppt/notesSlides/notesSlide4.xml" Id="R5ec1c9db540d47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1e1c40ec6e434a" /><Relationship Type="http://schemas.openxmlformats.org/officeDocument/2006/relationships/chart" Target="/ppt/slides/charts/chart2.xml" Id="R675c328651c1424c" /><Relationship Type="http://schemas.openxmlformats.org/officeDocument/2006/relationships/notesSlide" Target="/ppt/notesSlides/notesSlide5.xml" Id="R1ea4af35312e42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7b4e863ee44507" /><Relationship Type="http://schemas.openxmlformats.org/officeDocument/2006/relationships/chart" Target="/ppt/slides/charts/chart3.xml" Id="Reded640393cb4ffa" /><Relationship Type="http://schemas.openxmlformats.org/officeDocument/2006/relationships/notesSlide" Target="/ppt/notesSlides/notesSlide6.xml" Id="R1c5361498b944b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7f59376f2e4cb9" /><Relationship Type="http://schemas.openxmlformats.org/officeDocument/2006/relationships/chart" Target="/ppt/slides/charts/chart4.xml" Id="Ra7d37d05942f41d9" /><Relationship Type="http://schemas.openxmlformats.org/officeDocument/2006/relationships/notesSlide" Target="/ppt/notesSlides/notesSlide7.xml" Id="R6d012c98bade41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52b9a69aef4d77" /><Relationship Type="http://schemas.openxmlformats.org/officeDocument/2006/relationships/chart" Target="/ppt/slides/charts/chart5.xml" Id="Rf5266ea927ca4205" /><Relationship Type="http://schemas.openxmlformats.org/officeDocument/2006/relationships/notesSlide" Target="/ppt/notesSlides/notesSlide8.xml" Id="R8d037b81517143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574ff5d954c408f" /><Relationship Type="http://schemas.openxmlformats.org/officeDocument/2006/relationships/notesSlide" Target="/ppt/notesSlides/notesSlide9.xml" Id="Rcf5939637f854f3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C46C32"/>
            </a:solidFill>
          </c:spPr>
          <c:dPt>
            <c:idx val="0"/>
            <c:invertIfNegative val="0"/>
            <c:spPr>
              <a:solidFill xmlns:a="http://schemas.openxmlformats.org/drawingml/2006/main">
                <a:srgbClr val="C46C32"/>
              </a:solidFill>
            </c:spPr>
          </c:dPt>
          <c:dPt>
            <c:idx val="1"/>
            <c:invertIfNegative val="0"/>
            <c:spPr>
              <a:solidFill xmlns:a="http://schemas.openxmlformats.org/drawingml/2006/main">
                <a:srgbClr val="3E6B96"/>
              </a:solidFill>
            </c:spPr>
          </c:dPt>
          <c:dPt>
            <c:idx val="2"/>
            <c:invertIfNegative val="0"/>
            <c:spPr>
              <a:solidFill xmlns:a="http://schemas.openxmlformats.org/drawingml/2006/main">
                <a:srgbClr val="7B8487"/>
              </a:solidFill>
            </c:spPr>
          </c:dPt>
          <c:dPt>
            <c:idx val="3"/>
            <c:invertIfNegative val="0"/>
            <c:spPr>
              <a:solidFill xmlns:a="http://schemas.openxmlformats.org/drawingml/2006/main">
                <a:srgbClr val="168276"/>
              </a:solidFill>
            </c:spPr>
          </c:dPt>
          <c:cat>
            <c:strRef>
              <c:f>'Chart Data'!$A$2:$A$5</c:f>
              <c:strCache>
                <c:ptCount val="4"/>
                <c:pt idx="0">
                  <c:v>BNP</c:v>
                </c:pt>
                <c:pt idx="1">
                  <c:v>Gaussian</c:v>
                </c:pt>
                <c:pt idx="2">
                  <c:v>Encryption</c:v>
                </c:pt>
                <c:pt idx="3">
                  <c:v>Encryption +
Gaussian</c:v>
                </c:pt>
              </c:strCache>
            </c:strRef>
          </c:cat>
          <c:val>
            <c:numRef>
              <c:f>'Chart Data'!$B$2:$B$5</c:f>
              <c:numCache>
                <c:formatCode>0.0%</c:formatCode>
                <c:ptCount val="4"/>
                <c:pt idx="0">
                  <c:v>0.505035</c:v>
                </c:pt>
                <c:pt idx="1">
                  <c:v>0.60553</c:v>
                </c:pt>
                <c:pt idx="2">
                  <c:v>1</c:v>
                </c:pt>
                <c:pt idx="3">
                  <c:v>0.60553</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Correct guesses</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C46C32"/>
            </a:solidFill>
          </c:spPr>
          <c:dPt>
            <c:idx val="0"/>
            <c:invertIfNegative val="0"/>
            <c:spPr>
              <a:solidFill xmlns:a="http://schemas.openxmlformats.org/drawingml/2006/main">
                <a:srgbClr val="C46C32"/>
              </a:solidFill>
            </c:spPr>
          </c:dPt>
          <c:dPt>
            <c:idx val="1"/>
            <c:invertIfNegative val="0"/>
            <c:spPr>
              <a:solidFill xmlns:a="http://schemas.openxmlformats.org/drawingml/2006/main">
                <a:srgbClr val="3E6B96"/>
              </a:solidFill>
            </c:spPr>
          </c:dPt>
          <c:dPt>
            <c:idx val="2"/>
            <c:invertIfNegative val="0"/>
            <c:spPr>
              <a:solidFill xmlns:a="http://schemas.openxmlformats.org/drawingml/2006/main">
                <a:srgbClr val="7B8487"/>
              </a:solidFill>
            </c:spPr>
          </c:dPt>
          <c:dPt>
            <c:idx val="3"/>
            <c:invertIfNegative val="0"/>
            <c:spPr>
              <a:solidFill xmlns:a="http://schemas.openxmlformats.org/drawingml/2006/main">
                <a:srgbClr val="168276"/>
              </a:solidFill>
            </c:spPr>
          </c:dPt>
          <c:cat>
            <c:strRef>
              <c:f>'Chart Data'!$A$2:$A$5</c:f>
              <c:strCache>
                <c:ptCount val="4"/>
                <c:pt idx="0">
                  <c:v>BNP</c:v>
                </c:pt>
                <c:pt idx="1">
                  <c:v>Gaussian</c:v>
                </c:pt>
                <c:pt idx="2">
                  <c:v>Encryption</c:v>
                </c:pt>
                <c:pt idx="3">
                  <c:v>Encryption +
Gaussian</c:v>
                </c:pt>
              </c:strCache>
            </c:strRef>
          </c:cat>
          <c:val>
            <c:numRef>
              <c:f>'Chart Data'!$B$2:$B$5</c:f>
              <c:numCache>
                <c:formatCode>0.0</c:formatCode>
                <c:ptCount val="4"/>
                <c:pt idx="0">
                  <c:v>574.16873</c:v>
                </c:pt>
                <c:pt idx="1">
                  <c:v>37.644434</c:v>
                </c:pt>
                <c:pt idx="2">
                  <c:v>8.5948268E-10</c:v>
                </c:pt>
                <c:pt idx="3">
                  <c:v>37.644434</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RMSE (kW)</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C46C32"/>
            </a:solidFill>
          </c:spPr>
          <c:dPt>
            <c:idx val="0"/>
            <c:invertIfNegative val="0"/>
            <c:spPr>
              <a:solidFill xmlns:a="http://schemas.openxmlformats.org/drawingml/2006/main">
                <a:srgbClr val="C46C32"/>
              </a:solidFill>
            </c:spPr>
          </c:dPt>
          <c:dPt>
            <c:idx val="1"/>
            <c:invertIfNegative val="0"/>
            <c:spPr>
              <a:solidFill xmlns:a="http://schemas.openxmlformats.org/drawingml/2006/main">
                <a:srgbClr val="3E6B96"/>
              </a:solidFill>
            </c:spPr>
          </c:dPt>
          <c:dPt>
            <c:idx val="2"/>
            <c:invertIfNegative val="0"/>
            <c:spPr>
              <a:solidFill xmlns:a="http://schemas.openxmlformats.org/drawingml/2006/main">
                <a:srgbClr val="7B8487"/>
              </a:solidFill>
            </c:spPr>
          </c:dPt>
          <c:dPt>
            <c:idx val="3"/>
            <c:invertIfNegative val="0"/>
            <c:spPr>
              <a:solidFill xmlns:a="http://schemas.openxmlformats.org/drawingml/2006/main">
                <a:srgbClr val="168276"/>
              </a:solidFill>
            </c:spPr>
          </c:dPt>
          <c:cat>
            <c:strRef>
              <c:f>'Chart Data'!$A$2:$A$5</c:f>
              <c:strCache>
                <c:ptCount val="4"/>
                <c:pt idx="0">
                  <c:v>BNP</c:v>
                </c:pt>
                <c:pt idx="1">
                  <c:v>Gaussian</c:v>
                </c:pt>
                <c:pt idx="2">
                  <c:v>Encryption</c:v>
                </c:pt>
                <c:pt idx="3">
                  <c:v>Encryption +
Gaussian</c:v>
                </c:pt>
              </c:strCache>
            </c:strRef>
          </c:cat>
          <c:val>
            <c:numRef>
              <c:f>'Chart Data'!$B$2:$B$5</c:f>
              <c:numCache>
                <c:formatCode>0.0000</c:formatCode>
                <c:ptCount val="4"/>
                <c:pt idx="0">
                  <c:v>0.094191539</c:v>
                </c:pt>
                <c:pt idx="1">
                  <c:v>0.016167102</c:v>
                </c:pt>
                <c:pt idx="2">
                  <c:v>4.2172735E-13</c:v>
                </c:pt>
                <c:pt idx="3">
                  <c:v>0.016167102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Voltage RMSE (pu)</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C46C32"/>
            </a:solidFill>
          </c:spPr>
          <c:dPt>
            <c:idx val="0"/>
            <c:invertIfNegative val="0"/>
            <c:spPr>
              <a:solidFill xmlns:a="http://schemas.openxmlformats.org/drawingml/2006/main">
                <a:srgbClr val="C46C32"/>
              </a:solidFill>
            </c:spPr>
          </c:dPt>
          <c:dPt>
            <c:idx val="1"/>
            <c:invertIfNegative val="0"/>
            <c:spPr>
              <a:solidFill xmlns:a="http://schemas.openxmlformats.org/drawingml/2006/main">
                <a:srgbClr val="3E6B96"/>
              </a:solidFill>
            </c:spPr>
          </c:dPt>
          <c:cat>
            <c:strRef>
              <c:f>'Chart Data'!$A$2:$A$3</c:f>
              <c:strCache>
                <c:ptCount val="2"/>
                <c:pt idx="0">
                  <c:v>BNP, ε = 0</c:v>
                </c:pt>
                <c:pt idx="1">
                  <c:v>Gaussian, ε = 0</c:v>
                </c:pt>
              </c:strCache>
            </c:strRef>
          </c:cat>
          <c:val>
            <c:numRef>
              <c:f>'Chart Data'!$B$2:$B$3</c:f>
              <c:numCache>
                <c:formatCode>0.0</c:formatCode>
                <c:ptCount val="2"/>
                <c:pt idx="0">
                  <c:v>574.16873</c:v>
                </c:pt>
                <c:pt idx="1">
                  <c:v>797.09321</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Raw load RMSE (kW)</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7B8487"/>
            </a:solidFill>
          </c:spPr>
          <c:dPt>
            <c:idx val="0"/>
            <c:invertIfNegative val="0"/>
            <c:spPr>
              <a:solidFill xmlns:a="http://schemas.openxmlformats.org/drawingml/2006/main">
                <a:srgbClr val="7B8487"/>
              </a:solidFill>
            </c:spPr>
          </c:dPt>
          <c:dPt>
            <c:idx val="1"/>
            <c:invertIfNegative val="0"/>
            <c:spPr>
              <a:solidFill xmlns:a="http://schemas.openxmlformats.org/drawingml/2006/main">
                <a:srgbClr val="168276"/>
              </a:solidFill>
            </c:spPr>
          </c:dPt>
          <c:cat>
            <c:strRef>
              <c:f>'Chart Data'!$A$2:$A$3</c:f>
              <c:strCache>
                <c:ptCount val="2"/>
                <c:pt idx="0">
                  <c:v>Encryption</c:v>
                </c:pt>
                <c:pt idx="1">
                  <c:v>Encryption + Gaussian</c:v>
                </c:pt>
              </c:strCache>
            </c:strRef>
          </c:cat>
          <c:val>
            <c:numRef>
              <c:f>'Chart Data'!$B$2:$B$3</c:f>
              <c:numCache>
                <c:formatCode>0.0</c:formatCode>
                <c:ptCount val="2"/>
                <c:pt idx="0">
                  <c:v>83.586907</c:v>
                </c:pt>
                <c:pt idx="1">
                  <c:v>83.902436</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B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B3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3DF"/>
              </a:solidFill>
            </a:ln>
          </c:spPr>
        </c:majorGridlines>
        <c:title>
          <c:tx>
            <c:rich>
              <a:bodyPr xmlns:a="http://schemas.openxmlformats.org/drawingml/2006/main"/>
              <a:lstStyle xmlns:a="http://schemas.openxmlformats.org/drawingml/2006/main"/>
              <a:p xmlns:a="http://schemas.openxmlformats.org/drawingml/2006/main">
                <a:r>
                  <a:rPr sz="1500">
                    <a:solidFill>
                      <a:srgbClr val="536B66"/>
                    </a:solidFill>
                    <a:latin typeface="Arial"/>
                    <a:ea typeface="Arial"/>
                    <a:cs typeface="Arial"/>
                  </a:rPr>
                  <a:t>Wall time (seconds)</a:t>
                </a:r>
              </a:p>
            </c:rich>
          </c:tx>
          <c:overlay val="0"/>
          <c:txPr>
            <a:bodyPr xmlns:a="http://schemas.openxmlformats.org/drawingml/2006/main" anchorCtr="1"/>
            <a:lstStyle xmlns:a="http://schemas.openxmlformats.org/drawingml/2006/main"/>
            <a:p xmlns:a="http://schemas.openxmlformats.org/drawingml/2006/main">
              <a:pPr>
                <a:defRPr sz="1500">
                  <a:solidFill>
                    <a:srgbClr val="536B6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66"/>
                </a:solidFill>
                <a:latin typeface="Arial"/>
                <a:ea typeface="Arial"/>
                <a:cs typeface="Arial"/>
              </a:defRPr>
            </a:pPr>
          </a:p>
        </c:txPr>
        <c:crossAx val="48650112"/>
        <c:crossBetween val="between"/>
      </c:valAx>
      <c:spPr>
        <a:solidFill xmlns:a="http://schemas.openxmlformats.org/drawingml/2006/main">
          <a:srgbClr val="F8FAF8"/>
        </a:solidFill>
      </c:spPr>
    </c:plotArea>
    <c:plotVisOnly val="1"/>
  </c:chart>
  <c:spPr>
    <a:solidFill xmlns:a="http://schemas.openxmlformats.org/drawingml/2006/main">
      <a:srgbClr val="F8FA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79A0B9-5B38-48CA-BC70-8EED022F2E4F}"/>
              </a:ext>
            </a:extLst>
          </p:cNvPr>
          <p:cNvSpPr>
            <a:spLocks xmlns:a="http://schemas.openxmlformats.org/drawingml/2006/main" noGrp="1"/>
          </p:cNvSpPr>
          <p:nvPr/>
        </p:nvSpPr>
        <p:spPr>
          <a:xfrm xmlns:a="http://schemas.openxmlformats.org/drawingml/2006/main">
            <a:off x="647700" y="10001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425" b="1">
                <a:solidFill>
                  <a:srgbClr val="FFFFFF"/>
                </a:solidFill>
                <a:latin typeface="Arial"/>
                <a:ea typeface="Arial"/>
                <a:cs typeface="Arial"/>
              </a:defRPr>
            </a:pPr>
            <a:r>
              <a:rPr sz="4425" b="1">
                <a:solidFill>
                  <a:srgbClr val="FFFFFF"/>
                </a:solidFill>
                <a:latin typeface="Arial"/>
                <a:ea typeface="Arial"/>
                <a:cs typeface="Arial"/>
              </a:rPr>
              <a:t>Privacy in voltage data</a:t>
            </a:r>
          </a:p>
        </p:txBody>
      </p:sp>
      <p:sp>
        <p:nvSpPr>
          <p:cNvPr id="2" name="">
            <a:extLst xmlns:a="http://schemas.openxmlformats.org/drawingml/2006/main">
              <a:ext uri="{FF2B5EF4-FFF2-40B4-BE49-F238E27FC236}">
                <a16:creationId xmlns:a16="http://schemas.microsoft.com/office/drawing/2014/main" id="{D3EEDF7C-D0A0-43B6-A9BC-AC4FB6AF0453}"/>
              </a:ext>
            </a:extLst>
          </p:cNvPr>
          <p:cNvSpPr>
            <a:spLocks xmlns:a="http://schemas.openxmlformats.org/drawingml/2006/main" noGrp="1"/>
          </p:cNvSpPr>
          <p:nvPr/>
        </p:nvSpPr>
        <p:spPr>
          <a:xfrm xmlns:a="http://schemas.openxmlformats.org/drawingml/2006/main">
            <a:off x="647700" y="2047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A4D4C7"/>
                </a:solidFill>
                <a:latin typeface="Arial"/>
                <a:ea typeface="Arial"/>
                <a:cs typeface="Arial"/>
              </a:defRPr>
            </a:pPr>
            <a:r>
              <a:rPr sz="3000" b="0">
                <a:solidFill>
                  <a:srgbClr val="A4D4C7"/>
                </a:solidFill>
                <a:latin typeface="Arial"/>
                <a:ea typeface="Arial"/>
                <a:cs typeface="Arial"/>
              </a:rPr>
              <a:t>BNP, Gaussian noise and encryption</a:t>
            </a:r>
          </a:p>
        </p:txBody>
      </p:sp>
      <p:sp>
        <p:nvSpPr>
          <p:cNvPr id="3" name="">
            <a:extLst xmlns:a="http://schemas.openxmlformats.org/drawingml/2006/main">
              <a:ext uri="{FF2B5EF4-FFF2-40B4-BE49-F238E27FC236}">
                <a16:creationId xmlns:a16="http://schemas.microsoft.com/office/drawing/2014/main" id="{E29A1F1E-CA61-4934-94FF-FC5E604F7A6E}"/>
              </a:ext>
            </a:extLst>
          </p:cNvPr>
          <p:cNvSpPr>
            <a:spLocks xmlns:a="http://schemas.openxmlformats.org/drawingml/2006/main" noGrp="1"/>
          </p:cNvSpPr>
          <p:nvPr/>
        </p:nvSpPr>
        <p:spPr>
          <a:xfrm xmlns:a="http://schemas.openxmlformats.org/drawingml/2006/main">
            <a:off x="647700" y="3448050"/>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 measured comparison on the IEEE 123 feeder</a:t>
            </a:r>
          </a:p>
        </p:txBody>
      </p:sp>
      <p:sp>
        <p:nvSpPr>
          <p:cNvPr id="4" name="">
            <a:extLst xmlns:a="http://schemas.openxmlformats.org/drawingml/2006/main">
              <a:ext uri="{FF2B5EF4-FFF2-40B4-BE49-F238E27FC236}">
                <a16:creationId xmlns:a16="http://schemas.microsoft.com/office/drawing/2014/main" id="{31B76CB2-2785-40BF-8314-8A38204371B2}"/>
              </a:ext>
            </a:extLst>
          </p:cNvPr>
          <p:cNvSpPr>
            <a:spLocks xmlns:a="http://schemas.openxmlformats.org/drawingml/2006/main" noGrp="1"/>
          </p:cNvSpPr>
          <p:nvPr/>
        </p:nvSpPr>
        <p:spPr>
          <a:xfrm xmlns:a="http://schemas.openxmlformats.org/drawingml/2006/main">
            <a:off x="647700" y="42672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Encryption plus Gaussian noise adds collector confidentiality</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while preserving the Gaussian output distribution.</a:t>
            </a:r>
          </a:p>
        </p:txBody>
      </p:sp>
      <p:sp>
        <p:nvSpPr>
          <p:cNvPr id="5" name="">
            <a:extLst xmlns:a="http://schemas.openxmlformats.org/drawingml/2006/main">
              <a:ext uri="{FF2B5EF4-FFF2-40B4-BE49-F238E27FC236}">
                <a16:creationId xmlns:a16="http://schemas.microsoft.com/office/drawing/2014/main" id="{645793FD-90F0-4E05-902B-19B5BD5AC760}"/>
              </a:ext>
            </a:extLst>
          </p:cNvPr>
          <p:cNvSpPr>
            <a:spLocks xmlns:a="http://schemas.openxmlformats.org/drawingml/2006/main" noGrp="1"/>
          </p:cNvSpPr>
          <p:nvPr/>
        </p:nvSpPr>
        <p:spPr>
          <a:xfrm xmlns:a="http://schemas.openxmlformats.org/drawingml/2006/main">
            <a:off x="647700" y="60579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A4D4C7"/>
                </a:solidFill>
                <a:latin typeface="Arial"/>
                <a:ea typeface="Arial"/>
                <a:cs typeface="Arial"/>
              </a:defRPr>
            </a:pPr>
            <a:r>
              <a:rPr sz="1500" b="0">
                <a:solidFill>
                  <a:srgbClr val="A4D4C7"/>
                </a:solidFill>
                <a:latin typeface="Arial"/>
                <a:ea typeface="Arial"/>
                <a:cs typeface="Arial"/>
              </a:rPr>
              <a:t>24 September 2026</a:t>
            </a:r>
          </a:p>
        </p:txBody>
      </p:sp>
    </p:spTree>
    <p:extLst>
      <p:ext uri="{BB962C8B-B14F-4D97-AF65-F5344CB8AC3E}">
        <p14:creationId xmlns:p14="http://schemas.microsoft.com/office/powerpoint/2010/main" val="1844868578"/>
      </p:ext>
    </p:extLst>
  </p:cSld>
</p:sld>
</file>

<file path=ppt/slides/slide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969BAB-956B-4D58-A79A-CD6A1B33821F}"/>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How Paillier encryption works</a:t>
            </a:r>
          </a:p>
        </p:txBody>
      </p:sp>
      <p:sp>
        <p:nvSpPr>
          <p:cNvPr id="2" name="">
            <a:extLst xmlns:a="http://schemas.openxmlformats.org/drawingml/2006/main">
              <a:ext uri="{FF2B5EF4-FFF2-40B4-BE49-F238E27FC236}">
                <a16:creationId xmlns:a16="http://schemas.microsoft.com/office/drawing/2014/main" id="{AEC9AC6A-EA5A-428A-8827-55F1705BF6B1}"/>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The collector can combine encrypted readings without opening them.</a:t>
            </a:r>
          </a:p>
        </p:txBody>
      </p:sp>
      <p:sp>
        <p:nvSpPr>
          <p:cNvPr id="3" name="">
            <a:extLst xmlns:a="http://schemas.openxmlformats.org/drawingml/2006/main">
              <a:ext uri="{FF2B5EF4-FFF2-40B4-BE49-F238E27FC236}">
                <a16:creationId xmlns:a16="http://schemas.microsoft.com/office/drawing/2014/main" id="{9DEB94D8-C0CB-41BA-888D-CE13702CAB8A}"/>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F49A1F9-93E8-4E99-A888-233CE1740DB3}"/>
              </a:ext>
            </a:extLst>
          </p:cNvPr>
          <p:cNvSpPr>
            <a:spLocks xmlns:a="http://schemas.openxmlformats.org/drawingml/2006/main" noGrp="1"/>
          </p:cNvSpPr>
          <p:nvPr/>
        </p:nvSpPr>
        <p:spPr>
          <a:xfrm xmlns:a="http://schemas.openxmlformats.org/drawingml/2006/main">
            <a:off x="609600" y="23526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68276"/>
                </a:solidFill>
                <a:latin typeface="Arial"/>
                <a:ea typeface="Arial"/>
                <a:cs typeface="Arial"/>
              </a:defRPr>
            </a:pPr>
            <a:r>
              <a:rPr sz="2250" b="1">
                <a:solidFill>
                  <a:srgbClr val="168276"/>
                </a:solidFill>
                <a:latin typeface="Arial"/>
                <a:ea typeface="Arial"/>
                <a:cs typeface="Arial"/>
              </a:rPr>
              <a:t>1  Meter</a:t>
            </a:r>
          </a:p>
        </p:txBody>
      </p:sp>
      <p:sp>
        <p:nvSpPr>
          <p:cNvPr id="5" name="">
            <a:extLst xmlns:a="http://schemas.openxmlformats.org/drawingml/2006/main">
              <a:ext uri="{FF2B5EF4-FFF2-40B4-BE49-F238E27FC236}">
                <a16:creationId xmlns:a16="http://schemas.microsoft.com/office/drawing/2014/main" id="{CABF12B7-1605-4158-B9B6-87C0AF163F1D}"/>
              </a:ext>
            </a:extLst>
          </p:cNvPr>
          <p:cNvSpPr>
            <a:spLocks xmlns:a="http://schemas.openxmlformats.org/drawingml/2006/main" noGrp="1"/>
          </p:cNvSpPr>
          <p:nvPr/>
        </p:nvSpPr>
        <p:spPr>
          <a:xfrm xmlns:a="http://schemas.openxmlformats.org/drawingml/2006/main">
            <a:off x="3238500" y="2333625"/>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B36"/>
                </a:solidFill>
                <a:latin typeface="Arial"/>
                <a:ea typeface="Arial"/>
                <a:cs typeface="Arial"/>
              </a:defRPr>
            </a:pPr>
            <a:r>
              <a:rPr sz="2025" b="0">
                <a:solidFill>
                  <a:srgbClr val="173B36"/>
                </a:solidFill>
                <a:latin typeface="Arial"/>
                <a:ea typeface="Arial"/>
                <a:cs typeface="Arial"/>
              </a:rPr>
              <a:t>Adds its noise share, if enabled, then encrypts with the public key.</a:t>
            </a:r>
          </a:p>
        </p:txBody>
      </p:sp>
      <p:sp>
        <p:nvSpPr>
          <p:cNvPr id="6" name="">
            <a:extLst xmlns:a="http://schemas.openxmlformats.org/drawingml/2006/main">
              <a:ext uri="{FF2B5EF4-FFF2-40B4-BE49-F238E27FC236}">
                <a16:creationId xmlns:a16="http://schemas.microsoft.com/office/drawing/2014/main" id="{1F733FEE-39F6-47AC-B84E-126397715099}"/>
              </a:ext>
            </a:extLst>
          </p:cNvPr>
          <p:cNvSpPr>
            <a:spLocks xmlns:a="http://schemas.openxmlformats.org/drawingml/2006/main" noGrp="1"/>
          </p:cNvSpPr>
          <p:nvPr/>
        </p:nvSpPr>
        <p:spPr>
          <a:xfrm xmlns:a="http://schemas.openxmlformats.org/drawingml/2006/main">
            <a:off x="609600" y="32670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68276"/>
                </a:solidFill>
                <a:latin typeface="Arial"/>
                <a:ea typeface="Arial"/>
                <a:cs typeface="Arial"/>
              </a:defRPr>
            </a:pPr>
            <a:r>
              <a:rPr sz="2250" b="1">
                <a:solidFill>
                  <a:srgbClr val="168276"/>
                </a:solidFill>
                <a:latin typeface="Arial"/>
                <a:ea typeface="Arial"/>
                <a:cs typeface="Arial"/>
              </a:rPr>
              <a:t>2  Collector</a:t>
            </a:r>
          </a:p>
        </p:txBody>
      </p:sp>
      <p:sp>
        <p:nvSpPr>
          <p:cNvPr id="7" name="">
            <a:extLst xmlns:a="http://schemas.openxmlformats.org/drawingml/2006/main">
              <a:ext uri="{FF2B5EF4-FFF2-40B4-BE49-F238E27FC236}">
                <a16:creationId xmlns:a16="http://schemas.microsoft.com/office/drawing/2014/main" id="{ED8ADE48-1114-4F7E-B51F-8B8E816DB6DD}"/>
              </a:ext>
            </a:extLst>
          </p:cNvPr>
          <p:cNvSpPr>
            <a:spLocks xmlns:a="http://schemas.openxmlformats.org/drawingml/2006/main" noGrp="1"/>
          </p:cNvSpPr>
          <p:nvPr/>
        </p:nvSpPr>
        <p:spPr>
          <a:xfrm xmlns:a="http://schemas.openxmlformats.org/drawingml/2006/main">
            <a:off x="3238500" y="3248025"/>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B36"/>
                </a:solidFill>
                <a:latin typeface="Arial"/>
                <a:ea typeface="Arial"/>
                <a:cs typeface="Arial"/>
              </a:defRPr>
            </a:pPr>
            <a:r>
              <a:rPr sz="2025" b="0">
                <a:solidFill>
                  <a:srgbClr val="173B36"/>
                </a:solidFill>
                <a:latin typeface="Arial"/>
                <a:ea typeface="Arial"/>
                <a:cs typeface="Arial"/>
              </a:rPr>
              <a:t>Combines ciphertexts to form an encrypted sum. It holds no private key.</a:t>
            </a:r>
          </a:p>
        </p:txBody>
      </p:sp>
      <p:sp>
        <p:nvSpPr>
          <p:cNvPr id="8" name="">
            <a:extLst xmlns:a="http://schemas.openxmlformats.org/drawingml/2006/main">
              <a:ext uri="{FF2B5EF4-FFF2-40B4-BE49-F238E27FC236}">
                <a16:creationId xmlns:a16="http://schemas.microsoft.com/office/drawing/2014/main" id="{52E3F2EA-85E5-47C3-9D5F-0B5590DE2F63}"/>
              </a:ext>
            </a:extLst>
          </p:cNvPr>
          <p:cNvSpPr>
            <a:spLocks xmlns:a="http://schemas.openxmlformats.org/drawingml/2006/main" noGrp="1"/>
          </p:cNvSpPr>
          <p:nvPr/>
        </p:nvSpPr>
        <p:spPr>
          <a:xfrm xmlns:a="http://schemas.openxmlformats.org/drawingml/2006/main">
            <a:off x="609600" y="41814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68276"/>
                </a:solidFill>
                <a:latin typeface="Arial"/>
                <a:ea typeface="Arial"/>
                <a:cs typeface="Arial"/>
              </a:defRPr>
            </a:pPr>
            <a:r>
              <a:rPr sz="2250" b="1">
                <a:solidFill>
                  <a:srgbClr val="168276"/>
                </a:solidFill>
                <a:latin typeface="Arial"/>
                <a:ea typeface="Arial"/>
                <a:cs typeface="Arial"/>
              </a:rPr>
              <a:t>3  Decryptor</a:t>
            </a:r>
          </a:p>
        </p:txBody>
      </p:sp>
      <p:sp>
        <p:nvSpPr>
          <p:cNvPr id="9" name="">
            <a:extLst xmlns:a="http://schemas.openxmlformats.org/drawingml/2006/main">
              <a:ext uri="{FF2B5EF4-FFF2-40B4-BE49-F238E27FC236}">
                <a16:creationId xmlns:a16="http://schemas.microsoft.com/office/drawing/2014/main" id="{15EBEEB8-121C-4E1F-92BF-A761834C0874}"/>
              </a:ext>
            </a:extLst>
          </p:cNvPr>
          <p:cNvSpPr>
            <a:spLocks xmlns:a="http://schemas.openxmlformats.org/drawingml/2006/main" noGrp="1"/>
          </p:cNvSpPr>
          <p:nvPr/>
        </p:nvSpPr>
        <p:spPr>
          <a:xfrm xmlns:a="http://schemas.openxmlformats.org/drawingml/2006/main">
            <a:off x="3238500" y="4162425"/>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B36"/>
                </a:solidFill>
                <a:latin typeface="Arial"/>
                <a:ea typeface="Arial"/>
                <a:cs typeface="Arial"/>
              </a:defRPr>
            </a:pPr>
            <a:r>
              <a:rPr sz="2025" b="0">
                <a:solidFill>
                  <a:srgbClr val="173B36"/>
                </a:solidFill>
                <a:latin typeface="Arial"/>
                <a:ea typeface="Arial"/>
                <a:cs typeface="Arial"/>
              </a:rPr>
              <a:t>Uses the private key to open the sum. A separate role receives only totals.</a:t>
            </a:r>
          </a:p>
        </p:txBody>
      </p:sp>
      <p:sp>
        <p:nvSpPr>
          <p:cNvPr id="10" name="">
            <a:extLst xmlns:a="http://schemas.openxmlformats.org/drawingml/2006/main">
              <a:ext uri="{FF2B5EF4-FFF2-40B4-BE49-F238E27FC236}">
                <a16:creationId xmlns:a16="http://schemas.microsoft.com/office/drawing/2014/main" id="{3DF5832F-3F89-45D6-BF86-0B7F853B94D3}"/>
              </a:ext>
            </a:extLst>
          </p:cNvPr>
          <p:cNvSpPr>
            <a:spLocks xmlns:a="http://schemas.openxmlformats.org/drawingml/2006/main" noGrp="1"/>
          </p:cNvSpPr>
          <p:nvPr/>
        </p:nvSpPr>
        <p:spPr>
          <a:xfrm xmlns:a="http://schemas.openxmlformats.org/drawingml/2006/main">
            <a:off x="609600" y="52959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73B36"/>
                </a:solidFill>
                <a:latin typeface="Arial"/>
                <a:ea typeface="Arial"/>
                <a:cs typeface="Arial"/>
              </a:defRPr>
            </a:pPr>
            <a:r>
              <a:rPr sz="2025" b="1">
                <a:solidFill>
                  <a:srgbClr val="173B36"/>
                </a:solidFill>
                <a:latin typeface="Arial"/>
                <a:ea typeface="Arial"/>
                <a:cs typeface="Arial"/>
              </a:rPr>
              <a:t>Example: encrypted 2 + encrypted 3 gives an encrypted total of 5</a:t>
            </a:r>
          </a:p>
        </p:txBody>
      </p:sp>
      <p:sp>
        <p:nvSpPr>
          <p:cNvPr id="11" name="">
            <a:extLst xmlns:a="http://schemas.openxmlformats.org/drawingml/2006/main">
              <a:ext uri="{FF2B5EF4-FFF2-40B4-BE49-F238E27FC236}">
                <a16:creationId xmlns:a16="http://schemas.microsoft.com/office/drawing/2014/main" id="{CEC11610-AC58-413E-972A-57C9552FF2AB}"/>
              </a:ext>
            </a:extLst>
          </p:cNvPr>
          <p:cNvSpPr>
            <a:spLocks xmlns:a="http://schemas.openxmlformats.org/drawingml/2006/main" noGrp="1"/>
          </p:cNvSpPr>
          <p:nvPr/>
        </p:nvSpPr>
        <p:spPr>
          <a:xfrm xmlns:a="http://schemas.openxmlformats.org/drawingml/2006/main">
            <a:off x="609600" y="5857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36B66"/>
                </a:solidFill>
                <a:latin typeface="Arial"/>
                <a:ea typeface="Arial"/>
                <a:cs typeface="Arial"/>
              </a:defRPr>
            </a:pPr>
            <a:r>
              <a:rPr sz="1650" b="0">
                <a:solidFill>
                  <a:srgbClr val="536B66"/>
                </a:solidFill>
                <a:latin typeface="Arial"/>
                <a:ea typeface="Arial"/>
                <a:cs typeface="Arial"/>
              </a:rPr>
              <a:t>Our simulation shares one process. The private-key holder could decrypt an individual ciphertext if it received one.</a:t>
            </a:r>
          </a:p>
        </p:txBody>
      </p:sp>
    </p:spTree>
    <p:extLst>
      <p:ext uri="{BB962C8B-B14F-4D97-AF65-F5344CB8AC3E}">
        <p14:creationId xmlns:p14="http://schemas.microsoft.com/office/powerpoint/2010/main" val="1199153040"/>
      </p:ext>
    </p:extLst>
  </p:cSld>
</p:sld>
</file>

<file path=ppt/slides/slide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AECDB9-38B5-4758-A007-1D59B506A885}"/>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A shared comparison setup</a:t>
            </a:r>
          </a:p>
        </p:txBody>
      </p:sp>
      <p:sp>
        <p:nvSpPr>
          <p:cNvPr id="2" name="">
            <a:extLst xmlns:a="http://schemas.openxmlformats.org/drawingml/2006/main">
              <a:ext uri="{FF2B5EF4-FFF2-40B4-BE49-F238E27FC236}">
                <a16:creationId xmlns:a16="http://schemas.microsoft.com/office/drawing/2014/main" id="{208823CF-601D-41F8-8D0C-ACB205D507A7}"/>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91 load rows, 10 meters each, 6 time samples and 30 noise trials</a:t>
            </a:r>
          </a:p>
        </p:txBody>
      </p:sp>
      <p:sp>
        <p:nvSpPr>
          <p:cNvPr id="3" name="">
            <a:extLst xmlns:a="http://schemas.openxmlformats.org/drawingml/2006/main">
              <a:ext uri="{FF2B5EF4-FFF2-40B4-BE49-F238E27FC236}">
                <a16:creationId xmlns:a16="http://schemas.microsoft.com/office/drawing/2014/main" id="{30E9B463-1BE9-4CF4-A77C-60D3B2FD459A}"/>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03</a:t>
            </a:r>
          </a:p>
        </p:txBody>
      </p:sp>
      <p:graphicFrame>
        <p:nvGraphicFramePr>
          <p:cNvPr id="10" name=""/>
          <p:cNvGraphicFramePr/>
          <p:nvPr/>
        </p:nvGraphicFramePr>
        <p:xfrm>
          <a:off xmlns:a="http://schemas.openxmlformats.org/drawingml/2006/main" x="609600" y="2305050"/>
          <a:ext xmlns:a="http://schemas.openxmlformats.org/drawingml/2006/main" cx="10972800" cy="2933700"/>
        </p:xfrm>
        <a:graphic xmlns:a="http://schemas.openxmlformats.org/drawingml/2006/main">
          <a:graphicData uri="http://schemas.openxmlformats.org/drawingml/2006/table">
            <a:tbl>
              <a:tblPr/>
              <a:tblGrid>
                <a:gridCol w="3333750"/>
                <a:gridCol w="2381250"/>
                <a:gridCol w="2286000"/>
                <a:gridCol w="2971800"/>
              </a:tblGrid>
              <a:tr h="586740">
                <a:tc>
                  <a:txBody>
                    <a:bodyPr/>
                    <a:lstStyle/>
                    <a:p>
                      <a:r>
                        <a:rPr sz="1725" b="1">
                          <a:solidFill>
                            <a:srgbClr val="FFFFFF"/>
                          </a:solidFill>
                          <a:latin typeface="Arial"/>
                          <a:ea typeface="Arial"/>
                          <a:cs typeface="Arial"/>
                        </a:rPr>
                        <a:t>Method</a:t>
                      </a:r>
                    </a:p>
                  </a:txBody>
                  <a:tcPr marL="91440" marR="91440" marT="45720" marB="45720">
                    <a:solidFill>
                      <a:srgbClr val="173B36"/>
                    </a:solidFill>
                  </a:tcPr>
                </a:tc>
                <a:tc>
                  <a:txBody>
                    <a:bodyPr/>
                    <a:lstStyle/>
                    <a:p>
                      <a:r>
                        <a:rPr sz="1725" b="1">
                          <a:solidFill>
                            <a:srgbClr val="FFFFFF"/>
                          </a:solidFill>
                          <a:latin typeface="Arial"/>
                          <a:ea typeface="Arial"/>
                          <a:cs typeface="Arial"/>
                        </a:rPr>
                        <a:t>Output ε</a:t>
                      </a:r>
                    </a:p>
                  </a:txBody>
                  <a:tcPr marL="91440" marR="91440" marT="45720" marB="45720">
                    <a:solidFill>
                      <a:srgbClr val="173B36"/>
                    </a:solidFill>
                  </a:tcPr>
                </a:tc>
                <a:tc>
                  <a:txBody>
                    <a:bodyPr/>
                    <a:lstStyle/>
                    <a:p>
                      <a:r>
                        <a:rPr sz="1725" b="1">
                          <a:solidFill>
                            <a:srgbClr val="FFFFFF"/>
                          </a:solidFill>
                          <a:latin typeface="Arial"/>
                          <a:ea typeface="Arial"/>
                          <a:cs typeface="Arial"/>
                        </a:rPr>
                        <a:t>Output δ</a:t>
                      </a:r>
                    </a:p>
                  </a:txBody>
                  <a:tcPr marL="91440" marR="91440" marT="45720" marB="45720">
                    <a:solidFill>
                      <a:srgbClr val="173B36"/>
                    </a:solidFill>
                  </a:tcPr>
                </a:tc>
                <a:tc>
                  <a:txBody>
                    <a:bodyPr/>
                    <a:lstStyle/>
                    <a:p>
                      <a:r>
                        <a:rPr sz="1725" b="1">
                          <a:solidFill>
                            <a:srgbClr val="FFFFFF"/>
                          </a:solidFill>
                          <a:latin typeface="Arial"/>
                          <a:ea typeface="Arial"/>
                          <a:cs typeface="Arial"/>
                        </a:rPr>
                        <a:t>Collector sees readings</a:t>
                      </a:r>
                    </a:p>
                  </a:txBody>
                  <a:tcPr marL="91440" marR="91440" marT="45720" marB="45720">
                    <a:solidFill>
                      <a:srgbClr val="173B36"/>
                    </a:solidFill>
                  </a:tcPr>
                </a:tc>
              </a:tr>
              <a:tr h="586740">
                <a:tc>
                  <a:txBody>
                    <a:bodyPr/>
                    <a:lstStyle/>
                    <a:p>
                      <a:r>
                        <a:rPr sz="1725" b="0">
                          <a:solidFill>
                            <a:srgbClr val="173B36"/>
                          </a:solidFill>
                          <a:latin typeface="Arial"/>
                          <a:ea typeface="Arial"/>
                          <a:cs typeface="Arial"/>
                        </a:rPr>
                        <a:t>BNP</a:t>
                      </a:r>
                    </a:p>
                  </a:txBody>
                  <a:tcPr marL="91440" marR="91440" marT="45720" marB="45720">
                    <a:solidFill>
                      <a:srgbClr val="FFFFFF"/>
                    </a:solidFill>
                  </a:tcPr>
                </a:tc>
                <a:tc>
                  <a:txBody>
                    <a:bodyPr/>
                    <a:lstStyle/>
                    <a:p>
                      <a:r>
                        <a:rPr sz="1725" b="0">
                          <a:solidFill>
                            <a:srgbClr val="173B36"/>
                          </a:solidFill>
                          <a:latin typeface="Arial"/>
                          <a:ea typeface="Arial"/>
                          <a:cs typeface="Arial"/>
                        </a:rPr>
                        <a:t>0</a:t>
                      </a:r>
                    </a:p>
                  </a:txBody>
                  <a:tcPr marL="91440" marR="91440" marT="45720" marB="45720">
                    <a:solidFill>
                      <a:srgbClr val="FFFFFF"/>
                    </a:solidFill>
                  </a:tcPr>
                </a:tc>
                <a:tc>
                  <a:txBody>
                    <a:bodyPr/>
                    <a:lstStyle/>
                    <a:p>
                      <a:r>
                        <a:rPr sz="1725" b="0">
                          <a:solidFill>
                            <a:srgbClr val="173B36"/>
                          </a:solidFill>
                          <a:latin typeface="Arial"/>
                          <a:ea typeface="Arial"/>
                          <a:cs typeface="Arial"/>
                        </a:rPr>
                        <a:t>0.01</a:t>
                      </a:r>
                    </a:p>
                  </a:txBody>
                  <a:tcPr marL="91440" marR="91440" marT="45720" marB="45720">
                    <a:solidFill>
                      <a:srgbClr val="FFFFFF"/>
                    </a:solidFill>
                  </a:tcPr>
                </a:tc>
                <a:tc>
                  <a:txBody>
                    <a:bodyPr/>
                    <a:lstStyle/>
                    <a:p>
                      <a:r>
                        <a:rPr sz="1725" b="0">
                          <a:solidFill>
                            <a:srgbClr val="173B36"/>
                          </a:solidFill>
                          <a:latin typeface="Arial"/>
                          <a:ea typeface="Arial"/>
                          <a:cs typeface="Arial"/>
                        </a:rPr>
                        <a:t>Yes</a:t>
                      </a:r>
                    </a:p>
                  </a:txBody>
                  <a:tcPr marL="91440" marR="91440" marT="45720" marB="45720">
                    <a:solidFill>
                      <a:srgbClr val="FFFFFF"/>
                    </a:solidFill>
                  </a:tcPr>
                </a:tc>
              </a:tr>
              <a:tr h="586740">
                <a:tc>
                  <a:txBody>
                    <a:bodyPr/>
                    <a:lstStyle/>
                    <a:p>
                      <a:r>
                        <a:rPr sz="1725" b="0">
                          <a:solidFill>
                            <a:srgbClr val="173B36"/>
                          </a:solidFill>
                          <a:latin typeface="Arial"/>
                          <a:ea typeface="Arial"/>
                          <a:cs typeface="Arial"/>
                        </a:rPr>
                        <a:t>Gaussian</a:t>
                      </a:r>
                    </a:p>
                  </a:txBody>
                  <a:tcPr marL="91440" marR="91440" marT="45720" marB="45720">
                    <a:solidFill>
                      <a:srgbClr val="EFF4F0"/>
                    </a:solidFill>
                  </a:tcPr>
                </a:tc>
                <a:tc>
                  <a:txBody>
                    <a:bodyPr/>
                    <a:lstStyle/>
                    <a:p>
                      <a:r>
                        <a:rPr sz="1725" b="0">
                          <a:solidFill>
                            <a:srgbClr val="173B36"/>
                          </a:solidFill>
                          <a:latin typeface="Arial"/>
                          <a:ea typeface="Arial"/>
                          <a:cs typeface="Arial"/>
                        </a:rPr>
                        <a:t>1</a:t>
                      </a:r>
                    </a:p>
                  </a:txBody>
                  <a:tcPr marL="91440" marR="91440" marT="45720" marB="45720">
                    <a:solidFill>
                      <a:srgbClr val="EFF4F0"/>
                    </a:solidFill>
                  </a:tcPr>
                </a:tc>
                <a:tc>
                  <a:txBody>
                    <a:bodyPr/>
                    <a:lstStyle/>
                    <a:p>
                      <a:r>
                        <a:rPr sz="1725" b="0">
                          <a:solidFill>
                            <a:srgbClr val="173B36"/>
                          </a:solidFill>
                          <a:latin typeface="Arial"/>
                          <a:ea typeface="Arial"/>
                          <a:cs typeface="Arial"/>
                        </a:rPr>
                        <a:t>0.01</a:t>
                      </a:r>
                    </a:p>
                  </a:txBody>
                  <a:tcPr marL="91440" marR="91440" marT="45720" marB="45720">
                    <a:solidFill>
                      <a:srgbClr val="EFF4F0"/>
                    </a:solidFill>
                  </a:tcPr>
                </a:tc>
                <a:tc>
                  <a:txBody>
                    <a:bodyPr/>
                    <a:lstStyle/>
                    <a:p>
                      <a:r>
                        <a:rPr sz="1725" b="0">
                          <a:solidFill>
                            <a:srgbClr val="173B36"/>
                          </a:solidFill>
                          <a:latin typeface="Arial"/>
                          <a:ea typeface="Arial"/>
                          <a:cs typeface="Arial"/>
                        </a:rPr>
                        <a:t>Yes</a:t>
                      </a:r>
                    </a:p>
                  </a:txBody>
                  <a:tcPr marL="91440" marR="91440" marT="45720" marB="45720">
                    <a:solidFill>
                      <a:srgbClr val="EFF4F0"/>
                    </a:solidFill>
                  </a:tcPr>
                </a:tc>
              </a:tr>
              <a:tr h="586740">
                <a:tc>
                  <a:txBody>
                    <a:bodyPr/>
                    <a:lstStyle/>
                    <a:p>
                      <a:r>
                        <a:rPr sz="1725" b="0">
                          <a:solidFill>
                            <a:srgbClr val="173B36"/>
                          </a:solidFill>
                          <a:latin typeface="Arial"/>
                          <a:ea typeface="Arial"/>
                          <a:cs typeface="Arial"/>
                        </a:rPr>
                        <a:t>Encryption</a:t>
                      </a:r>
                    </a:p>
                  </a:txBody>
                  <a:tcPr marL="91440" marR="91440" marT="45720" marB="45720">
                    <a:solidFill>
                      <a:srgbClr val="FFFFFF"/>
                    </a:solidFill>
                  </a:tcPr>
                </a:tc>
                <a:tc>
                  <a:txBody>
                    <a:bodyPr/>
                    <a:lstStyle/>
                    <a:p>
                      <a:r>
                        <a:rPr sz="1725" b="0">
                          <a:solidFill>
                            <a:srgbClr val="173B36"/>
                          </a:solidFill>
                          <a:latin typeface="Arial"/>
                          <a:ea typeface="Arial"/>
                          <a:cs typeface="Arial"/>
                        </a:rPr>
                        <a:t>No output DP</a:t>
                      </a:r>
                    </a:p>
                  </a:txBody>
                  <a:tcPr marL="91440" marR="91440" marT="45720" marB="45720">
                    <a:solidFill>
                      <a:srgbClr val="FFFFFF"/>
                    </a:solidFill>
                  </a:tcPr>
                </a:tc>
                <a:tc>
                  <a:txBody>
                    <a:bodyPr/>
                    <a:lstStyle/>
                    <a:p>
                      <a:r>
                        <a:rPr sz="1725" b="0">
                          <a:solidFill>
                            <a:srgbClr val="173B36"/>
                          </a:solidFill>
                          <a:latin typeface="Arial"/>
                          <a:ea typeface="Arial"/>
                          <a:cs typeface="Arial"/>
                        </a:rPr>
                        <a:t>No output DP</a:t>
                      </a:r>
                    </a:p>
                  </a:txBody>
                  <a:tcPr marL="91440" marR="91440" marT="45720" marB="45720">
                    <a:solidFill>
                      <a:srgbClr val="FFFFFF"/>
                    </a:solidFill>
                  </a:tcPr>
                </a:tc>
                <a:tc>
                  <a:txBody>
                    <a:bodyPr/>
                    <a:lstStyle/>
                    <a:p>
                      <a:r>
                        <a:rPr sz="1725" b="0">
                          <a:solidFill>
                            <a:srgbClr val="173B36"/>
                          </a:solidFill>
                          <a:latin typeface="Arial"/>
                          <a:ea typeface="Arial"/>
                          <a:cs typeface="Arial"/>
                        </a:rPr>
                        <a:t>No*</a:t>
                      </a:r>
                    </a:p>
                  </a:txBody>
                  <a:tcPr marL="91440" marR="91440" marT="45720" marB="45720">
                    <a:solidFill>
                      <a:srgbClr val="FFFFFF"/>
                    </a:solidFill>
                  </a:tcPr>
                </a:tc>
              </a:tr>
              <a:tr h="586740">
                <a:tc>
                  <a:txBody>
                    <a:bodyPr/>
                    <a:lstStyle/>
                    <a:p>
                      <a:r>
                        <a:rPr sz="1725" b="0">
                          <a:solidFill>
                            <a:srgbClr val="173B36"/>
                          </a:solidFill>
                          <a:latin typeface="Arial"/>
                          <a:ea typeface="Arial"/>
                          <a:cs typeface="Arial"/>
                        </a:rPr>
                        <a:t>Encryption + Gaussian</a:t>
                      </a:r>
                    </a:p>
                  </a:txBody>
                  <a:tcPr marL="91440" marR="91440" marT="45720" marB="45720">
                    <a:solidFill>
                      <a:srgbClr val="EFF4F0"/>
                    </a:solidFill>
                  </a:tcPr>
                </a:tc>
                <a:tc>
                  <a:txBody>
                    <a:bodyPr/>
                    <a:lstStyle/>
                    <a:p>
                      <a:r>
                        <a:rPr sz="1725" b="0">
                          <a:solidFill>
                            <a:srgbClr val="173B36"/>
                          </a:solidFill>
                          <a:latin typeface="Arial"/>
                          <a:ea typeface="Arial"/>
                          <a:cs typeface="Arial"/>
                        </a:rPr>
                        <a:t>1</a:t>
                      </a:r>
                    </a:p>
                  </a:txBody>
                  <a:tcPr marL="91440" marR="91440" marT="45720" marB="45720">
                    <a:solidFill>
                      <a:srgbClr val="EFF4F0"/>
                    </a:solidFill>
                  </a:tcPr>
                </a:tc>
                <a:tc>
                  <a:txBody>
                    <a:bodyPr/>
                    <a:lstStyle/>
                    <a:p>
                      <a:r>
                        <a:rPr sz="1725" b="0">
                          <a:solidFill>
                            <a:srgbClr val="173B36"/>
                          </a:solidFill>
                          <a:latin typeface="Arial"/>
                          <a:ea typeface="Arial"/>
                          <a:cs typeface="Arial"/>
                        </a:rPr>
                        <a:t>0.01</a:t>
                      </a:r>
                    </a:p>
                  </a:txBody>
                  <a:tcPr marL="91440" marR="91440" marT="45720" marB="45720">
                    <a:solidFill>
                      <a:srgbClr val="EFF4F0"/>
                    </a:solidFill>
                  </a:tcPr>
                </a:tc>
                <a:tc>
                  <a:txBody>
                    <a:bodyPr/>
                    <a:lstStyle/>
                    <a:p>
                      <a:r>
                        <a:rPr sz="1725" b="0">
                          <a:solidFill>
                            <a:srgbClr val="173B36"/>
                          </a:solidFill>
                          <a:latin typeface="Arial"/>
                          <a:ea typeface="Arial"/>
                          <a:cs typeface="Arial"/>
                        </a:rPr>
                        <a:t>No*</a:t>
                      </a:r>
                    </a:p>
                  </a:txBody>
                  <a:tcPr marL="91440" marR="91440" marT="45720" marB="45720">
                    <a:solidFill>
                      <a:srgbClr val="EFF4F0"/>
                    </a:solidFill>
                  </a:tcPr>
                </a:tc>
              </a:tr>
            </a:tbl>
          </a:graphicData>
        </a:graphic>
      </p:graphicFrame>
      <p:sp>
        <p:nvSpPr>
          <p:cNvPr id="5" name="">
            <a:extLst xmlns:a="http://schemas.openxmlformats.org/drawingml/2006/main">
              <a:ext uri="{FF2B5EF4-FFF2-40B4-BE49-F238E27FC236}">
                <a16:creationId xmlns:a16="http://schemas.microsoft.com/office/drawing/2014/main" id="{DD6BD444-7282-47BD-A052-23A93D0400D9}"/>
              </a:ext>
            </a:extLst>
          </p:cNvPr>
          <p:cNvSpPr>
            <a:spLocks xmlns:a="http://schemas.openxmlformats.org/drawingml/2006/main" noGrp="1"/>
          </p:cNvSpPr>
          <p:nvPr/>
        </p:nvSpPr>
        <p:spPr>
          <a:xfrm xmlns:a="http://schemas.openxmlformats.org/drawingml/2006/main">
            <a:off x="609600" y="55054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73B36"/>
                </a:solidFill>
                <a:latin typeface="Arial"/>
                <a:ea typeface="Arial"/>
                <a:cs typeface="Arial"/>
              </a:defRPr>
            </a:pPr>
            <a:r>
              <a:rPr sz="1950" b="1">
                <a:solidFill>
                  <a:srgbClr val="173B36"/>
                </a:solidFill>
                <a:latin typeface="Arial"/>
                <a:ea typeface="Arial"/>
                <a:cs typeface="Arial"/>
              </a:rPr>
              <a:t>Privacy unit: replace one meter reading in public [0, 20] kW bounds.</a:t>
            </a:r>
          </a:p>
        </p:txBody>
      </p:sp>
      <p:sp>
        <p:nvSpPr>
          <p:cNvPr id="6" name="">
            <a:extLst xmlns:a="http://schemas.openxmlformats.org/drawingml/2006/main">
              <a:ext uri="{FF2B5EF4-FFF2-40B4-BE49-F238E27FC236}">
                <a16:creationId xmlns:a16="http://schemas.microsoft.com/office/drawing/2014/main" id="{1644ECAE-429A-4839-B174-FA5CD9595E5D}"/>
              </a:ext>
            </a:extLst>
          </p:cNvPr>
          <p:cNvSpPr>
            <a:spLocks xmlns:a="http://schemas.openxmlformats.org/drawingml/2006/main" noGrp="1"/>
          </p:cNvSpPr>
          <p:nvPr/>
        </p:nvSpPr>
        <p:spPr>
          <a:xfrm xmlns:a="http://schemas.openxmlformats.org/drawingml/2006/main">
            <a:off x="609600" y="59817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BNP uses a stricter epsilon at the same delta. *Assumes a separate, honest decryptor. Synthetic readings, no dropout.</a:t>
            </a:r>
          </a:p>
        </p:txBody>
      </p:sp>
    </p:spTree>
    <p:extLst>
      <p:ext uri="{BB962C8B-B14F-4D97-AF65-F5344CB8AC3E}">
        <p14:creationId xmlns:p14="http://schemas.microsoft.com/office/powerpoint/2010/main" val="1694841758"/>
      </p:ext>
    </p:extLst>
  </p:cSld>
</p:sld>
</file>

<file path=ppt/slides/slide4.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E53CE3-73B8-422C-A2C9-D69EF2EDF615}"/>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Privacy after the sum is revealed</a:t>
            </a:r>
          </a:p>
        </p:txBody>
      </p:sp>
      <p:sp>
        <p:nvSpPr>
          <p:cNvPr id="2" name="">
            <a:extLst xmlns:a="http://schemas.openxmlformats.org/drawingml/2006/main">
              <a:ext uri="{FF2B5EF4-FFF2-40B4-BE49-F238E27FC236}">
                <a16:creationId xmlns:a16="http://schemas.microsoft.com/office/drawing/2014/main" id="{2D22F37D-E5DB-47C2-B1E1-14EC2AE17A6F}"/>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Neighboring-sum attack accuracy. Closer to 50% means less distinguishable.</a:t>
            </a:r>
          </a:p>
        </p:txBody>
      </p:sp>
      <p:sp>
        <p:nvSpPr>
          <p:cNvPr id="3" name="">
            <a:extLst xmlns:a="http://schemas.openxmlformats.org/drawingml/2006/main">
              <a:ext uri="{FF2B5EF4-FFF2-40B4-BE49-F238E27FC236}">
                <a16:creationId xmlns:a16="http://schemas.microsoft.com/office/drawing/2014/main" id="{08A6E47B-C413-482D-88EE-E684A1120362}"/>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04</a:t>
            </a:r>
          </a:p>
        </p:txBody>
      </p:sp>
      <p:graphicFrame>
        <p:nvGraphicFramePr>
          <p:cNvPr id="10" name="Chart"/>
          <p:cNvGraphicFramePr/>
          <p:nvPr/>
        </p:nvGraphicFramePr>
        <p:xfrm>
          <a:off xmlns:a="http://schemas.openxmlformats.org/drawingml/2006/main" x="609600" y="2286000"/>
          <a:ext xmlns:a="http://schemas.openxmlformats.org/drawingml/2006/main" cx="10763250" cy="3143250"/>
        </p:xfrm>
        <a:graphic xmlns:a="http://schemas.openxmlformats.org/drawingml/2006/main">
          <a:graphicData uri="http://schemas.openxmlformats.org/drawingml/2006/chart">
            <c:chart xmlns:r="http://schemas.openxmlformats.org/officeDocument/2006/relationships" xmlns:c="http://schemas.openxmlformats.org/drawingml/2006/chart" r:id="R29a107603d32491f"/>
          </a:graphicData>
        </a:graphic>
      </p:graphicFrame>
      <p:sp>
        <p:nvSpPr>
          <p:cNvPr id="5" name="">
            <a:extLst xmlns:a="http://schemas.openxmlformats.org/drawingml/2006/main">
              <a:ext uri="{FF2B5EF4-FFF2-40B4-BE49-F238E27FC236}">
                <a16:creationId xmlns:a16="http://schemas.microsoft.com/office/drawing/2014/main" id="{513A5744-BE71-4EC7-A9B2-5389BE08E1CF}"/>
              </a:ext>
            </a:extLst>
          </p:cNvPr>
          <p:cNvSpPr>
            <a:spLocks xmlns:a="http://schemas.openxmlformats.org/drawingml/2006/main" noGrp="1"/>
          </p:cNvSpPr>
          <p:nvPr/>
        </p:nvSpPr>
        <p:spPr>
          <a:xfrm xmlns:a="http://schemas.openxmlformats.org/drawingml/2006/main">
            <a:off x="609600" y="561975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73B36"/>
                </a:solidFill>
                <a:latin typeface="Arial"/>
                <a:ea typeface="Arial"/>
                <a:cs typeface="Arial"/>
              </a:defRPr>
            </a:pPr>
            <a:r>
              <a:rPr sz="2175" b="1">
                <a:solidFill>
                  <a:srgbClr val="173B36"/>
                </a:solidFill>
                <a:latin typeface="Arial"/>
                <a:ea typeface="Arial"/>
                <a:cs typeface="Arial"/>
              </a:rPr>
              <a:t>Encryption alone reveals the exact sum to its recipient.</a:t>
            </a:r>
          </a:p>
        </p:txBody>
      </p:sp>
      <p:sp>
        <p:nvSpPr>
          <p:cNvPr id="6" name="">
            <a:extLst xmlns:a="http://schemas.openxmlformats.org/drawingml/2006/main">
              <a:ext uri="{FF2B5EF4-FFF2-40B4-BE49-F238E27FC236}">
                <a16:creationId xmlns:a16="http://schemas.microsoft.com/office/drawing/2014/main" id="{2268E063-0208-48DE-AC34-B58CFA5BE290}"/>
              </a:ext>
            </a:extLst>
          </p:cNvPr>
          <p:cNvSpPr>
            <a:spLocks xmlns:a="http://schemas.openxmlformats.org/drawingml/2006/main" noGrp="1"/>
          </p:cNvSpPr>
          <p:nvPr/>
        </p:nvSpPr>
        <p:spPr>
          <a:xfrm xmlns:a="http://schemas.openxmlformats.org/drawingml/2006/main">
            <a:off x="609600" y="6057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Noisy methods: 200,000 decisions. Encryption: exact-sum limit. Chance = 50%. Raw outputs, before clipping.</a:t>
            </a:r>
          </a:p>
        </p:txBody>
      </p:sp>
    </p:spTree>
    <p:extLst>
      <p:ext uri="{BB962C8B-B14F-4D97-AF65-F5344CB8AC3E}">
        <p14:creationId xmlns:p14="http://schemas.microsoft.com/office/powerpoint/2010/main" val="823916582"/>
      </p:ext>
    </p:extLst>
  </p:cSld>
</p:sld>
</file>

<file path=ppt/slides/slide5.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174EC6-6DFD-4F41-AC2E-D3AA193C81A6}"/>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Load accuracy before output clipping</a:t>
            </a:r>
          </a:p>
        </p:txBody>
      </p:sp>
      <p:sp>
        <p:nvSpPr>
          <p:cNvPr id="2" name="">
            <a:extLst xmlns:a="http://schemas.openxmlformats.org/drawingml/2006/main">
              <a:ext uri="{FF2B5EF4-FFF2-40B4-BE49-F238E27FC236}">
                <a16:creationId xmlns:a16="http://schemas.microsoft.com/office/drawing/2014/main" id="{7EF95036-7774-4266-8F73-70F703289FE2}"/>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Average bus-sum RMSE across 30 trials. Lower is better.</a:t>
            </a:r>
          </a:p>
        </p:txBody>
      </p:sp>
      <p:sp>
        <p:nvSpPr>
          <p:cNvPr id="3" name="">
            <a:extLst xmlns:a="http://schemas.openxmlformats.org/drawingml/2006/main">
              <a:ext uri="{FF2B5EF4-FFF2-40B4-BE49-F238E27FC236}">
                <a16:creationId xmlns:a16="http://schemas.microsoft.com/office/drawing/2014/main" id="{2835333A-EDD0-41B9-B042-3F2FAFF8164F}"/>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05</a:t>
            </a:r>
          </a:p>
        </p:txBody>
      </p:sp>
      <p:graphicFrame>
        <p:nvGraphicFramePr>
          <p:cNvPr id="10" name="Chart"/>
          <p:cNvGraphicFramePr/>
          <p:nvPr/>
        </p:nvGraphicFramePr>
        <p:xfrm>
          <a:off xmlns:a="http://schemas.openxmlformats.org/drawingml/2006/main" x="609600" y="2286000"/>
          <a:ext xmlns:a="http://schemas.openxmlformats.org/drawingml/2006/main" cx="10763250" cy="3143250"/>
        </p:xfrm>
        <a:graphic xmlns:a="http://schemas.openxmlformats.org/drawingml/2006/main">
          <a:graphicData uri="http://schemas.openxmlformats.org/drawingml/2006/chart">
            <c:chart xmlns:r="http://schemas.openxmlformats.org/officeDocument/2006/relationships" xmlns:c="http://schemas.openxmlformats.org/drawingml/2006/chart" r:id="R675c328651c1424c"/>
          </a:graphicData>
        </a:graphic>
      </p:graphicFrame>
      <p:sp>
        <p:nvSpPr>
          <p:cNvPr id="5" name="">
            <a:extLst xmlns:a="http://schemas.openxmlformats.org/drawingml/2006/main">
              <a:ext uri="{FF2B5EF4-FFF2-40B4-BE49-F238E27FC236}">
                <a16:creationId xmlns:a16="http://schemas.microsoft.com/office/drawing/2014/main" id="{CAB4A517-5E1C-4BEB-89E0-F860C370713F}"/>
              </a:ext>
            </a:extLst>
          </p:cNvPr>
          <p:cNvSpPr>
            <a:spLocks xmlns:a="http://schemas.openxmlformats.org/drawingml/2006/main" noGrp="1"/>
          </p:cNvSpPr>
          <p:nvPr/>
        </p:nvSpPr>
        <p:spPr>
          <a:xfrm xmlns:a="http://schemas.openxmlformats.org/drawingml/2006/main">
            <a:off x="609600" y="56197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C46C32"/>
                </a:solidFill>
                <a:latin typeface="Arial"/>
                <a:ea typeface="Arial"/>
                <a:cs typeface="Arial"/>
              </a:defRPr>
            </a:pPr>
            <a:r>
              <a:rPr sz="2175" b="1">
                <a:solidFill>
                  <a:srgbClr val="C46C32"/>
                </a:solidFill>
                <a:latin typeface="Arial"/>
                <a:ea typeface="Arial"/>
                <a:cs typeface="Arial"/>
              </a:rPr>
              <a:t>BNP uses ±1000 kW noise at δ = 0.01.</a:t>
            </a:r>
          </a:p>
        </p:txBody>
      </p:sp>
      <p:sp>
        <p:nvSpPr>
          <p:cNvPr id="6" name="">
            <a:extLst xmlns:a="http://schemas.openxmlformats.org/drawingml/2006/main">
              <a:ext uri="{FF2B5EF4-FFF2-40B4-BE49-F238E27FC236}">
                <a16:creationId xmlns:a16="http://schemas.microsoft.com/office/drawing/2014/main" id="{882D1E72-19CE-485E-BF8D-B0F5541C49C0}"/>
              </a:ext>
            </a:extLst>
          </p:cNvPr>
          <p:cNvSpPr>
            <a:spLocks xmlns:a="http://schemas.openxmlformats.org/drawingml/2006/main" noGrp="1"/>
          </p:cNvSpPr>
          <p:nvPr/>
        </p:nvSpPr>
        <p:spPr>
          <a:xfrm xmlns:a="http://schemas.openxmlformats.org/drawingml/2006/main">
            <a:off x="609600" y="6076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Gaussian noise SD = 37.56 kW. Encryption changes a sum by less than 0.000001 kW in this run.</a:t>
            </a:r>
          </a:p>
        </p:txBody>
      </p:sp>
    </p:spTree>
    <p:extLst>
      <p:ext uri="{BB962C8B-B14F-4D97-AF65-F5344CB8AC3E}">
        <p14:creationId xmlns:p14="http://schemas.microsoft.com/office/powerpoint/2010/main" val="208458160"/>
      </p:ext>
    </p:extLst>
  </p:cSld>
</p:sld>
</file>

<file path=ppt/slides/slide6.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4CA5F3-CCB1-491D-AD7A-C13092CB629C}"/>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Voltage accuracy after power flow</a:t>
            </a:r>
          </a:p>
        </p:txBody>
      </p:sp>
      <p:sp>
        <p:nvSpPr>
          <p:cNvPr id="2" name="">
            <a:extLst xmlns:a="http://schemas.openxmlformats.org/drawingml/2006/main">
              <a:ext uri="{FF2B5EF4-FFF2-40B4-BE49-F238E27FC236}">
                <a16:creationId xmlns:a16="http://schemas.microsoft.com/office/drawing/2014/main" id="{8161A956-2B00-4A7F-A268-2ABE4A710DBA}"/>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Magnitude RMSE on retained feeder nodes. Lower is better.</a:t>
            </a:r>
          </a:p>
        </p:txBody>
      </p:sp>
      <p:sp>
        <p:nvSpPr>
          <p:cNvPr id="3" name="">
            <a:extLst xmlns:a="http://schemas.openxmlformats.org/drawingml/2006/main">
              <a:ext uri="{FF2B5EF4-FFF2-40B4-BE49-F238E27FC236}">
                <a16:creationId xmlns:a16="http://schemas.microsoft.com/office/drawing/2014/main" id="{7BF7A84F-9303-453C-BCFC-6E4222694B23}"/>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06</a:t>
            </a:r>
          </a:p>
        </p:txBody>
      </p:sp>
      <p:graphicFrame>
        <p:nvGraphicFramePr>
          <p:cNvPr id="10" name="Chart"/>
          <p:cNvGraphicFramePr/>
          <p:nvPr/>
        </p:nvGraphicFramePr>
        <p:xfrm>
          <a:off xmlns:a="http://schemas.openxmlformats.org/drawingml/2006/main" x="609600" y="2286000"/>
          <a:ext xmlns:a="http://schemas.openxmlformats.org/drawingml/2006/main" cx="10763250" cy="3143250"/>
        </p:xfrm>
        <a:graphic xmlns:a="http://schemas.openxmlformats.org/drawingml/2006/main">
          <a:graphicData uri="http://schemas.openxmlformats.org/drawingml/2006/chart">
            <c:chart xmlns:r="http://schemas.openxmlformats.org/officeDocument/2006/relationships" xmlns:c="http://schemas.openxmlformats.org/drawingml/2006/chart" r:id="Reded640393cb4ffa"/>
          </a:graphicData>
        </a:graphic>
      </p:graphicFrame>
      <p:sp>
        <p:nvSpPr>
          <p:cNvPr id="5" name="">
            <a:extLst xmlns:a="http://schemas.openxmlformats.org/drawingml/2006/main">
              <a:ext uri="{FF2B5EF4-FFF2-40B4-BE49-F238E27FC236}">
                <a16:creationId xmlns:a16="http://schemas.microsoft.com/office/drawing/2014/main" id="{E4D1A7D6-7880-445B-B646-BE259BBA00C3}"/>
              </a:ext>
            </a:extLst>
          </p:cNvPr>
          <p:cNvSpPr>
            <a:spLocks xmlns:a="http://schemas.openxmlformats.org/drawingml/2006/main" noGrp="1"/>
          </p:cNvSpPr>
          <p:nvPr/>
        </p:nvSpPr>
        <p:spPr>
          <a:xfrm xmlns:a="http://schemas.openxmlformats.org/drawingml/2006/main">
            <a:off x="609600" y="56197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C46C32"/>
                </a:solidFill>
                <a:latin typeface="Arial"/>
                <a:ea typeface="Arial"/>
                <a:cs typeface="Arial"/>
              </a:defRPr>
            </a:pPr>
            <a:r>
              <a:rPr sz="2175" b="1">
                <a:solidFill>
                  <a:srgbClr val="C46C32"/>
                </a:solidFill>
                <a:latin typeface="Arial"/>
                <a:ea typeface="Arial"/>
                <a:cs typeface="Arial"/>
              </a:rPr>
              <a:t>89.8% of BNP sums hit the public clipping limits.</a:t>
            </a:r>
          </a:p>
        </p:txBody>
      </p:sp>
      <p:sp>
        <p:nvSpPr>
          <p:cNvPr id="6" name="">
            <a:extLst xmlns:a="http://schemas.openxmlformats.org/drawingml/2006/main">
              <a:ext uri="{FF2B5EF4-FFF2-40B4-BE49-F238E27FC236}">
                <a16:creationId xmlns:a16="http://schemas.microsoft.com/office/drawing/2014/main" id="{A48D1D3D-4F59-433D-ACF5-DDB06A7E514D}"/>
              </a:ext>
            </a:extLst>
          </p:cNvPr>
          <p:cNvSpPr>
            <a:spLocks xmlns:a="http://schemas.openxmlformats.org/drawingml/2006/main" noGrp="1"/>
          </p:cNvSpPr>
          <p:nvPr/>
        </p:nvSpPr>
        <p:spPr>
          <a:xfrm xmlns:a="http://schemas.openxmlformats.org/drawingml/2006/main">
            <a:off x="609600" y="60674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All sums use [0, 200] kW clipping before power flow. Controls stay fixed. All tested snapshots converged.</a:t>
            </a:r>
          </a:p>
        </p:txBody>
      </p:sp>
    </p:spTree>
    <p:extLst>
      <p:ext uri="{BB962C8B-B14F-4D97-AF65-F5344CB8AC3E}">
        <p14:creationId xmlns:p14="http://schemas.microsoft.com/office/powerpoint/2010/main" val="1722061750"/>
      </p:ext>
    </p:extLst>
  </p:cSld>
</p:sld>
</file>

<file path=ppt/slides/slide7.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8F0BFE-2688-4D72-B727-12EF2262409B}"/>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Equal privacy budget changes the ranking</a:t>
            </a:r>
          </a:p>
        </p:txBody>
      </p:sp>
      <p:sp>
        <p:nvSpPr>
          <p:cNvPr id="2" name="">
            <a:extLst xmlns:a="http://schemas.openxmlformats.org/drawingml/2006/main">
              <a:ext uri="{FF2B5EF4-FFF2-40B4-BE49-F238E27FC236}">
                <a16:creationId xmlns:a16="http://schemas.microsoft.com/office/drawing/2014/main" id="{783A95E2-9EA1-4CF4-9DE5-E2E1DB455AF7}"/>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Both mechanisms use ε = 0 and δ = 0.01 on the same query.</a:t>
            </a:r>
          </a:p>
        </p:txBody>
      </p:sp>
      <p:sp>
        <p:nvSpPr>
          <p:cNvPr id="3" name="">
            <a:extLst xmlns:a="http://schemas.openxmlformats.org/drawingml/2006/main">
              <a:ext uri="{FF2B5EF4-FFF2-40B4-BE49-F238E27FC236}">
                <a16:creationId xmlns:a16="http://schemas.microsoft.com/office/drawing/2014/main" id="{4C94C5B3-0E09-43E0-BE71-DF027B93443E}"/>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07</a:t>
            </a:r>
          </a:p>
        </p:txBody>
      </p:sp>
      <p:graphicFrame>
        <p:nvGraphicFramePr>
          <p:cNvPr id="10" name="Chart"/>
          <p:cNvGraphicFramePr/>
          <p:nvPr/>
        </p:nvGraphicFramePr>
        <p:xfrm>
          <a:off xmlns:a="http://schemas.openxmlformats.org/drawingml/2006/main" x="609600" y="2286000"/>
          <a:ext xmlns:a="http://schemas.openxmlformats.org/drawingml/2006/main" cx="10763250" cy="3143250"/>
        </p:xfrm>
        <a:graphic xmlns:a="http://schemas.openxmlformats.org/drawingml/2006/main">
          <a:graphicData uri="http://schemas.openxmlformats.org/drawingml/2006/chart">
            <c:chart xmlns:r="http://schemas.openxmlformats.org/officeDocument/2006/relationships" xmlns:c="http://schemas.openxmlformats.org/drawingml/2006/chart" r:id="Ra7d37d05942f41d9"/>
          </a:graphicData>
        </a:graphic>
      </p:graphicFrame>
      <p:sp>
        <p:nvSpPr>
          <p:cNvPr id="5" name="">
            <a:extLst xmlns:a="http://schemas.openxmlformats.org/drawingml/2006/main">
              <a:ext uri="{FF2B5EF4-FFF2-40B4-BE49-F238E27FC236}">
                <a16:creationId xmlns:a16="http://schemas.microsoft.com/office/drawing/2014/main" id="{866C8844-4B31-4095-BD4A-905BB6415FA4}"/>
              </a:ext>
            </a:extLst>
          </p:cNvPr>
          <p:cNvSpPr>
            <a:spLocks xmlns:a="http://schemas.openxmlformats.org/drawingml/2006/main" noGrp="1"/>
          </p:cNvSpPr>
          <p:nvPr/>
        </p:nvSpPr>
        <p:spPr>
          <a:xfrm xmlns:a="http://schemas.openxmlformats.org/drawingml/2006/main">
            <a:off x="609600" y="56197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73B36"/>
                </a:solidFill>
                <a:latin typeface="Arial"/>
                <a:ea typeface="Arial"/>
                <a:cs typeface="Arial"/>
              </a:defRPr>
            </a:pPr>
            <a:r>
              <a:rPr sz="2175" b="1">
                <a:solidFill>
                  <a:srgbClr val="173B36"/>
                </a:solidFill>
                <a:latin typeface="Arial"/>
                <a:ea typeface="Arial"/>
                <a:cs typeface="Arial"/>
              </a:rPr>
              <a:t>BNP has lower raw error at this identical budget.</a:t>
            </a:r>
          </a:p>
        </p:txBody>
      </p:sp>
      <p:sp>
        <p:nvSpPr>
          <p:cNvPr id="6" name="">
            <a:extLst xmlns:a="http://schemas.openxmlformats.org/drawingml/2006/main">
              <a:ext uri="{FF2B5EF4-FFF2-40B4-BE49-F238E27FC236}">
                <a16:creationId xmlns:a16="http://schemas.microsoft.com/office/drawing/2014/main" id="{240A267B-86C4-44DB-92E6-D06163EFC560}"/>
              </a:ext>
            </a:extLst>
          </p:cNvPr>
          <p:cNvSpPr>
            <a:spLocks xmlns:a="http://schemas.openxmlformats.org/drawingml/2006/main" noGrp="1"/>
          </p:cNvSpPr>
          <p:nvPr/>
        </p:nvSpPr>
        <p:spPr>
          <a:xfrm xmlns:a="http://schemas.openxmlformats.org/drawingml/2006/main">
            <a:off x="609600" y="60769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Both clip about 90% of sums. Voltage RMSE: BNP 0.0942 pu, Gaussian 0.0954 pu.</a:t>
            </a:r>
          </a:p>
        </p:txBody>
      </p:sp>
    </p:spTree>
    <p:extLst>
      <p:ext uri="{BB962C8B-B14F-4D97-AF65-F5344CB8AC3E}">
        <p14:creationId xmlns:p14="http://schemas.microsoft.com/office/powerpoint/2010/main" val="2137974570"/>
      </p:ext>
    </p:extLst>
  </p:cSld>
</p:sld>
</file>

<file path=ppt/slides/slide8.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C0EB31-6AFF-4BDA-B288-7D9EC819591E}"/>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3B36"/>
                </a:solidFill>
                <a:latin typeface="Arial"/>
                <a:ea typeface="Arial"/>
                <a:cs typeface="Arial"/>
              </a:defRPr>
            </a:pPr>
            <a:r>
              <a:rPr sz="3225" b="1">
                <a:solidFill>
                  <a:srgbClr val="173B36"/>
                </a:solidFill>
                <a:latin typeface="Arial"/>
                <a:ea typeface="Arial"/>
                <a:cs typeface="Arial"/>
              </a:rPr>
              <a:t>Measured encryption cost</a:t>
            </a:r>
          </a:p>
        </p:txBody>
      </p:sp>
      <p:sp>
        <p:nvSpPr>
          <p:cNvPr id="2" name="">
            <a:extLst xmlns:a="http://schemas.openxmlformats.org/drawingml/2006/main">
              <a:ext uri="{FF2B5EF4-FFF2-40B4-BE49-F238E27FC236}">
                <a16:creationId xmlns:a16="http://schemas.microsoft.com/office/drawing/2014/main" id="{BCC79FDE-786C-4C4E-B22F-6CE65859BEC4}"/>
              </a:ext>
            </a:extLst>
          </p:cNvPr>
          <p:cNvSpPr>
            <a:spLocks xmlns:a="http://schemas.openxmlformats.org/drawingml/2006/main" noGrp="1"/>
          </p:cNvSpPr>
          <p:nvPr/>
        </p:nvSpPr>
        <p:spPr>
          <a:xfrm xmlns:a="http://schemas.openxmlformats.org/drawingml/2006/main">
            <a:off x="609600" y="1381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B66"/>
                </a:solidFill>
                <a:latin typeface="Arial"/>
                <a:ea typeface="Arial"/>
                <a:cs typeface="Arial"/>
              </a:defRPr>
            </a:pPr>
            <a:r>
              <a:rPr sz="1800" b="0">
                <a:solidFill>
                  <a:srgbClr val="536B66"/>
                </a:solidFill>
                <a:latin typeface="Arial"/>
                <a:ea typeface="Arial"/>
                <a:cs typeface="Arial"/>
              </a:rPr>
              <a:t>One complete run per encrypted method, including every load row and time sample</a:t>
            </a:r>
          </a:p>
        </p:txBody>
      </p:sp>
      <p:sp>
        <p:nvSpPr>
          <p:cNvPr id="3" name="">
            <a:extLst xmlns:a="http://schemas.openxmlformats.org/drawingml/2006/main">
              <a:ext uri="{FF2B5EF4-FFF2-40B4-BE49-F238E27FC236}">
                <a16:creationId xmlns:a16="http://schemas.microsoft.com/office/drawing/2014/main" id="{ADCD168B-1BFE-4FA7-A815-05C5D9ABDAE9}"/>
              </a:ext>
            </a:extLst>
          </p:cNvPr>
          <p:cNvSpPr>
            <a:spLocks xmlns:a="http://schemas.openxmlformats.org/drawingml/2006/main" noGrp="1"/>
          </p:cNvSpPr>
          <p:nvPr/>
        </p:nvSpPr>
        <p:spPr>
          <a:xfrm xmlns:a="http://schemas.openxmlformats.org/drawingml/2006/main">
            <a:off x="1114425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36B66"/>
                </a:solidFill>
                <a:latin typeface="Arial"/>
                <a:ea typeface="Arial"/>
                <a:cs typeface="Arial"/>
              </a:defRPr>
            </a:pPr>
            <a:r>
              <a:rPr sz="1275" b="0">
                <a:solidFill>
                  <a:srgbClr val="536B66"/>
                </a:solidFill>
                <a:latin typeface="Arial"/>
                <a:ea typeface="Arial"/>
                <a:cs typeface="Arial"/>
              </a:rPr>
              <a:t>08</a:t>
            </a:r>
          </a:p>
        </p:txBody>
      </p:sp>
      <p:graphicFrame>
        <p:nvGraphicFramePr>
          <p:cNvPr id="10" name="Chart"/>
          <p:cNvGraphicFramePr/>
          <p:nvPr/>
        </p:nvGraphicFramePr>
        <p:xfrm>
          <a:off xmlns:a="http://schemas.openxmlformats.org/drawingml/2006/main" x="609600" y="2143125"/>
          <a:ext xmlns:a="http://schemas.openxmlformats.org/drawingml/2006/main" cx="10763250" cy="3190875"/>
        </p:xfrm>
        <a:graphic xmlns:a="http://schemas.openxmlformats.org/drawingml/2006/main">
          <a:graphicData uri="http://schemas.openxmlformats.org/drawingml/2006/chart">
            <c:chart xmlns:r="http://schemas.openxmlformats.org/officeDocument/2006/relationships" xmlns:c="http://schemas.openxmlformats.org/drawingml/2006/chart" r:id="Rf5266ea927ca4205"/>
          </a:graphicData>
        </a:graphic>
      </p:graphicFrame>
      <p:sp>
        <p:nvSpPr>
          <p:cNvPr id="5" name="">
            <a:extLst xmlns:a="http://schemas.openxmlformats.org/drawingml/2006/main">
              <a:ext uri="{FF2B5EF4-FFF2-40B4-BE49-F238E27FC236}">
                <a16:creationId xmlns:a16="http://schemas.microsoft.com/office/drawing/2014/main" id="{F5FC8FDD-6F0C-431E-91CD-3D78214A6E04}"/>
              </a:ext>
            </a:extLst>
          </p:cNvPr>
          <p:cNvSpPr>
            <a:spLocks xmlns:a="http://schemas.openxmlformats.org/drawingml/2006/main" noGrp="1"/>
          </p:cNvSpPr>
          <p:nvPr/>
        </p:nvSpPr>
        <p:spPr>
          <a:xfrm xmlns:a="http://schemas.openxmlformats.org/drawingml/2006/main">
            <a:off x="609600" y="56197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73B36"/>
                </a:solidFill>
                <a:latin typeface="Arial"/>
                <a:ea typeface="Arial"/>
                <a:cs typeface="Arial"/>
              </a:defRPr>
            </a:pPr>
            <a:r>
              <a:rPr sz="2175" b="1">
                <a:solidFill>
                  <a:srgbClr val="173B36"/>
                </a:solidFill>
                <a:latin typeface="Arial"/>
                <a:ea typeface="Arial"/>
                <a:cs typeface="Arial"/>
              </a:rPr>
              <a:t>5,460 ciphertexts per run with 2048-bit Paillier</a:t>
            </a:r>
          </a:p>
        </p:txBody>
      </p:sp>
      <p:sp>
        <p:nvSpPr>
          <p:cNvPr id="6" name="">
            <a:extLst xmlns:a="http://schemas.openxmlformats.org/drawingml/2006/main">
              <a:ext uri="{FF2B5EF4-FFF2-40B4-BE49-F238E27FC236}">
                <a16:creationId xmlns:a16="http://schemas.microsoft.com/office/drawing/2014/main" id="{2ADA2BF5-67A8-4AB9-915C-AB240735FA0C}"/>
              </a:ext>
            </a:extLst>
          </p:cNvPr>
          <p:cNvSpPr>
            <a:spLocks xmlns:a="http://schemas.openxmlformats.org/drawingml/2006/main" noGrp="1"/>
          </p:cNvSpPr>
          <p:nvPr/>
        </p:nvSpPr>
        <p:spPr>
          <a:xfrm xmlns:a="http://schemas.openxmlformats.org/drawingml/2006/main">
            <a:off x="609600" y="6076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B66"/>
                </a:solidFill>
                <a:latin typeface="Arial"/>
                <a:ea typeface="Arial"/>
                <a:cs typeface="Arial"/>
              </a:defRPr>
            </a:pPr>
            <a:r>
              <a:rPr sz="1575" b="0">
                <a:solidFill>
                  <a:srgbClr val="536B66"/>
                </a:solidFill>
                <a:latin typeface="Arial"/>
                <a:ea typeface="Arial"/>
                <a:cs typeface="Arial"/>
              </a:rPr>
              <a:t>Key generation adds 0.02 s separately. One machine, sequential execution and no network delay.</a:t>
            </a:r>
          </a:p>
        </p:txBody>
      </p:sp>
    </p:spTree>
    <p:extLst>
      <p:ext uri="{BB962C8B-B14F-4D97-AF65-F5344CB8AC3E}">
        <p14:creationId xmlns:p14="http://schemas.microsoft.com/office/powerpoint/2010/main" val="2106386887"/>
      </p:ext>
    </p:extLst>
  </p:cSld>
</p:sld>
</file>

<file path=ppt/slides/slide9.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98769C-BA52-4867-9B19-84809A0908DF}"/>
              </a:ext>
            </a:extLst>
          </p:cNvPr>
          <p:cNvSpPr>
            <a:spLocks xmlns:a="http://schemas.openxmlformats.org/drawingml/2006/main" noGrp="1"/>
          </p:cNvSpPr>
          <p:nvPr/>
        </p:nvSpPr>
        <p:spPr>
          <a:xfrm xmlns:a="http://schemas.openxmlformats.org/drawingml/2006/main">
            <a:off x="609600" y="5905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What this comparison shows</a:t>
            </a:r>
          </a:p>
        </p:txBody>
      </p:sp>
      <p:sp>
        <p:nvSpPr>
          <p:cNvPr id="2" name="">
            <a:extLst xmlns:a="http://schemas.openxmlformats.org/drawingml/2006/main">
              <a:ext uri="{FF2B5EF4-FFF2-40B4-BE49-F238E27FC236}">
                <a16:creationId xmlns:a16="http://schemas.microsoft.com/office/drawing/2014/main" id="{EB810771-C2EA-4680-AF6B-07E78B564E1C}"/>
              </a:ext>
            </a:extLst>
          </p:cNvPr>
          <p:cNvSpPr>
            <a:spLocks xmlns:a="http://schemas.openxmlformats.org/drawingml/2006/main" noGrp="1"/>
          </p:cNvSpPr>
          <p:nvPr/>
        </p:nvSpPr>
        <p:spPr>
          <a:xfrm xmlns:a="http://schemas.openxmlformats.org/drawingml/2006/main">
            <a:off x="609600" y="1924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A4D4C7"/>
                </a:solidFill>
                <a:latin typeface="Arial"/>
                <a:ea typeface="Arial"/>
                <a:cs typeface="Arial"/>
              </a:defRPr>
            </a:pPr>
            <a:r>
              <a:rPr sz="2550" b="1">
                <a:solidFill>
                  <a:srgbClr val="A4D4C7"/>
                </a:solidFill>
                <a:latin typeface="Arial"/>
                <a:ea typeface="Arial"/>
                <a:cs typeface="Arial"/>
              </a:rPr>
              <a:t>Encryption preserves accuracy</a:t>
            </a:r>
          </a:p>
        </p:txBody>
      </p:sp>
      <p:sp>
        <p:nvSpPr>
          <p:cNvPr id="3" name="">
            <a:extLst xmlns:a="http://schemas.openxmlformats.org/drawingml/2006/main">
              <a:ext uri="{FF2B5EF4-FFF2-40B4-BE49-F238E27FC236}">
                <a16:creationId xmlns:a16="http://schemas.microsoft.com/office/drawing/2014/main" id="{732E4642-00DE-49F9-95DC-9195B096B6C0}"/>
              </a:ext>
            </a:extLst>
          </p:cNvPr>
          <p:cNvSpPr>
            <a:spLocks xmlns:a="http://schemas.openxmlformats.org/drawingml/2006/main" noGrp="1"/>
          </p:cNvSpPr>
          <p:nvPr/>
        </p:nvSpPr>
        <p:spPr>
          <a:xfrm xmlns:a="http://schemas.openxmlformats.org/drawingml/2006/main">
            <a:off x="609600" y="25431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It hides inputs from the collector under the stated key-separation assumptions.</a:t>
            </a:r>
          </a:p>
        </p:txBody>
      </p:sp>
      <p:sp>
        <p:nvSpPr>
          <p:cNvPr id="4" name="">
            <a:extLst xmlns:a="http://schemas.openxmlformats.org/drawingml/2006/main">
              <a:ext uri="{FF2B5EF4-FFF2-40B4-BE49-F238E27FC236}">
                <a16:creationId xmlns:a16="http://schemas.microsoft.com/office/drawing/2014/main" id="{F2C98F88-14E0-488D-8C8C-833AFC7B5B67}"/>
              </a:ext>
            </a:extLst>
          </p:cNvPr>
          <p:cNvSpPr>
            <a:spLocks xmlns:a="http://schemas.openxmlformats.org/drawingml/2006/main" noGrp="1"/>
          </p:cNvSpPr>
          <p:nvPr/>
        </p:nvSpPr>
        <p:spPr>
          <a:xfrm xmlns:a="http://schemas.openxmlformats.org/drawingml/2006/main">
            <a:off x="609600" y="35052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A4D4C7"/>
                </a:solidFill>
                <a:latin typeface="Arial"/>
                <a:ea typeface="Arial"/>
                <a:cs typeface="Arial"/>
              </a:defRPr>
            </a:pPr>
            <a:r>
              <a:rPr sz="2550" b="1">
                <a:solidFill>
                  <a:srgbClr val="A4D4C7"/>
                </a:solidFill>
                <a:latin typeface="Arial"/>
                <a:ea typeface="Arial"/>
                <a:cs typeface="Arial"/>
              </a:rPr>
              <a:t>Gaussian noise protects the released sum</a:t>
            </a:r>
          </a:p>
        </p:txBody>
      </p:sp>
      <p:sp>
        <p:nvSpPr>
          <p:cNvPr id="5" name="">
            <a:extLst xmlns:a="http://schemas.openxmlformats.org/drawingml/2006/main">
              <a:ext uri="{FF2B5EF4-FFF2-40B4-BE49-F238E27FC236}">
                <a16:creationId xmlns:a16="http://schemas.microsoft.com/office/drawing/2014/main" id="{236C7E9D-EF88-4957-AB9E-C2EE9DEBC266}"/>
              </a:ext>
            </a:extLst>
          </p:cNvPr>
          <p:cNvSpPr>
            <a:spLocks xmlns:a="http://schemas.openxmlformats.org/drawingml/2006/main" noGrp="1"/>
          </p:cNvSpPr>
          <p:nvPr/>
        </p:nvSpPr>
        <p:spPr>
          <a:xfrm xmlns:a="http://schemas.openxmlformats.org/drawingml/2006/main">
            <a:off x="609600" y="41243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Encryption keeps the ideal noise distribution. At equal privacy, BNP has lower raw error. Gaussian ε = 1 trades weaker privacy for better accuracy.</a:t>
            </a:r>
          </a:p>
        </p:txBody>
      </p:sp>
      <p:sp>
        <p:nvSpPr>
          <p:cNvPr id="6" name="">
            <a:extLst xmlns:a="http://schemas.openxmlformats.org/drawingml/2006/main">
              <a:ext uri="{FF2B5EF4-FFF2-40B4-BE49-F238E27FC236}">
                <a16:creationId xmlns:a16="http://schemas.microsoft.com/office/drawing/2014/main" id="{21E7CFFF-939A-4DDB-94AC-C8514AB748C2}"/>
              </a:ext>
            </a:extLst>
          </p:cNvPr>
          <p:cNvSpPr>
            <a:spLocks xmlns:a="http://schemas.openxmlformats.org/drawingml/2006/main" noGrp="1"/>
          </p:cNvSpPr>
          <p:nvPr/>
        </p:nvSpPr>
        <p:spPr>
          <a:xfrm xmlns:a="http://schemas.openxmlformats.org/drawingml/2006/main">
            <a:off x="609600" y="55530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5DCD4"/>
                </a:solidFill>
                <a:latin typeface="Arial"/>
                <a:ea typeface="Arial"/>
                <a:cs typeface="Arial"/>
              </a:defRPr>
            </a:pPr>
            <a:r>
              <a:rPr sz="1725" b="0">
                <a:solidFill>
                  <a:srgbClr val="C5DCD4"/>
                </a:solidFill>
                <a:latin typeface="Arial"/>
                <a:ea typeface="Arial"/>
                <a:cs typeface="Arial"/>
              </a:rPr>
              <a:t>Scope: synthetic data, one-reading privacy, ideal noise arithmetic. Whole trajectories, dropout and production security need further work.</a:t>
            </a:r>
          </a:p>
        </p:txBody>
      </p:sp>
    </p:spTree>
    <p:extLst>
      <p:ext uri="{BB962C8B-B14F-4D97-AF65-F5344CB8AC3E}">
        <p14:creationId xmlns:p14="http://schemas.microsoft.com/office/powerpoint/2010/main" val="3298713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2026-09-24T15:25:11.4000000Z</dcterms:created>
  <dcterms:modified xsi:type="dcterms:W3CDTF">2026-09-24T15:25:11.4000000Z</dcterms:modified>
</coreProperties>
</file>